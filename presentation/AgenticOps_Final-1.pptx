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57" r:id="rId3"/>
    <p:sldId id="276" r:id="rId4"/>
    <p:sldId id="261" r:id="rId5"/>
    <p:sldId id="292" r:id="rId6"/>
    <p:sldId id="279" r:id="rId7"/>
    <p:sldId id="280" r:id="rId8"/>
    <p:sldId id="281" r:id="rId9"/>
    <p:sldId id="286" r:id="rId10"/>
    <p:sldId id="287" r:id="rId11"/>
    <p:sldId id="288" r:id="rId12"/>
    <p:sldId id="289" r:id="rId13"/>
    <p:sldId id="291" r:id="rId14"/>
    <p:sldId id="273" r:id="rId15"/>
    <p:sldId id="274" r:id="rId16"/>
    <p:sldId id="275" r:id="rId17"/>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F667201-927C-4670-9183-CB8AC347B557}">
          <p14:sldIdLst>
            <p14:sldId id="256"/>
            <p14:sldId id="257"/>
            <p14:sldId id="276"/>
            <p14:sldId id="261"/>
            <p14:sldId id="292"/>
            <p14:sldId id="279"/>
            <p14:sldId id="280"/>
            <p14:sldId id="281"/>
          </p14:sldIdLst>
        </p14:section>
        <p14:section name="Proof and plan" id="{B72FBF17-56FC-48E4-B3CC-FA9434AA3FA9}">
          <p14:sldIdLst>
            <p14:sldId id="286"/>
            <p14:sldId id="287"/>
            <p14:sldId id="288"/>
            <p14:sldId id="289"/>
          </p14:sldIdLst>
        </p14:section>
        <p14:section name="Proof and plan" id="{5A13780E-0E86-1F1F-3834-CA461C2655EC}">
          <p14:sldIdLst>
            <p14:sldId id="291"/>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AB9FC7-95A1-4FC1-A254-9128C5629666}" v="1" dt="2026-10-10T09:03:19.7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98"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lusamy, Pradeep" userId="54990c14-d9a7-4f1a-bf48-a45403e3349c" providerId="ADAL" clId="{F44B4798-A319-4BE4-AD8C-D328D184775B}"/>
    <pc:docChg chg="custSel modSld">
      <pc:chgData name="Velusamy, Pradeep" userId="54990c14-d9a7-4f1a-bf48-a45403e3349c" providerId="ADAL" clId="{F44B4798-A319-4BE4-AD8C-D328D184775B}" dt="2026-10-10T09:06:08.160" v="136" actId="313"/>
      <pc:docMkLst>
        <pc:docMk/>
      </pc:docMkLst>
      <pc:sldChg chg="addSp modSp mod">
        <pc:chgData name="Velusamy, Pradeep" userId="54990c14-d9a7-4f1a-bf48-a45403e3349c" providerId="ADAL" clId="{F44B4798-A319-4BE4-AD8C-D328D184775B}" dt="2026-10-10T09:06:08.160" v="136" actId="313"/>
        <pc:sldMkLst>
          <pc:docMk/>
          <pc:sldMk cId="0" sldId="256"/>
        </pc:sldMkLst>
        <pc:spChg chg="mod">
          <ac:chgData name="Velusamy, Pradeep" userId="54990c14-d9a7-4f1a-bf48-a45403e3349c" providerId="ADAL" clId="{F44B4798-A319-4BE4-AD8C-D328D184775B}" dt="2026-10-10T09:06:01.132" v="135" actId="1076"/>
          <ac:spMkLst>
            <pc:docMk/>
            <pc:sldMk cId="0" sldId="256"/>
            <ac:spMk id="5" creationId="{00000000-0000-0000-0000-000000000000}"/>
          </ac:spMkLst>
        </pc:spChg>
        <pc:spChg chg="add mod">
          <ac:chgData name="Velusamy, Pradeep" userId="54990c14-d9a7-4f1a-bf48-a45403e3349c" providerId="ADAL" clId="{F44B4798-A319-4BE4-AD8C-D328D184775B}" dt="2026-10-10T09:03:11.156" v="6" actId="1076"/>
          <ac:spMkLst>
            <pc:docMk/>
            <pc:sldMk cId="0" sldId="256"/>
            <ac:spMk id="26" creationId="{71A08E0C-40B7-BF6D-5BDA-08B34EA0AA20}"/>
          </ac:spMkLst>
        </pc:spChg>
        <pc:spChg chg="add mod">
          <ac:chgData name="Velusamy, Pradeep" userId="54990c14-d9a7-4f1a-bf48-a45403e3349c" providerId="ADAL" clId="{F44B4798-A319-4BE4-AD8C-D328D184775B}" dt="2026-10-10T09:06:08.160" v="136" actId="313"/>
          <ac:spMkLst>
            <pc:docMk/>
            <pc:sldMk cId="0" sldId="256"/>
            <ac:spMk id="27" creationId="{6D91F0AA-B85B-86F7-FC5B-DCBF284ADF87}"/>
          </ac:spMkLst>
        </pc:spChg>
        <pc:spChg chg="mod">
          <ac:chgData name="Velusamy, Pradeep" userId="54990c14-d9a7-4f1a-bf48-a45403e3349c" providerId="ADAL" clId="{F44B4798-A319-4BE4-AD8C-D328D184775B}" dt="2026-10-10T09:05:49.948" v="134" actId="1076"/>
          <ac:spMkLst>
            <pc:docMk/>
            <pc:sldMk cId="0" sldId="256"/>
            <ac:spMk id="2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My main goal is to build one complete safety, quality and monitoring system for AI agents. To do that I have five smaller goals: catch regressions, check that recorded traces are good enough, use tests as a gate before every release, set error budgets, and watch how reliable the agents stay over 12 weeks. A regression simply means the agent became worse after a change. An error budget means how many mistakes we are willing to accept before we stop and fix.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Stage A is testing before release. I save every version of the code, prompts, tools and settings, together with test data and the right answers. The automatic test pipeline, called CI, runs both agents on the same test cases. Fixed checks and an AI judge score quality, speed and cost. If the quality gate is passed, we go to canary. If not, we block the release, find the cause, fix it and test again. Stage B is controlled release. The new version goes to a small canary group first. If the live quality and mistakes stay within agreed limits, we promote it and keep a rollback point. If not, we stop, roll back and open an incident.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Stage C is recording while the agents run. Both agents handle real or controlled requests. The recording standard, OpenTelemetry, notes the version, every step, tool calls, errors, speed and cost. The data is cleaned: private data is removed and one standard format is used. Then Langfuse and Arize Phoenix both show the same traces. Stage D is measuring and learning. All results are stored in one place. Over 12 weeks I compare trace quality, time to find causes and extra load. I track simple health checks: success rate, serious errors, tool failures, speed and cost. If the error budget is left, we keep watching. If not, we alert, freeze releases or roll back. What we learn goes back into the test set, and the cycle repeats.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These are the tools in my design and what each one does. LangGraph builds the agents and organises their steps. OpenTelemetry is a standard way to record what the agents do. Langfuse and Arize Phoenix both show traces and score answers. The CI pipeline runs tests automatically and blocks bad versions. The measurement store keeps versions, traces and results linked together. I compare Langfuse and Arize Phoenix on the same work, so the comparison is fair.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Success is measured in six simple ways. Task success: did the agent finish the job correctly? Regression catch rate: how often did we catch harmful changes? Trace completeness: did we record every important step? Find and fix time: how fast did we find the cause and recover? Speed and cost per task. And release decisions: did the evidence support pass, block or roll back? The exact pass and fail limits are set after baseline tests and before the experiments, never after seeing the results. This keeps the study fair.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my 12-week plan. Weeks 1 and 2: design. I pick two agents, test cases and metrics, and set the baseline. Weeks 3 and 4: build the two LangGraph agents and add OpenTelemetry tracing. Weeks 5 and 6: create the test dataset and regression checks. Weeks 7 and 8: add safety rules, release gates and error budget rules, and compare Langfuse and Arize Phoenix on the same work. Weeks 9 and 10: run controlled changes, canary releases and rollbacks. Weeks 11 and 12: analyse the results, note the limits, and write the report and demo.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expect three main results. First, a working reference architecture that other teams can copy. Second, a fair comparison of Langfuse and Arize Phoenix, to see which gives better traces. Third, 12 weeks of evidence on catching regressions, finding causes and making release decisions. I will also deliver a working prototype and demo, and an evidence pack with the test dataset, scorecard, dashboard and final report. I want to be honest: these are proposed outcomes, not proven facts. The experiments must confirm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want to be clear about the limits. AI judges can be wrong, so I combine them with fixed checks and human-reviewed samples. A full trace explains what happened, but it does not prove the decision was right. Results from two agents may not apply to every business area. The tool comparison depends on my workload and setup. Sensitive data must be filtered before it is stored in traces. And automatic rollbacks should follow agreed rules, with human escalation where needed. I will report both positive findings and limitations.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AgenticOps is not only for one use case. Any business that uses AI agents needs the same safety net: trace what the agent does, test every change, gate the release, monitor after release and learn from failures. For example, in finance it can stop a wrong tax decision early. In customer support it can catch unsafe replies after a model update. In HR it can keep policy answers correct and fair. In supply chain it can find the failing step in an order flow. In healthcare and insurance it can help protect private data in claims work. In IT operations it can watch agents that fix tickets or deploy changes. These are example use cases. The same pipeline is reused, and only the test cases and thresholds change.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DA2CEDE-2AB4-4FB8-9551-E0AA4222B1A3}" type="datetime1">
              <a:rPr lang="en-US" smtClean="0"/>
              <a:t>10/10/2026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A2CEDE-2AB4-4FB8-9551-E0AA4222B1A3}" type="datetime1">
              <a:rPr lang="en-US" smtClean="0"/>
              <a:t>10/10/2026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A2CEDE-2AB4-4FB8-9551-E0AA4222B1A3}" type="datetime1">
              <a:rPr lang="en-US" smtClean="0"/>
              <a:t>10/10/2026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DA2CEDE-2AB4-4FB8-9551-E0AA4222B1A3}" type="datetime1">
              <a:rPr lang="en-US" smtClean="0"/>
              <a:t>10/10/2026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DA2CEDE-2AB4-4FB8-9551-E0AA4222B1A3}" type="datetime1">
              <a:rPr lang="en-US" smtClean="0"/>
              <a:t>10/10/2026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DA2CEDE-2AB4-4FB8-9551-E0AA4222B1A3}" type="datetime1">
              <a:rPr lang="en-US" smtClean="0"/>
              <a:t>10/10/2026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A2CEDE-2AB4-4FB8-9551-E0AA4222B1A3}" type="datetime1">
              <a:rPr lang="en-US" smtClean="0"/>
              <a:t>10/10/2026</a:t>
            </a:fld>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2CEDE-2AB4-4FB8-9551-E0AA4222B1A3}" type="datetime1">
              <a:rPr lang="en-US" smtClean="0"/>
              <a:t>10/10/2026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A2CEDE-2AB4-4FB8-9551-E0AA4222B1A3}" type="datetime1">
              <a:rPr lang="en-US" smtClean="0"/>
              <a:t>10/10/2026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A2CEDE-2AB4-4FB8-9551-E0AA4222B1A3}" type="datetime1">
              <a:rPr lang="en-US" smtClean="0"/>
              <a:t>10/10/2026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A2CEDE-2AB4-4FB8-9551-E0AA4222B1A3}" type="datetime1">
              <a:rPr lang="en-US" smtClean="0"/>
              <a:t>10/10/2026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MASTER">
    <p:bg>
      <p:bgPr>
        <a:solidFill>
          <a:srgbClr val="F8FAFC"/>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56248"/>
            <a:ext cx="274320" cy="182880"/>
          </a:xfrm>
          <a:prstGeom prst="rect">
            <a:avLst/>
          </a:prstGeom>
        </p:spPr>
        <p:txBody>
          <a:bodyPr/>
          <a:lstStyle>
            <a:lvl1pPr>
              <a:defRPr sz="9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LIGH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792480"/>
          </a:xfrm>
          <a:prstGeom prst="rect">
            <a:avLst/>
          </a:prstGeom>
          <a:noFill/>
        </p:spPr>
        <p:txBody>
          <a:bodyPr wrap="square" rtlCol="0"/>
          <a:lstStyle>
            <a:lvl1pPr marL="0" indent="0" algn="l">
              <a:buNone/>
              <a:defRPr lang="en-US" sz="4265" b="1" dirty="0">
                <a:solidFill>
                  <a:schemeClr val="tx1"/>
                </a:solidFill>
              </a:defRPr>
            </a:lvl1pPr>
          </a:lstStyle>
          <a:p>
            <a:pPr marL="0" indent="0" algn="l">
              <a:buNone/>
            </a:pPr>
            <a:endParaRPr lang="en-US" sz="4265" dirty="0"/>
          </a:p>
        </p:txBody>
      </p:sp>
      <p:sp>
        <p:nvSpPr>
          <p:cNvPr id="3" name="Text 0"/>
          <p:cNvSpPr>
            <a:spLocks noGrp="1"/>
          </p:cNvSpPr>
          <p:nvPr>
            <p:ph type="body" idx="101" hasCustomPrompt="1"/>
          </p:nvPr>
        </p:nvSpPr>
        <p:spPr>
          <a:xfrm>
            <a:off x="609600" y="1158240"/>
            <a:ext cx="10972800" cy="487680"/>
          </a:xfrm>
          <a:prstGeom prst="rect">
            <a:avLst/>
          </a:prstGeom>
          <a:noFill/>
        </p:spPr>
        <p:txBody>
          <a:bodyPr wrap="square" rtlCol="0"/>
          <a:lstStyle>
            <a:lvl1pPr marL="0" indent="0" algn="l">
              <a:buNone/>
              <a:defRPr lang="en-US" sz="2135" dirty="0">
                <a:solidFill>
                  <a:schemeClr val="accent6"/>
                </a:solidFill>
              </a:defRPr>
            </a:lvl1pPr>
          </a:lstStyle>
          <a:p>
            <a:pPr marL="0" indent="0" algn="l">
              <a:buNone/>
            </a:pPr>
            <a:endParaRPr lang="en-US" sz="2135" dirty="0"/>
          </a:p>
        </p:txBody>
      </p:sp>
      <p:sp>
        <p:nvSpPr>
          <p:cNvPr id="25" name="Slide Number Placeholder 0"/>
          <p:cNvSpPr>
            <a:spLocks noGrp="1"/>
          </p:cNvSpPr>
          <p:nvPr>
            <p:ph type="sldNum" sz="quarter" idx="4294967295"/>
          </p:nvPr>
        </p:nvSpPr>
        <p:spPr>
          <a:xfrm>
            <a:off x="10972800" y="6339840"/>
            <a:ext cx="609600" cy="304800"/>
          </a:xfrm>
          <a:prstGeom prst="rect">
            <a:avLst/>
          </a:prstGeom>
        </p:spPr>
        <p:txBody>
          <a:bodyPr/>
          <a:lstStyle>
            <a:lvl1pPr>
              <a:defRPr sz="1335">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A2CEDE-2AB4-4FB8-9551-E0AA4222B1A3}" type="datetime1">
              <a:rPr lang="en-US" smtClean="0"/>
              <a:t>10/10/2026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lgn="r"/>
            <a:fld id="{F7021451-1387-4CA6-816F-3879F97B5CBC}" type="slidenum">
              <a:rPr lang="en-US" b="0"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742"/>
        </a:solidFill>
        <a:effectLst/>
      </p:bgPr>
    </p:bg>
    <p:spTree>
      <p:nvGrpSpPr>
        <p:cNvPr id="1" name=""/>
        <p:cNvGrpSpPr/>
        <p:nvPr/>
      </p:nvGrpSpPr>
      <p:grpSpPr>
        <a:xfrm>
          <a:off x="0" y="0"/>
          <a:ext cx="1" cy="1"/>
          <a:chOff x="0" y="0"/>
          <a:chExt cx="1" cy="1"/>
        </a:xfrm>
      </p:grpSpPr>
      <p:sp>
        <p:nvSpPr>
          <p:cNvPr id="2" name="Shape 0"/>
          <p:cNvSpPr/>
          <p:nvPr/>
        </p:nvSpPr>
        <p:spPr>
          <a:xfrm>
            <a:off x="0" y="0"/>
            <a:ext cx="12191695" cy="146304"/>
          </a:xfrm>
          <a:prstGeom prst="rect">
            <a:avLst/>
          </a:prstGeom>
          <a:solidFill>
            <a:srgbClr val="01A982"/>
          </a:solidFill>
          <a:ln w="12700">
            <a:solidFill>
              <a:srgbClr val="01A982"/>
            </a:solidFill>
            <a:prstDash val="solid"/>
          </a:ln>
        </p:spPr>
        <p:txBody>
          <a:bodyPr/>
          <a:lstStyle/>
          <a:p>
            <a:endParaRPr lang="en-US"/>
          </a:p>
        </p:txBody>
      </p:sp>
      <p:sp>
        <p:nvSpPr>
          <p:cNvPr id="3" name="Text 1"/>
          <p:cNvSpPr/>
          <p:nvPr/>
        </p:nvSpPr>
        <p:spPr>
          <a:xfrm>
            <a:off x="685800" y="685800"/>
            <a:ext cx="5029200" cy="274320"/>
          </a:xfrm>
          <a:prstGeom prst="rect">
            <a:avLst/>
          </a:prstGeom>
          <a:noFill/>
        </p:spPr>
        <p:txBody>
          <a:bodyPr wrap="square" lIns="0" tIns="0" rIns="0" bIns="0" rtlCol="0" anchor="ctr"/>
          <a:lstStyle/>
          <a:p>
            <a:pPr marL="0" indent="0">
              <a:buNone/>
            </a:pPr>
            <a:r>
              <a:rPr lang="en-US" sz="1100" b="1" dirty="0">
                <a:solidFill>
                  <a:srgbClr val="A7F3D0"/>
                </a:solidFill>
              </a:rPr>
              <a:t>M.TECH CAPSTONE  | Group 10</a:t>
            </a:r>
            <a:endParaRPr lang="en-US" sz="1100" dirty="0"/>
          </a:p>
        </p:txBody>
      </p:sp>
      <p:sp>
        <p:nvSpPr>
          <p:cNvPr id="4" name="Text 2"/>
          <p:cNvSpPr/>
          <p:nvPr/>
        </p:nvSpPr>
        <p:spPr>
          <a:xfrm>
            <a:off x="685800" y="1325880"/>
            <a:ext cx="7067062" cy="1417320"/>
          </a:xfrm>
          <a:prstGeom prst="rect">
            <a:avLst/>
          </a:prstGeom>
          <a:noFill/>
        </p:spPr>
        <p:txBody>
          <a:bodyPr wrap="square" lIns="0" tIns="0" rIns="0" bIns="0" rtlCol="0" anchor="ctr">
            <a:normAutofit/>
          </a:bodyPr>
          <a:lstStyle/>
          <a:p>
            <a:pPr marL="0" indent="0">
              <a:buNone/>
            </a:pPr>
            <a:r>
              <a:rPr lang="en-US" sz="3400" b="1" dirty="0">
                <a:solidFill>
                  <a:srgbClr val="FFFFFF"/>
                </a:solidFill>
              </a:rPr>
              <a:t>AgenticOps : Continuous Regression and Safety Architecture</a:t>
            </a:r>
            <a:endParaRPr lang="en-US" sz="3400" dirty="0"/>
          </a:p>
        </p:txBody>
      </p:sp>
      <p:sp>
        <p:nvSpPr>
          <p:cNvPr id="5" name="Text 3"/>
          <p:cNvSpPr/>
          <p:nvPr/>
        </p:nvSpPr>
        <p:spPr>
          <a:xfrm>
            <a:off x="713232" y="2723466"/>
            <a:ext cx="6309360" cy="1051560"/>
          </a:xfrm>
          <a:prstGeom prst="rect">
            <a:avLst/>
          </a:prstGeom>
          <a:noFill/>
        </p:spPr>
        <p:txBody>
          <a:bodyPr wrap="square" lIns="0" tIns="0" rIns="0" bIns="0" rtlCol="0" anchor="ctr">
            <a:normAutofit/>
          </a:bodyPr>
          <a:lstStyle/>
          <a:p>
            <a:pPr marL="0" indent="0">
              <a:buNone/>
            </a:pPr>
            <a:r>
              <a:rPr lang="en-US" sz="1800" dirty="0">
                <a:solidFill>
                  <a:srgbClr val="D7E3EE"/>
                </a:solidFill>
              </a:rPr>
              <a:t>A safety and quality system for AI agents: continuous regression testing, controlled release, live monitoring and learning.</a:t>
            </a:r>
            <a:endParaRPr lang="en-US" sz="1800" dirty="0"/>
          </a:p>
        </p:txBody>
      </p:sp>
      <p:sp>
        <p:nvSpPr>
          <p:cNvPr id="6" name="Shape 4"/>
          <p:cNvSpPr/>
          <p:nvPr/>
        </p:nvSpPr>
        <p:spPr>
          <a:xfrm>
            <a:off x="8229600" y="1097280"/>
            <a:ext cx="384048" cy="384048"/>
          </a:xfrm>
          <a:prstGeom prst="ellipse">
            <a:avLst/>
          </a:prstGeom>
          <a:solidFill>
            <a:srgbClr val="01A982"/>
          </a:solidFill>
          <a:ln w="12700">
            <a:solidFill>
              <a:srgbClr val="01A982"/>
            </a:solidFill>
            <a:prstDash val="solid"/>
          </a:ln>
        </p:spPr>
        <p:txBody>
          <a:bodyPr/>
          <a:lstStyle/>
          <a:p>
            <a:endParaRPr lang="en-US"/>
          </a:p>
        </p:txBody>
      </p:sp>
      <p:sp>
        <p:nvSpPr>
          <p:cNvPr id="7" name="Text 5"/>
          <p:cNvSpPr/>
          <p:nvPr/>
        </p:nvSpPr>
        <p:spPr>
          <a:xfrm>
            <a:off x="8229600" y="1152144"/>
            <a:ext cx="384048" cy="182880"/>
          </a:xfrm>
          <a:prstGeom prst="rect">
            <a:avLst/>
          </a:prstGeom>
          <a:noFill/>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 name="Text 6"/>
          <p:cNvSpPr/>
          <p:nvPr/>
        </p:nvSpPr>
        <p:spPr>
          <a:xfrm>
            <a:off x="8778240" y="1115568"/>
            <a:ext cx="2286000" cy="292608"/>
          </a:xfrm>
          <a:prstGeom prst="rect">
            <a:avLst/>
          </a:prstGeom>
          <a:noFill/>
        </p:spPr>
        <p:txBody>
          <a:bodyPr wrap="square" lIns="0" tIns="0" rIns="0" bIns="0" rtlCol="0" anchor="ctr"/>
          <a:lstStyle/>
          <a:p>
            <a:pPr marL="0" indent="0">
              <a:buNone/>
            </a:pPr>
            <a:r>
              <a:rPr lang="en-US" sz="1500" b="1" dirty="0">
                <a:solidFill>
                  <a:srgbClr val="FFFFFF"/>
                </a:solidFill>
              </a:rPr>
              <a:t>Agent</a:t>
            </a:r>
            <a:endParaRPr lang="en-US" sz="1500" dirty="0"/>
          </a:p>
        </p:txBody>
      </p:sp>
      <p:sp>
        <p:nvSpPr>
          <p:cNvPr id="9" name="Shape 7"/>
          <p:cNvSpPr/>
          <p:nvPr/>
        </p:nvSpPr>
        <p:spPr>
          <a:xfrm>
            <a:off x="8229600" y="1783080"/>
            <a:ext cx="384048" cy="384048"/>
          </a:xfrm>
          <a:prstGeom prst="ellipse">
            <a:avLst/>
          </a:prstGeom>
          <a:solidFill>
            <a:srgbClr val="01A982"/>
          </a:solidFill>
          <a:ln w="12700">
            <a:solidFill>
              <a:srgbClr val="01A982"/>
            </a:solidFill>
            <a:prstDash val="solid"/>
          </a:ln>
        </p:spPr>
        <p:txBody>
          <a:bodyPr/>
          <a:lstStyle/>
          <a:p>
            <a:endParaRPr lang="en-US"/>
          </a:p>
        </p:txBody>
      </p:sp>
      <p:sp>
        <p:nvSpPr>
          <p:cNvPr id="10" name="Text 8"/>
          <p:cNvSpPr/>
          <p:nvPr/>
        </p:nvSpPr>
        <p:spPr>
          <a:xfrm>
            <a:off x="8229600" y="1837944"/>
            <a:ext cx="384048" cy="182880"/>
          </a:xfrm>
          <a:prstGeom prst="rect">
            <a:avLst/>
          </a:prstGeom>
          <a:noFill/>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1" name="Text 9"/>
          <p:cNvSpPr/>
          <p:nvPr/>
        </p:nvSpPr>
        <p:spPr>
          <a:xfrm>
            <a:off x="8778240" y="1801368"/>
            <a:ext cx="2286000" cy="292608"/>
          </a:xfrm>
          <a:prstGeom prst="rect">
            <a:avLst/>
          </a:prstGeom>
          <a:noFill/>
        </p:spPr>
        <p:txBody>
          <a:bodyPr wrap="square" lIns="0" tIns="0" rIns="0" bIns="0" rtlCol="0" anchor="ctr"/>
          <a:lstStyle/>
          <a:p>
            <a:pPr marL="0" indent="0">
              <a:buNone/>
            </a:pPr>
            <a:r>
              <a:rPr lang="en-US" sz="1500" b="1" dirty="0">
                <a:solidFill>
                  <a:srgbClr val="FFFFFF"/>
                </a:solidFill>
              </a:rPr>
              <a:t>Trace</a:t>
            </a:r>
            <a:endParaRPr lang="en-US" sz="1500" dirty="0"/>
          </a:p>
        </p:txBody>
      </p:sp>
      <p:sp>
        <p:nvSpPr>
          <p:cNvPr id="12" name="Shape 10"/>
          <p:cNvSpPr/>
          <p:nvPr/>
        </p:nvSpPr>
        <p:spPr>
          <a:xfrm>
            <a:off x="8229600" y="2468880"/>
            <a:ext cx="384048" cy="384048"/>
          </a:xfrm>
          <a:prstGeom prst="ellipse">
            <a:avLst/>
          </a:prstGeom>
          <a:solidFill>
            <a:srgbClr val="01A982"/>
          </a:solidFill>
          <a:ln w="12700">
            <a:solidFill>
              <a:srgbClr val="01A982"/>
            </a:solidFill>
            <a:prstDash val="solid"/>
          </a:ln>
        </p:spPr>
        <p:txBody>
          <a:bodyPr/>
          <a:lstStyle/>
          <a:p>
            <a:endParaRPr lang="en-US"/>
          </a:p>
        </p:txBody>
      </p:sp>
      <p:sp>
        <p:nvSpPr>
          <p:cNvPr id="13" name="Text 11"/>
          <p:cNvSpPr/>
          <p:nvPr/>
        </p:nvSpPr>
        <p:spPr>
          <a:xfrm>
            <a:off x="8229600" y="2523744"/>
            <a:ext cx="384048" cy="182880"/>
          </a:xfrm>
          <a:prstGeom prst="rect">
            <a:avLst/>
          </a:prstGeom>
          <a:noFill/>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4" name="Text 12"/>
          <p:cNvSpPr/>
          <p:nvPr/>
        </p:nvSpPr>
        <p:spPr>
          <a:xfrm>
            <a:off x="8778240" y="2487168"/>
            <a:ext cx="2286000" cy="292608"/>
          </a:xfrm>
          <a:prstGeom prst="rect">
            <a:avLst/>
          </a:prstGeom>
          <a:noFill/>
        </p:spPr>
        <p:txBody>
          <a:bodyPr wrap="square" lIns="0" tIns="0" rIns="0" bIns="0" rtlCol="0" anchor="ctr"/>
          <a:lstStyle/>
          <a:p>
            <a:pPr marL="0" indent="0">
              <a:buNone/>
            </a:pPr>
            <a:r>
              <a:rPr lang="en-US" sz="1500" b="1" dirty="0">
                <a:solidFill>
                  <a:srgbClr val="FFFFFF"/>
                </a:solidFill>
              </a:rPr>
              <a:t>Evaluate</a:t>
            </a:r>
            <a:endParaRPr lang="en-US" sz="1500" dirty="0"/>
          </a:p>
        </p:txBody>
      </p:sp>
      <p:sp>
        <p:nvSpPr>
          <p:cNvPr id="15" name="Shape 13"/>
          <p:cNvSpPr/>
          <p:nvPr/>
        </p:nvSpPr>
        <p:spPr>
          <a:xfrm>
            <a:off x="8229600" y="3154680"/>
            <a:ext cx="384048" cy="384048"/>
          </a:xfrm>
          <a:prstGeom prst="ellipse">
            <a:avLst/>
          </a:prstGeom>
          <a:solidFill>
            <a:srgbClr val="01A982"/>
          </a:solidFill>
          <a:ln w="12700">
            <a:solidFill>
              <a:srgbClr val="01A982"/>
            </a:solidFill>
            <a:prstDash val="solid"/>
          </a:ln>
        </p:spPr>
        <p:txBody>
          <a:bodyPr/>
          <a:lstStyle/>
          <a:p>
            <a:endParaRPr lang="en-US"/>
          </a:p>
        </p:txBody>
      </p:sp>
      <p:sp>
        <p:nvSpPr>
          <p:cNvPr id="16" name="Text 14"/>
          <p:cNvSpPr/>
          <p:nvPr/>
        </p:nvSpPr>
        <p:spPr>
          <a:xfrm>
            <a:off x="8229600" y="3209544"/>
            <a:ext cx="384048" cy="182880"/>
          </a:xfrm>
          <a:prstGeom prst="rect">
            <a:avLst/>
          </a:prstGeom>
          <a:noFill/>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17" name="Text 15"/>
          <p:cNvSpPr/>
          <p:nvPr/>
        </p:nvSpPr>
        <p:spPr>
          <a:xfrm>
            <a:off x="8778240" y="3172968"/>
            <a:ext cx="2286000" cy="292608"/>
          </a:xfrm>
          <a:prstGeom prst="rect">
            <a:avLst/>
          </a:prstGeom>
          <a:noFill/>
        </p:spPr>
        <p:txBody>
          <a:bodyPr wrap="square" lIns="0" tIns="0" rIns="0" bIns="0" rtlCol="0" anchor="ctr"/>
          <a:lstStyle/>
          <a:p>
            <a:pPr marL="0" indent="0">
              <a:buNone/>
            </a:pPr>
            <a:r>
              <a:rPr lang="en-US" sz="1500" b="1" dirty="0">
                <a:solidFill>
                  <a:srgbClr val="FFFFFF"/>
                </a:solidFill>
              </a:rPr>
              <a:t>Guardrails</a:t>
            </a:r>
            <a:endParaRPr lang="en-US" sz="1500" dirty="0"/>
          </a:p>
        </p:txBody>
      </p:sp>
      <p:sp>
        <p:nvSpPr>
          <p:cNvPr id="18" name="Shape 16"/>
          <p:cNvSpPr/>
          <p:nvPr/>
        </p:nvSpPr>
        <p:spPr>
          <a:xfrm>
            <a:off x="8229600" y="3840480"/>
            <a:ext cx="384048" cy="384048"/>
          </a:xfrm>
          <a:prstGeom prst="ellipse">
            <a:avLst/>
          </a:prstGeom>
          <a:solidFill>
            <a:srgbClr val="01A982"/>
          </a:solidFill>
          <a:ln w="12700">
            <a:solidFill>
              <a:srgbClr val="01A982"/>
            </a:solidFill>
            <a:prstDash val="solid"/>
          </a:ln>
        </p:spPr>
        <p:txBody>
          <a:bodyPr/>
          <a:lstStyle/>
          <a:p>
            <a:endParaRPr lang="en-US"/>
          </a:p>
        </p:txBody>
      </p:sp>
      <p:sp>
        <p:nvSpPr>
          <p:cNvPr id="19" name="Text 17"/>
          <p:cNvSpPr/>
          <p:nvPr/>
        </p:nvSpPr>
        <p:spPr>
          <a:xfrm>
            <a:off x="8229600" y="3895344"/>
            <a:ext cx="384048" cy="182880"/>
          </a:xfrm>
          <a:prstGeom prst="rect">
            <a:avLst/>
          </a:prstGeom>
          <a:noFill/>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20" name="Text 18"/>
          <p:cNvSpPr/>
          <p:nvPr/>
        </p:nvSpPr>
        <p:spPr>
          <a:xfrm>
            <a:off x="8778240" y="3858768"/>
            <a:ext cx="2286000" cy="292608"/>
          </a:xfrm>
          <a:prstGeom prst="rect">
            <a:avLst/>
          </a:prstGeom>
          <a:noFill/>
        </p:spPr>
        <p:txBody>
          <a:bodyPr wrap="square" lIns="0" tIns="0" rIns="0" bIns="0" rtlCol="0" anchor="ctr"/>
          <a:lstStyle/>
          <a:p>
            <a:pPr marL="0" indent="0">
              <a:buNone/>
            </a:pPr>
            <a:r>
              <a:rPr lang="en-US" sz="1500" b="1" dirty="0">
                <a:solidFill>
                  <a:srgbClr val="FFFFFF"/>
                </a:solidFill>
              </a:rPr>
              <a:t>Release gate</a:t>
            </a:r>
            <a:endParaRPr lang="en-US" sz="1500" dirty="0"/>
          </a:p>
        </p:txBody>
      </p:sp>
      <p:sp>
        <p:nvSpPr>
          <p:cNvPr id="21" name="Shape 19"/>
          <p:cNvSpPr/>
          <p:nvPr/>
        </p:nvSpPr>
        <p:spPr>
          <a:xfrm>
            <a:off x="8229600" y="4526280"/>
            <a:ext cx="384048" cy="384048"/>
          </a:xfrm>
          <a:prstGeom prst="ellipse">
            <a:avLst/>
          </a:prstGeom>
          <a:solidFill>
            <a:srgbClr val="01A982"/>
          </a:solidFill>
          <a:ln w="12700">
            <a:solidFill>
              <a:srgbClr val="01A982"/>
            </a:solidFill>
            <a:prstDash val="solid"/>
          </a:ln>
        </p:spPr>
        <p:txBody>
          <a:bodyPr/>
          <a:lstStyle/>
          <a:p>
            <a:endParaRPr lang="en-US"/>
          </a:p>
        </p:txBody>
      </p:sp>
      <p:sp>
        <p:nvSpPr>
          <p:cNvPr id="22" name="Text 20"/>
          <p:cNvSpPr/>
          <p:nvPr/>
        </p:nvSpPr>
        <p:spPr>
          <a:xfrm>
            <a:off x="8229600" y="4581144"/>
            <a:ext cx="384048" cy="182880"/>
          </a:xfrm>
          <a:prstGeom prst="rect">
            <a:avLst/>
          </a:prstGeom>
          <a:noFill/>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23" name="Text 21"/>
          <p:cNvSpPr/>
          <p:nvPr/>
        </p:nvSpPr>
        <p:spPr>
          <a:xfrm>
            <a:off x="8778240" y="4544568"/>
            <a:ext cx="2286000" cy="292608"/>
          </a:xfrm>
          <a:prstGeom prst="rect">
            <a:avLst/>
          </a:prstGeom>
          <a:noFill/>
        </p:spPr>
        <p:txBody>
          <a:bodyPr wrap="square" lIns="0" tIns="0" rIns="0" bIns="0" rtlCol="0" anchor="ctr"/>
          <a:lstStyle/>
          <a:p>
            <a:pPr marL="0" indent="0">
              <a:buNone/>
            </a:pPr>
            <a:r>
              <a:rPr lang="en-US" sz="1500" b="1" dirty="0">
                <a:solidFill>
                  <a:srgbClr val="FFFFFF"/>
                </a:solidFill>
              </a:rPr>
              <a:t>Monitor</a:t>
            </a:r>
            <a:endParaRPr lang="en-US" sz="1500" dirty="0"/>
          </a:p>
        </p:txBody>
      </p:sp>
      <p:sp>
        <p:nvSpPr>
          <p:cNvPr id="24" name="Text 22"/>
          <p:cNvSpPr/>
          <p:nvPr/>
        </p:nvSpPr>
        <p:spPr>
          <a:xfrm>
            <a:off x="713232" y="5897880"/>
            <a:ext cx="4114800" cy="274320"/>
          </a:xfrm>
          <a:prstGeom prst="rect">
            <a:avLst/>
          </a:prstGeom>
          <a:noFill/>
        </p:spPr>
        <p:txBody>
          <a:bodyPr wrap="square" lIns="0" tIns="0" rIns="0" bIns="0" rtlCol="0" anchor="ctr"/>
          <a:lstStyle/>
          <a:p>
            <a:pPr marL="0" indent="0">
              <a:buNone/>
            </a:pPr>
            <a:endParaRPr lang="en-US" sz="1200" dirty="0"/>
          </a:p>
        </p:txBody>
      </p:sp>
      <p:sp>
        <p:nvSpPr>
          <p:cNvPr id="28" name="Text 3"/>
          <p:cNvSpPr/>
          <p:nvPr/>
        </p:nvSpPr>
        <p:spPr>
          <a:xfrm>
            <a:off x="713232" y="5135802"/>
            <a:ext cx="6309360" cy="1051560"/>
          </a:xfrm>
          <a:prstGeom prst="rect">
            <a:avLst/>
          </a:prstGeom>
          <a:noFill/>
        </p:spPr>
        <p:txBody>
          <a:bodyPr wrap="square" lIns="0" tIns="0" rIns="0" bIns="0" rtlCol="0" anchor="ctr">
            <a:normAutofit/>
          </a:bodyPr>
          <a:lstStyle/>
          <a:p>
            <a:pPr marL="0" indent="0">
              <a:buNone/>
            </a:pPr>
            <a:r>
              <a:rPr lang="en-US" sz="2000" dirty="0">
                <a:solidFill>
                  <a:srgbClr val="D7E3EE"/>
                </a:solidFill>
                <a:latin typeface="Calibri" panose="020F0502020204030204" pitchFamily="34" charset="0"/>
                <a:ea typeface="Calibri" panose="020F0502020204030204" pitchFamily="34" charset="0"/>
                <a:cs typeface="Calibri" panose="020F0502020204030204" pitchFamily="34" charset="0"/>
              </a:rPr>
              <a:t>Project team members : </a:t>
            </a:r>
          </a:p>
          <a:p>
            <a:pPr marL="0" indent="0">
              <a:buNone/>
            </a:pPr>
            <a:r>
              <a:rPr lang="en-US" sz="2000" dirty="0">
                <a:solidFill>
                  <a:srgbClr val="D7E3EE"/>
                </a:solidFill>
                <a:latin typeface="Calibri" panose="020F0502020204030204" pitchFamily="34" charset="0"/>
                <a:ea typeface="Calibri" panose="020F0502020204030204" pitchFamily="34" charset="0"/>
                <a:cs typeface="Calibri" panose="020F0502020204030204" pitchFamily="34" charset="0"/>
              </a:rPr>
              <a:t>Janani , Suprith K ,Pradeep V , </a:t>
            </a: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Sunil Kumar</a:t>
            </a:r>
          </a:p>
        </p:txBody>
      </p:sp>
      <p:sp>
        <p:nvSpPr>
          <p:cNvPr id="26" name="Text 3">
            <a:extLst>
              <a:ext uri="{FF2B5EF4-FFF2-40B4-BE49-F238E27FC236}">
                <a16:creationId xmlns:a16="http://schemas.microsoft.com/office/drawing/2014/main" id="{71A08E0C-40B7-BF6D-5BDA-08B34EA0AA20}"/>
              </a:ext>
            </a:extLst>
          </p:cNvPr>
          <p:cNvSpPr/>
          <p:nvPr/>
        </p:nvSpPr>
        <p:spPr>
          <a:xfrm>
            <a:off x="807721" y="3895344"/>
            <a:ext cx="6309360" cy="594360"/>
          </a:xfrm>
          <a:prstGeom prst="rect">
            <a:avLst/>
          </a:prstGeom>
          <a:noFill/>
        </p:spPr>
        <p:txBody>
          <a:bodyPr wrap="square" lIns="0" tIns="0" rIns="0" bIns="0" rtlCol="0" anchor="ctr">
            <a:normAutofit/>
          </a:bodyPr>
          <a:lstStyle/>
          <a:p>
            <a:pPr marL="0" indent="0">
              <a:buNone/>
            </a:pP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6D91F0AA-B85B-86F7-FC5B-DCBF284ADF87}"/>
              </a:ext>
            </a:extLst>
          </p:cNvPr>
          <p:cNvSpPr txBox="1"/>
          <p:nvPr/>
        </p:nvSpPr>
        <p:spPr>
          <a:xfrm>
            <a:off x="685800" y="4440858"/>
            <a:ext cx="4013919" cy="646331"/>
          </a:xfrm>
          <a:prstGeom prst="rect">
            <a:avLst/>
          </a:prstGeom>
          <a:noFill/>
        </p:spPr>
        <p:txBody>
          <a:bodyPr wrap="none" rtlCol="0">
            <a:spAutoFit/>
          </a:bodyPr>
          <a:lstStyle/>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Mentors and Guiders </a:t>
            </a: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Dr . D. Narayana &amp; Anwesh Kumar Reddy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48640" y="640080"/>
            <a:ext cx="11064240" cy="457200"/>
          </a:xfrm>
          <a:prstGeom prst="rect">
            <a:avLst/>
          </a:prstGeom>
          <a:noFill/>
        </p:spPr>
        <p:txBody>
          <a:bodyPr wrap="square" lIns="0" tIns="0" rIns="0" bIns="0" rtlCol="0" anchor="ctr">
            <a:normAutofit/>
          </a:bodyPr>
          <a:lstStyle/>
          <a:p>
            <a:pPr marL="0" indent="0">
              <a:buNone/>
            </a:pPr>
            <a:r>
              <a:rPr lang="en-US" sz="2600" b="1" dirty="0">
                <a:solidFill>
                  <a:srgbClr val="0F2742"/>
                </a:solidFill>
              </a:rPr>
              <a:t>About project</a:t>
            </a:r>
            <a:endParaRPr lang="en-US" sz="2600" dirty="0"/>
          </a:p>
        </p:txBody>
      </p:sp>
      <p:sp>
        <p:nvSpPr>
          <p:cNvPr id="3" name="Text 1"/>
          <p:cNvSpPr/>
          <p:nvPr/>
        </p:nvSpPr>
        <p:spPr>
          <a:xfrm>
            <a:off x="548640" y="1143000"/>
            <a:ext cx="10972800" cy="310896"/>
          </a:xfrm>
          <a:prstGeom prst="rect">
            <a:avLst/>
          </a:prstGeom>
          <a:noFill/>
        </p:spPr>
        <p:txBody>
          <a:bodyPr wrap="square" lIns="0" tIns="0" rIns="0" bIns="0" rtlCol="0" anchor="ctr">
            <a:normAutofit/>
          </a:bodyPr>
          <a:lstStyle/>
          <a:p>
            <a:pPr marL="0" indent="0">
              <a:buNone/>
            </a:pPr>
            <a:r>
              <a:rPr lang="en-US" sz="1250" dirty="0">
                <a:solidFill>
                  <a:srgbClr val="5B677A"/>
                </a:solidFill>
              </a:rPr>
              <a:t>Four points to remember before we go into detail.</a:t>
            </a:r>
            <a:endParaRPr lang="en-US" sz="1250" dirty="0"/>
          </a:p>
        </p:txBody>
      </p:sp>
      <p:sp>
        <p:nvSpPr>
          <p:cNvPr id="4" name="Shape 2"/>
          <p:cNvSpPr/>
          <p:nvPr/>
        </p:nvSpPr>
        <p:spPr>
          <a:xfrm>
            <a:off x="640080" y="1645920"/>
            <a:ext cx="2651760" cy="1828800"/>
          </a:xfrm>
          <a:prstGeom prst="roundRect">
            <a:avLst>
              <a:gd name="adj" fmla="val 4000"/>
            </a:avLst>
          </a:prstGeom>
          <a:solidFill>
            <a:srgbClr val="FFFFFF"/>
          </a:solidFill>
          <a:ln w="12700">
            <a:solidFill>
              <a:srgbClr val="D8E1EA"/>
            </a:solidFill>
            <a:prstDash val="solid"/>
          </a:ln>
        </p:spPr>
        <p:txBody>
          <a:bodyPr/>
          <a:lstStyle/>
          <a:p>
            <a:endParaRPr lang="en-US"/>
          </a:p>
        </p:txBody>
      </p:sp>
      <p:sp>
        <p:nvSpPr>
          <p:cNvPr id="5" name="Shape 3"/>
          <p:cNvSpPr/>
          <p:nvPr/>
        </p:nvSpPr>
        <p:spPr>
          <a:xfrm>
            <a:off x="640080" y="1645920"/>
            <a:ext cx="73152" cy="1828800"/>
          </a:xfrm>
          <a:prstGeom prst="rect">
            <a:avLst/>
          </a:prstGeom>
          <a:solidFill>
            <a:srgbClr val="DC2626"/>
          </a:solidFill>
          <a:ln w="12700">
            <a:solidFill>
              <a:srgbClr val="DC2626"/>
            </a:solidFill>
            <a:prstDash val="solid"/>
          </a:ln>
        </p:spPr>
        <p:txBody>
          <a:bodyPr/>
          <a:lstStyle/>
          <a:p>
            <a:endParaRPr lang="en-US"/>
          </a:p>
        </p:txBody>
      </p:sp>
      <p:sp>
        <p:nvSpPr>
          <p:cNvPr id="6" name="Text 4"/>
          <p:cNvSpPr/>
          <p:nvPr/>
        </p:nvSpPr>
        <p:spPr>
          <a:xfrm>
            <a:off x="868680" y="1810512"/>
            <a:ext cx="224028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The problem</a:t>
            </a:r>
            <a:endParaRPr lang="en-US" sz="1500" dirty="0"/>
          </a:p>
        </p:txBody>
      </p:sp>
      <p:sp>
        <p:nvSpPr>
          <p:cNvPr id="7" name="Text 5"/>
          <p:cNvSpPr/>
          <p:nvPr/>
        </p:nvSpPr>
        <p:spPr>
          <a:xfrm>
            <a:off x="868680" y="2249424"/>
            <a:ext cx="2240280" cy="1078992"/>
          </a:xfrm>
          <a:prstGeom prst="rect">
            <a:avLst/>
          </a:prstGeom>
          <a:noFill/>
        </p:spPr>
        <p:txBody>
          <a:bodyPr wrap="square" lIns="254" tIns="254" rIns="254" bIns="254" rtlCol="0" anchor="t">
            <a:normAutofit/>
          </a:bodyPr>
          <a:lstStyle/>
          <a:p>
            <a:pPr marL="0" indent="0">
              <a:buNone/>
            </a:pPr>
            <a:r>
              <a:rPr lang="en-US" sz="1150" dirty="0">
                <a:solidFill>
                  <a:srgbClr val="5B677A"/>
                </a:solidFill>
              </a:rPr>
              <a:t>AI agents can quietly get worse after a small change.</a:t>
            </a:r>
            <a:endParaRPr lang="en-US" sz="1150" dirty="0"/>
          </a:p>
        </p:txBody>
      </p:sp>
      <p:sp>
        <p:nvSpPr>
          <p:cNvPr id="8" name="Shape 6"/>
          <p:cNvSpPr/>
          <p:nvPr/>
        </p:nvSpPr>
        <p:spPr>
          <a:xfrm>
            <a:off x="3520440" y="1645920"/>
            <a:ext cx="2651760" cy="1828800"/>
          </a:xfrm>
          <a:prstGeom prst="roundRect">
            <a:avLst>
              <a:gd name="adj" fmla="val 4000"/>
            </a:avLst>
          </a:prstGeom>
          <a:solidFill>
            <a:srgbClr val="FFFFFF"/>
          </a:solidFill>
          <a:ln w="12700">
            <a:solidFill>
              <a:srgbClr val="D8E1EA"/>
            </a:solidFill>
            <a:prstDash val="solid"/>
          </a:ln>
        </p:spPr>
        <p:txBody>
          <a:bodyPr/>
          <a:lstStyle/>
          <a:p>
            <a:endParaRPr lang="en-US"/>
          </a:p>
        </p:txBody>
      </p:sp>
      <p:sp>
        <p:nvSpPr>
          <p:cNvPr id="9" name="Shape 7"/>
          <p:cNvSpPr/>
          <p:nvPr/>
        </p:nvSpPr>
        <p:spPr>
          <a:xfrm>
            <a:off x="3520440" y="1645920"/>
            <a:ext cx="73152" cy="1828800"/>
          </a:xfrm>
          <a:prstGeom prst="rect">
            <a:avLst/>
          </a:prstGeom>
          <a:solidFill>
            <a:srgbClr val="01A982"/>
          </a:solidFill>
          <a:ln w="12700">
            <a:solidFill>
              <a:srgbClr val="01A982"/>
            </a:solidFill>
            <a:prstDash val="solid"/>
          </a:ln>
        </p:spPr>
        <p:txBody>
          <a:bodyPr/>
          <a:lstStyle/>
          <a:p>
            <a:endParaRPr lang="en-US"/>
          </a:p>
        </p:txBody>
      </p:sp>
      <p:sp>
        <p:nvSpPr>
          <p:cNvPr id="10" name="Text 8"/>
          <p:cNvSpPr/>
          <p:nvPr/>
        </p:nvSpPr>
        <p:spPr>
          <a:xfrm>
            <a:off x="3749040" y="1810512"/>
            <a:ext cx="224028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Our idea</a:t>
            </a:r>
            <a:endParaRPr lang="en-US" sz="1500" dirty="0"/>
          </a:p>
        </p:txBody>
      </p:sp>
      <p:sp>
        <p:nvSpPr>
          <p:cNvPr id="11" name="Text 9"/>
          <p:cNvSpPr/>
          <p:nvPr/>
        </p:nvSpPr>
        <p:spPr>
          <a:xfrm>
            <a:off x="3749040" y="2249424"/>
            <a:ext cx="2240280" cy="1078992"/>
          </a:xfrm>
          <a:prstGeom prst="rect">
            <a:avLst/>
          </a:prstGeom>
          <a:noFill/>
        </p:spPr>
        <p:txBody>
          <a:bodyPr wrap="square" lIns="254" tIns="254" rIns="254" bIns="254" rtlCol="0" anchor="t">
            <a:normAutofit/>
          </a:bodyPr>
          <a:lstStyle/>
          <a:p>
            <a:pPr marL="0" indent="0">
              <a:buNone/>
            </a:pPr>
            <a:r>
              <a:rPr lang="en-US" sz="1150" dirty="0">
                <a:solidFill>
                  <a:srgbClr val="5B677A"/>
                </a:solidFill>
              </a:rPr>
              <a:t>One system for continuous regression testing, tracing, release control and live monitoring.</a:t>
            </a:r>
            <a:endParaRPr lang="en-US" sz="1150" dirty="0"/>
          </a:p>
        </p:txBody>
      </p:sp>
      <p:sp>
        <p:nvSpPr>
          <p:cNvPr id="12" name="Shape 10"/>
          <p:cNvSpPr/>
          <p:nvPr/>
        </p:nvSpPr>
        <p:spPr>
          <a:xfrm>
            <a:off x="6400800" y="1645920"/>
            <a:ext cx="2651760" cy="1828800"/>
          </a:xfrm>
          <a:prstGeom prst="roundRect">
            <a:avLst>
              <a:gd name="adj" fmla="val 4000"/>
            </a:avLst>
          </a:prstGeom>
          <a:solidFill>
            <a:srgbClr val="FFFFFF"/>
          </a:solidFill>
          <a:ln w="12700">
            <a:solidFill>
              <a:srgbClr val="D8E1EA"/>
            </a:solidFill>
            <a:prstDash val="solid"/>
          </a:ln>
        </p:spPr>
        <p:txBody>
          <a:bodyPr/>
          <a:lstStyle/>
          <a:p>
            <a:endParaRPr lang="en-US"/>
          </a:p>
        </p:txBody>
      </p:sp>
      <p:sp>
        <p:nvSpPr>
          <p:cNvPr id="13" name="Shape 11"/>
          <p:cNvSpPr/>
          <p:nvPr/>
        </p:nvSpPr>
        <p:spPr>
          <a:xfrm>
            <a:off x="6400800" y="1645920"/>
            <a:ext cx="73152" cy="1828800"/>
          </a:xfrm>
          <a:prstGeom prst="rect">
            <a:avLst/>
          </a:prstGeom>
          <a:solidFill>
            <a:srgbClr val="2563EB"/>
          </a:solidFill>
          <a:ln w="12700">
            <a:solidFill>
              <a:srgbClr val="2563EB"/>
            </a:solidFill>
            <a:prstDash val="solid"/>
          </a:ln>
        </p:spPr>
        <p:txBody>
          <a:bodyPr/>
          <a:lstStyle/>
          <a:p>
            <a:endParaRPr lang="en-US"/>
          </a:p>
        </p:txBody>
      </p:sp>
      <p:sp>
        <p:nvSpPr>
          <p:cNvPr id="14" name="Text 12"/>
          <p:cNvSpPr/>
          <p:nvPr/>
        </p:nvSpPr>
        <p:spPr>
          <a:xfrm>
            <a:off x="6629400" y="1810512"/>
            <a:ext cx="224028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How we prove it</a:t>
            </a:r>
            <a:endParaRPr lang="en-US" sz="1500" dirty="0"/>
          </a:p>
        </p:txBody>
      </p:sp>
      <p:sp>
        <p:nvSpPr>
          <p:cNvPr id="15" name="Text 13"/>
          <p:cNvSpPr/>
          <p:nvPr/>
        </p:nvSpPr>
        <p:spPr>
          <a:xfrm>
            <a:off x="6629400" y="2249424"/>
            <a:ext cx="2240280" cy="1078992"/>
          </a:xfrm>
          <a:prstGeom prst="rect">
            <a:avLst/>
          </a:prstGeom>
          <a:noFill/>
        </p:spPr>
        <p:txBody>
          <a:bodyPr wrap="square" lIns="254" tIns="254" rIns="254" bIns="254" rtlCol="0" anchor="t">
            <a:normAutofit/>
          </a:bodyPr>
          <a:lstStyle/>
          <a:p>
            <a:pPr marL="0" indent="0">
              <a:buNone/>
            </a:pPr>
            <a:r>
              <a:rPr lang="en-US" sz="1150" dirty="0">
                <a:solidFill>
                  <a:srgbClr val="5B677A"/>
                </a:solidFill>
              </a:rPr>
              <a:t>Two agents, two tools and 12 weeks of real measurements.</a:t>
            </a:r>
            <a:endParaRPr lang="en-US" sz="1150" dirty="0"/>
          </a:p>
        </p:txBody>
      </p:sp>
      <p:sp>
        <p:nvSpPr>
          <p:cNvPr id="16" name="Shape 14"/>
          <p:cNvSpPr/>
          <p:nvPr/>
        </p:nvSpPr>
        <p:spPr>
          <a:xfrm>
            <a:off x="9281160" y="1645920"/>
            <a:ext cx="2286000" cy="1828800"/>
          </a:xfrm>
          <a:prstGeom prst="roundRect">
            <a:avLst>
              <a:gd name="adj" fmla="val 4000"/>
            </a:avLst>
          </a:prstGeom>
          <a:solidFill>
            <a:srgbClr val="FFFFFF"/>
          </a:solidFill>
          <a:ln w="12700">
            <a:solidFill>
              <a:srgbClr val="D8E1EA"/>
            </a:solidFill>
            <a:prstDash val="solid"/>
          </a:ln>
        </p:spPr>
        <p:txBody>
          <a:bodyPr/>
          <a:lstStyle/>
          <a:p>
            <a:endParaRPr lang="en-US"/>
          </a:p>
        </p:txBody>
      </p:sp>
      <p:sp>
        <p:nvSpPr>
          <p:cNvPr id="17" name="Shape 15"/>
          <p:cNvSpPr/>
          <p:nvPr/>
        </p:nvSpPr>
        <p:spPr>
          <a:xfrm>
            <a:off x="9281160" y="1645920"/>
            <a:ext cx="73152" cy="1828800"/>
          </a:xfrm>
          <a:prstGeom prst="rect">
            <a:avLst/>
          </a:prstGeom>
          <a:solidFill>
            <a:srgbClr val="EA580C"/>
          </a:solidFill>
          <a:ln w="12700">
            <a:solidFill>
              <a:srgbClr val="EA580C"/>
            </a:solidFill>
            <a:prstDash val="solid"/>
          </a:ln>
        </p:spPr>
        <p:txBody>
          <a:bodyPr/>
          <a:lstStyle/>
          <a:p>
            <a:endParaRPr lang="en-US"/>
          </a:p>
        </p:txBody>
      </p:sp>
      <p:sp>
        <p:nvSpPr>
          <p:cNvPr id="18" name="Text 16"/>
          <p:cNvSpPr/>
          <p:nvPr/>
        </p:nvSpPr>
        <p:spPr>
          <a:xfrm>
            <a:off x="9509760" y="1810512"/>
            <a:ext cx="187452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What you get</a:t>
            </a:r>
            <a:endParaRPr lang="en-US" sz="1500" dirty="0"/>
          </a:p>
        </p:txBody>
      </p:sp>
      <p:sp>
        <p:nvSpPr>
          <p:cNvPr id="19" name="Text 17"/>
          <p:cNvSpPr/>
          <p:nvPr/>
        </p:nvSpPr>
        <p:spPr>
          <a:xfrm>
            <a:off x="9509760" y="2249424"/>
            <a:ext cx="1874520" cy="1078992"/>
          </a:xfrm>
          <a:prstGeom prst="rect">
            <a:avLst/>
          </a:prstGeom>
          <a:noFill/>
        </p:spPr>
        <p:txBody>
          <a:bodyPr wrap="square" lIns="254" tIns="254" rIns="254" bIns="254" rtlCol="0" anchor="t">
            <a:normAutofit/>
          </a:bodyPr>
          <a:lstStyle/>
          <a:p>
            <a:pPr marL="0" indent="0">
              <a:buNone/>
            </a:pPr>
            <a:r>
              <a:rPr lang="en-US" sz="1150" dirty="0">
                <a:solidFill>
                  <a:srgbClr val="5B677A"/>
                </a:solidFill>
              </a:rPr>
              <a:t>A reusable design that grows across agents and business use cases.</a:t>
            </a:r>
            <a:endParaRPr lang="en-US" sz="1150" dirty="0"/>
          </a:p>
        </p:txBody>
      </p:sp>
      <p:sp>
        <p:nvSpPr>
          <p:cNvPr id="20" name="Shape 18"/>
          <p:cNvSpPr/>
          <p:nvPr/>
        </p:nvSpPr>
        <p:spPr>
          <a:xfrm>
            <a:off x="1325880" y="4160520"/>
            <a:ext cx="9555480" cy="1051560"/>
          </a:xfrm>
          <a:prstGeom prst="roundRect">
            <a:avLst/>
          </a:prstGeom>
          <a:solidFill>
            <a:srgbClr val="0F2742"/>
          </a:solidFill>
          <a:ln w="12700">
            <a:solidFill>
              <a:srgbClr val="0F2742"/>
            </a:solidFill>
            <a:prstDash val="solid"/>
          </a:ln>
        </p:spPr>
        <p:txBody>
          <a:bodyPr/>
          <a:lstStyle/>
          <a:p>
            <a:endParaRPr lang="en-US"/>
          </a:p>
        </p:txBody>
      </p:sp>
      <p:sp>
        <p:nvSpPr>
          <p:cNvPr id="21" name="Text 19"/>
          <p:cNvSpPr/>
          <p:nvPr/>
        </p:nvSpPr>
        <p:spPr>
          <a:xfrm>
            <a:off x="1645920" y="4370832"/>
            <a:ext cx="1645920" cy="228600"/>
          </a:xfrm>
          <a:prstGeom prst="rect">
            <a:avLst/>
          </a:prstGeom>
          <a:noFill/>
        </p:spPr>
        <p:txBody>
          <a:bodyPr wrap="square" lIns="0" tIns="0" rIns="0" bIns="0" rtlCol="0" anchor="ctr"/>
          <a:lstStyle/>
          <a:p>
            <a:pPr marL="0" indent="0">
              <a:buNone/>
            </a:pPr>
            <a:r>
              <a:rPr lang="en-US" sz="1100" b="1" dirty="0">
                <a:solidFill>
                  <a:srgbClr val="A7F3D0"/>
                </a:solidFill>
              </a:rPr>
              <a:t>CORE QUESTION</a:t>
            </a:r>
            <a:endParaRPr lang="en-US" sz="1100" dirty="0"/>
          </a:p>
        </p:txBody>
      </p:sp>
      <p:sp>
        <p:nvSpPr>
          <p:cNvPr id="22" name="Text 20"/>
          <p:cNvSpPr/>
          <p:nvPr/>
        </p:nvSpPr>
        <p:spPr>
          <a:xfrm>
            <a:off x="2971800" y="4270248"/>
            <a:ext cx="7360920" cy="502920"/>
          </a:xfrm>
          <a:prstGeom prst="rect">
            <a:avLst/>
          </a:prstGeom>
          <a:noFill/>
        </p:spPr>
        <p:txBody>
          <a:bodyPr wrap="square" lIns="0" tIns="0" rIns="0" bIns="0" rtlCol="0" anchor="ctr">
            <a:normAutofit lnSpcReduction="10000"/>
          </a:bodyPr>
          <a:lstStyle/>
          <a:p>
            <a:pPr marL="0" indent="0">
              <a:buNone/>
            </a:pPr>
            <a:r>
              <a:rPr lang="en-US" sz="1800" b="1" dirty="0">
                <a:solidFill>
                  <a:srgbClr val="FFFFFF"/>
                </a:solidFill>
              </a:rPr>
              <a:t>Can one connected pipeline detect and contain agent problems before and after release?</a:t>
            </a:r>
            <a:endParaRPr lang="en-US" sz="1800" dirty="0"/>
          </a:p>
        </p:txBody>
      </p:sp>
      <p:sp>
        <p:nvSpPr>
          <p:cNvPr id="25" name="Slide Number Placeholder 0"/>
          <p:cNvSpPr>
            <a:spLocks noGrp="1"/>
          </p:cNvSpPr>
          <p:nvPr>
            <p:ph type="sldNum" sz="quarter" idx="4294967295"/>
          </p:nvPr>
        </p:nvSpPr>
        <p:spPr>
          <a:xfrm>
            <a:off x="11384280" y="6556248"/>
            <a:ext cx="274320" cy="182880"/>
          </a:xfrm>
          <a:prstGeom prst="rect">
            <a:avLst/>
          </a:prstGeom>
        </p:spPr>
        <p:txBody>
          <a:bodyPr>
            <a:normAutofit fontScale="77500" lnSpcReduction="20000"/>
          </a:bodyPr>
          <a:lstStyle>
            <a:lvl1pPr>
              <a:defRPr sz="900">
                <a:solidFill>
                  <a:srgbClr val="64748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p:spPr>
        <p:txBody>
          <a:bodyPr wrap="square" lIns="0" tIns="0" rIns="0" bIns="0" rtlCol="0" anchor="ctr"/>
          <a:lstStyle/>
          <a:p>
            <a:r>
              <a:rPr lang="en-US" dirty="0"/>
              <a:t>Our goal: one safety system</a:t>
            </a:r>
          </a:p>
        </p:txBody>
      </p:sp>
      <p:sp>
        <p:nvSpPr>
          <p:cNvPr id="3" name="Text 0"/>
          <p:cNvSpPr>
            <a:spLocks noGrp="1"/>
          </p:cNvSpPr>
          <p:nvPr>
            <p:ph type="body" idx="101"/>
          </p:nvPr>
        </p:nvSpPr>
        <p:spPr>
          <a:prstGeom prst="rect">
            <a:avLst/>
          </a:prstGeom>
          <a:noFill/>
        </p:spPr>
        <p:txBody>
          <a:bodyPr wrap="square" lIns="0" tIns="0" rIns="0" bIns="0" rtlCol="0" anchor="t"/>
          <a:lstStyle/>
          <a:p>
            <a:r>
              <a:rPr lang="en-US" dirty="0"/>
              <a:t>We want to catch problems early and control them after release.</a:t>
            </a:r>
          </a:p>
        </p:txBody>
      </p:sp>
      <p:sp>
        <p:nvSpPr>
          <p:cNvPr id="28" name="Slide Number Placeholder 0"/>
          <p:cNvSpPr>
            <a:spLocks noGrp="1"/>
          </p:cNvSpPr>
          <p:nvPr>
            <p:ph type="sldNum" sz="quarter" idx="4294967295"/>
          </p:nvPr>
        </p:nvSpPr>
        <p:spPr>
          <a:xfrm>
            <a:off x="10972800" y="6339840"/>
            <a:ext cx="609600" cy="304800"/>
          </a:xfrm>
          <a:prstGeom prst="rect">
            <a:avLst/>
          </a:prstGeom>
        </p:spPr>
        <p:txBody>
          <a:bodyPr/>
          <a:lstStyle>
            <a:lvl1pPr>
              <a:defRPr sz="1335">
                <a:solidFill>
                  <a:schemeClr val="accent6"/>
                </a:solidFill>
              </a:defRPr>
            </a:lvl1pPr>
          </a:lstStyle>
          <a:p>
            <a:pPr algn="r"/>
            <a:fld id="{F7021451-1387-4CA6-816F-3879F97B5CBC}" type="slidenum">
              <a:rPr lang="en-US" b="0"/>
              <a:t>3</a:t>
            </a:fld>
            <a:endParaRPr lang="en-US"/>
          </a:p>
        </p:txBody>
      </p:sp>
      <p:sp>
        <p:nvSpPr>
          <p:cNvPr id="4" name="Goal card"/>
          <p:cNvSpPr/>
          <p:nvPr/>
        </p:nvSpPr>
        <p:spPr>
          <a:xfrm>
            <a:off x="609600" y="1828800"/>
            <a:ext cx="4023360" cy="4206240"/>
          </a:xfrm>
          <a:prstGeom prst="roundRect">
            <a:avLst>
              <a:gd name="adj" fmla="val 2424"/>
            </a:avLst>
          </a:prstGeom>
          <a:solidFill>
            <a:schemeClr val="tx2"/>
          </a:solidFill>
          <a:effectLst>
            <a:outerShdw blurRad="88900" dist="25400" dir="5400000" algn="bl" rotWithShape="0">
              <a:srgbClr val="0B1633">
                <a:alpha val="13000"/>
              </a:srgbClr>
            </a:outerShdw>
          </a:effectLst>
        </p:spPr>
        <p:txBody>
          <a:bodyPr/>
          <a:lstStyle/>
          <a:p>
            <a:endParaRPr lang="en-US" sz="2400"/>
          </a:p>
        </p:txBody>
      </p:sp>
      <p:sp>
        <p:nvSpPr>
          <p:cNvPr id="5" name="Text 3"/>
          <p:cNvSpPr txBox="1"/>
          <p:nvPr/>
        </p:nvSpPr>
        <p:spPr>
          <a:xfrm>
            <a:off x="914400" y="2097024"/>
            <a:ext cx="3413760" cy="268224"/>
          </a:xfrm>
          <a:prstGeom prst="rect">
            <a:avLst/>
          </a:prstGeom>
          <a:noFill/>
        </p:spPr>
        <p:txBody>
          <a:bodyPr wrap="square" lIns="0" tIns="0" rIns="0" bIns="0" rtlCol="0" anchor="t"/>
          <a:lstStyle/>
          <a:p>
            <a:r>
              <a:rPr lang="en-US" sz="1465" b="1" dirty="0">
                <a:solidFill>
                  <a:schemeClr val="accent2"/>
                </a:solidFill>
              </a:rPr>
              <a:t>MAIN GOAL</a:t>
            </a:r>
            <a:endParaRPr lang="en-US" sz="1465" dirty="0"/>
          </a:p>
        </p:txBody>
      </p:sp>
      <p:sp>
        <p:nvSpPr>
          <p:cNvPr id="6" name="Text 4"/>
          <p:cNvSpPr txBox="1"/>
          <p:nvPr/>
        </p:nvSpPr>
        <p:spPr>
          <a:xfrm>
            <a:off x="914400" y="2416829"/>
            <a:ext cx="3413760" cy="1966195"/>
          </a:xfrm>
          <a:prstGeom prst="rect">
            <a:avLst/>
          </a:prstGeom>
          <a:noFill/>
        </p:spPr>
        <p:txBody>
          <a:bodyPr wrap="square" lIns="0" tIns="0" rIns="0" bIns="0" rtlCol="0" anchor="t"/>
          <a:lstStyle/>
          <a:p>
            <a:r>
              <a:rPr lang="en-US" sz="2400" b="1" dirty="0">
                <a:solidFill>
                  <a:schemeClr val="bg1"/>
                </a:solidFill>
                <a:latin typeface="Calibri" panose="020F0502020204030204" pitchFamily="34" charset="0"/>
                <a:ea typeface="Calibri" panose="020F0502020204030204" pitchFamily="34" charset="0"/>
                <a:cs typeface="Calibri" panose="020F0502020204030204" pitchFamily="34" charset="0"/>
              </a:rPr>
              <a:t>Build one complete Agentic solution for  safety, quality and monitoring system for AI agents.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5"/>
          <p:cNvSpPr txBox="1"/>
          <p:nvPr/>
        </p:nvSpPr>
        <p:spPr>
          <a:xfrm>
            <a:off x="914400" y="4572000"/>
            <a:ext cx="3413760" cy="1341120"/>
          </a:xfrm>
          <a:prstGeom prst="rect">
            <a:avLst/>
          </a:prstGeom>
          <a:noFill/>
        </p:spPr>
        <p:txBody>
          <a:bodyPr wrap="square" lIns="0" tIns="0" rIns="0" bIns="0" rtlCol="0" anchor="t"/>
          <a:lstStyle/>
          <a:p>
            <a:pPr>
              <a:spcAft>
                <a:spcPts val="535"/>
              </a:spcAft>
            </a:pPr>
            <a:r>
              <a:rPr lang="en-US" sz="1600" b="1" dirty="0">
                <a:solidFill>
                  <a:schemeClr val="bg2"/>
                </a:solidFill>
              </a:rPr>
              <a:t>Regression: </a:t>
            </a:r>
            <a:r>
              <a:rPr lang="en-US" sz="1600" dirty="0">
                <a:solidFill>
                  <a:schemeClr val="bg2"/>
                </a:solidFill>
              </a:rPr>
              <a:t>the agent gets worse after a change.</a:t>
            </a:r>
            <a:endParaRPr lang="en-US" sz="1600" dirty="0"/>
          </a:p>
          <a:p>
            <a:pPr>
              <a:spcAft>
                <a:spcPts val="535"/>
              </a:spcAft>
            </a:pPr>
            <a:r>
              <a:rPr lang="en-US" sz="1600" b="1" dirty="0">
                <a:solidFill>
                  <a:schemeClr val="bg2"/>
                </a:solidFill>
              </a:rPr>
              <a:t>Error budget: </a:t>
            </a:r>
            <a:r>
              <a:rPr lang="en-US" sz="1600" dirty="0">
                <a:solidFill>
                  <a:schemeClr val="bg2"/>
                </a:solidFill>
              </a:rPr>
              <a:t>how many mistakes we accept before we stop and fix.</a:t>
            </a:r>
            <a:endParaRPr lang="en-US" sz="1600" dirty="0"/>
          </a:p>
        </p:txBody>
      </p:sp>
      <p:sp>
        <p:nvSpPr>
          <p:cNvPr id="8" name="Card"/>
          <p:cNvSpPr/>
          <p:nvPr/>
        </p:nvSpPr>
        <p:spPr>
          <a:xfrm>
            <a:off x="4937760" y="1828800"/>
            <a:ext cx="6644640" cy="755904"/>
          </a:xfrm>
          <a:prstGeom prst="roundRect">
            <a:avLst>
              <a:gd name="adj" fmla="val 1290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9" name="Badge 1"/>
          <p:cNvSpPr txBox="1"/>
          <p:nvPr/>
        </p:nvSpPr>
        <p:spPr>
          <a:xfrm>
            <a:off x="5120640" y="1987296"/>
            <a:ext cx="438912" cy="438912"/>
          </a:xfrm>
          <a:prstGeom prst="ellipse">
            <a:avLst/>
          </a:prstGeom>
          <a:solidFill>
            <a:schemeClr val="accent1"/>
          </a:solidFill>
        </p:spPr>
        <p:txBody>
          <a:bodyPr wrap="square" lIns="0" tIns="0" rIns="0" bIns="0" rtlCol="0" anchor="ctr"/>
          <a:lstStyle/>
          <a:p>
            <a:pPr algn="ctr"/>
            <a:r>
              <a:rPr lang="en-US" sz="1735" b="1" dirty="0">
                <a:solidFill>
                  <a:schemeClr val="bg1"/>
                </a:solidFill>
              </a:rPr>
              <a:t>1</a:t>
            </a:r>
            <a:endParaRPr lang="en-US" sz="1735" dirty="0"/>
          </a:p>
        </p:txBody>
      </p:sp>
      <p:sp>
        <p:nvSpPr>
          <p:cNvPr id="10" name="Text 8"/>
          <p:cNvSpPr txBox="1"/>
          <p:nvPr/>
        </p:nvSpPr>
        <p:spPr>
          <a:xfrm>
            <a:off x="5791200" y="1914144"/>
            <a:ext cx="5608320" cy="304800"/>
          </a:xfrm>
          <a:prstGeom prst="rect">
            <a:avLst/>
          </a:prstGeom>
          <a:noFill/>
        </p:spPr>
        <p:txBody>
          <a:bodyPr wrap="square" lIns="0" tIns="0" rIns="0" bIns="0" rtlCol="0" anchor="t"/>
          <a:lstStyle/>
          <a:p>
            <a:r>
              <a:rPr lang="en-US" sz="1865" b="1" dirty="0"/>
              <a:t>Catch regressions</a:t>
            </a:r>
            <a:endParaRPr lang="en-US" sz="1865" dirty="0"/>
          </a:p>
        </p:txBody>
      </p:sp>
      <p:sp>
        <p:nvSpPr>
          <p:cNvPr id="11" name="Text 9"/>
          <p:cNvSpPr txBox="1"/>
          <p:nvPr/>
        </p:nvSpPr>
        <p:spPr>
          <a:xfrm>
            <a:off x="5791200" y="2231136"/>
            <a:ext cx="5669280" cy="292608"/>
          </a:xfrm>
          <a:prstGeom prst="rect">
            <a:avLst/>
          </a:prstGeom>
          <a:noFill/>
        </p:spPr>
        <p:txBody>
          <a:bodyPr wrap="square" lIns="0" tIns="0" rIns="0" bIns="0" rtlCol="0" anchor="t"/>
          <a:lstStyle/>
          <a:p>
            <a:r>
              <a:rPr lang="en-US" sz="1600" dirty="0">
                <a:solidFill>
                  <a:schemeClr val="accent6"/>
                </a:solidFill>
              </a:rPr>
              <a:t>Continuous testing spots when an agent gets worse</a:t>
            </a:r>
            <a:endParaRPr lang="en-US" sz="1600" dirty="0"/>
          </a:p>
        </p:txBody>
      </p:sp>
      <p:sp>
        <p:nvSpPr>
          <p:cNvPr id="12" name="Card"/>
          <p:cNvSpPr/>
          <p:nvPr/>
        </p:nvSpPr>
        <p:spPr>
          <a:xfrm>
            <a:off x="4937760" y="2727960"/>
            <a:ext cx="6644640" cy="755904"/>
          </a:xfrm>
          <a:prstGeom prst="roundRect">
            <a:avLst>
              <a:gd name="adj" fmla="val 1290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3" name="Badge 2"/>
          <p:cNvSpPr txBox="1"/>
          <p:nvPr/>
        </p:nvSpPr>
        <p:spPr>
          <a:xfrm>
            <a:off x="5120640" y="2886456"/>
            <a:ext cx="438912" cy="438912"/>
          </a:xfrm>
          <a:prstGeom prst="ellipse">
            <a:avLst/>
          </a:prstGeom>
          <a:solidFill>
            <a:schemeClr val="accent1"/>
          </a:solidFill>
        </p:spPr>
        <p:txBody>
          <a:bodyPr wrap="square" lIns="0" tIns="0" rIns="0" bIns="0" rtlCol="0" anchor="ctr"/>
          <a:lstStyle/>
          <a:p>
            <a:pPr algn="ctr"/>
            <a:r>
              <a:rPr lang="en-US" sz="1735" b="1" dirty="0">
                <a:solidFill>
                  <a:schemeClr val="bg1"/>
                </a:solidFill>
              </a:rPr>
              <a:t>2</a:t>
            </a:r>
            <a:endParaRPr lang="en-US" sz="1735" dirty="0"/>
          </a:p>
        </p:txBody>
      </p:sp>
      <p:sp>
        <p:nvSpPr>
          <p:cNvPr id="14" name="Text 12"/>
          <p:cNvSpPr txBox="1"/>
          <p:nvPr/>
        </p:nvSpPr>
        <p:spPr>
          <a:xfrm>
            <a:off x="5791200" y="2813304"/>
            <a:ext cx="5608320" cy="304800"/>
          </a:xfrm>
          <a:prstGeom prst="rect">
            <a:avLst/>
          </a:prstGeom>
          <a:noFill/>
        </p:spPr>
        <p:txBody>
          <a:bodyPr wrap="square" lIns="0" tIns="0" rIns="0" bIns="0" rtlCol="0" anchor="t"/>
          <a:lstStyle/>
          <a:p>
            <a:r>
              <a:rPr lang="en-US" sz="1865" b="1" dirty="0"/>
              <a:t>Check trace quality</a:t>
            </a:r>
            <a:endParaRPr lang="en-US" sz="1865" dirty="0"/>
          </a:p>
        </p:txBody>
      </p:sp>
      <p:sp>
        <p:nvSpPr>
          <p:cNvPr id="15" name="Text 13"/>
          <p:cNvSpPr txBox="1"/>
          <p:nvPr/>
        </p:nvSpPr>
        <p:spPr>
          <a:xfrm>
            <a:off x="5791200" y="3130296"/>
            <a:ext cx="5669280" cy="292608"/>
          </a:xfrm>
          <a:prstGeom prst="rect">
            <a:avLst/>
          </a:prstGeom>
          <a:noFill/>
        </p:spPr>
        <p:txBody>
          <a:bodyPr wrap="square" lIns="0" tIns="0" rIns="0" bIns="0" rtlCol="0" anchor="t"/>
          <a:lstStyle/>
          <a:p>
            <a:r>
              <a:rPr lang="en-US" sz="1600" dirty="0">
                <a:solidFill>
                  <a:schemeClr val="accent6"/>
                </a:solidFill>
              </a:rPr>
              <a:t>Make sure the recorded steps are complete and useful</a:t>
            </a:r>
            <a:endParaRPr lang="en-US" sz="1600" dirty="0"/>
          </a:p>
        </p:txBody>
      </p:sp>
      <p:sp>
        <p:nvSpPr>
          <p:cNvPr id="16" name="Card"/>
          <p:cNvSpPr/>
          <p:nvPr/>
        </p:nvSpPr>
        <p:spPr>
          <a:xfrm>
            <a:off x="4937760" y="3627120"/>
            <a:ext cx="6644640" cy="755904"/>
          </a:xfrm>
          <a:prstGeom prst="roundRect">
            <a:avLst>
              <a:gd name="adj" fmla="val 1290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7" name="Badge 3"/>
          <p:cNvSpPr txBox="1"/>
          <p:nvPr/>
        </p:nvSpPr>
        <p:spPr>
          <a:xfrm>
            <a:off x="5120640" y="3785616"/>
            <a:ext cx="438912" cy="438912"/>
          </a:xfrm>
          <a:prstGeom prst="ellipse">
            <a:avLst/>
          </a:prstGeom>
          <a:solidFill>
            <a:schemeClr val="accent1"/>
          </a:solidFill>
        </p:spPr>
        <p:txBody>
          <a:bodyPr wrap="square" lIns="0" tIns="0" rIns="0" bIns="0" rtlCol="0" anchor="ctr"/>
          <a:lstStyle/>
          <a:p>
            <a:pPr algn="ctr"/>
            <a:r>
              <a:rPr lang="en-US" sz="1735" b="1" dirty="0">
                <a:solidFill>
                  <a:schemeClr val="bg1"/>
                </a:solidFill>
              </a:rPr>
              <a:t>3</a:t>
            </a:r>
            <a:endParaRPr lang="en-US" sz="1735" dirty="0"/>
          </a:p>
        </p:txBody>
      </p:sp>
      <p:sp>
        <p:nvSpPr>
          <p:cNvPr id="18" name="Text 16"/>
          <p:cNvSpPr txBox="1"/>
          <p:nvPr/>
        </p:nvSpPr>
        <p:spPr>
          <a:xfrm>
            <a:off x="5791200" y="3712464"/>
            <a:ext cx="5608320" cy="304800"/>
          </a:xfrm>
          <a:prstGeom prst="rect">
            <a:avLst/>
          </a:prstGeom>
          <a:noFill/>
        </p:spPr>
        <p:txBody>
          <a:bodyPr wrap="square" lIns="0" tIns="0" rIns="0" bIns="0" rtlCol="0" anchor="t"/>
          <a:lstStyle/>
          <a:p>
            <a:r>
              <a:rPr lang="en-US" sz="1865" b="1" dirty="0"/>
              <a:t>Gate every release</a:t>
            </a:r>
            <a:endParaRPr lang="en-US" sz="1865" dirty="0"/>
          </a:p>
        </p:txBody>
      </p:sp>
      <p:sp>
        <p:nvSpPr>
          <p:cNvPr id="19" name="Text 17"/>
          <p:cNvSpPr txBox="1"/>
          <p:nvPr/>
        </p:nvSpPr>
        <p:spPr>
          <a:xfrm>
            <a:off x="5791200" y="4029456"/>
            <a:ext cx="5669280" cy="292608"/>
          </a:xfrm>
          <a:prstGeom prst="rect">
            <a:avLst/>
          </a:prstGeom>
          <a:noFill/>
        </p:spPr>
        <p:txBody>
          <a:bodyPr wrap="square" lIns="0" tIns="0" rIns="0" bIns="0" rtlCol="0" anchor="t"/>
          <a:lstStyle/>
          <a:p>
            <a:r>
              <a:rPr lang="en-US" sz="1600" dirty="0">
                <a:solidFill>
                  <a:schemeClr val="accent6"/>
                </a:solidFill>
              </a:rPr>
              <a:t>Use tests to allow or block a new version</a:t>
            </a:r>
            <a:endParaRPr lang="en-US" sz="1600" dirty="0"/>
          </a:p>
        </p:txBody>
      </p:sp>
      <p:sp>
        <p:nvSpPr>
          <p:cNvPr id="20" name="Card"/>
          <p:cNvSpPr/>
          <p:nvPr/>
        </p:nvSpPr>
        <p:spPr>
          <a:xfrm>
            <a:off x="4937760" y="4526280"/>
            <a:ext cx="6644640" cy="755904"/>
          </a:xfrm>
          <a:prstGeom prst="roundRect">
            <a:avLst>
              <a:gd name="adj" fmla="val 1290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1" name="Badge 4"/>
          <p:cNvSpPr txBox="1"/>
          <p:nvPr/>
        </p:nvSpPr>
        <p:spPr>
          <a:xfrm>
            <a:off x="5120640" y="4684776"/>
            <a:ext cx="438912" cy="438912"/>
          </a:xfrm>
          <a:prstGeom prst="ellipse">
            <a:avLst/>
          </a:prstGeom>
          <a:solidFill>
            <a:schemeClr val="accent1"/>
          </a:solidFill>
        </p:spPr>
        <p:txBody>
          <a:bodyPr wrap="square" lIns="0" tIns="0" rIns="0" bIns="0" rtlCol="0" anchor="ctr"/>
          <a:lstStyle/>
          <a:p>
            <a:pPr algn="ctr"/>
            <a:r>
              <a:rPr lang="en-US" sz="1735" b="1" dirty="0">
                <a:solidFill>
                  <a:schemeClr val="bg1"/>
                </a:solidFill>
              </a:rPr>
              <a:t>4</a:t>
            </a:r>
            <a:endParaRPr lang="en-US" sz="1735" dirty="0"/>
          </a:p>
        </p:txBody>
      </p:sp>
      <p:sp>
        <p:nvSpPr>
          <p:cNvPr id="22" name="Text 20"/>
          <p:cNvSpPr txBox="1"/>
          <p:nvPr/>
        </p:nvSpPr>
        <p:spPr>
          <a:xfrm>
            <a:off x="5791200" y="4611624"/>
            <a:ext cx="5608320" cy="304800"/>
          </a:xfrm>
          <a:prstGeom prst="rect">
            <a:avLst/>
          </a:prstGeom>
          <a:noFill/>
        </p:spPr>
        <p:txBody>
          <a:bodyPr wrap="square" lIns="0" tIns="0" rIns="0" bIns="0" rtlCol="0" anchor="t"/>
          <a:lstStyle/>
          <a:p>
            <a:r>
              <a:rPr lang="en-US" sz="1865" b="1" dirty="0"/>
              <a:t>Set error budgets</a:t>
            </a:r>
            <a:endParaRPr lang="en-US" sz="1865" dirty="0"/>
          </a:p>
        </p:txBody>
      </p:sp>
      <p:sp>
        <p:nvSpPr>
          <p:cNvPr id="23" name="Text 21"/>
          <p:cNvSpPr txBox="1"/>
          <p:nvPr/>
        </p:nvSpPr>
        <p:spPr>
          <a:xfrm>
            <a:off x="5791200" y="4928616"/>
            <a:ext cx="5669280" cy="292608"/>
          </a:xfrm>
          <a:prstGeom prst="rect">
            <a:avLst/>
          </a:prstGeom>
          <a:noFill/>
        </p:spPr>
        <p:txBody>
          <a:bodyPr wrap="square" lIns="0" tIns="0" rIns="0" bIns="0" rtlCol="0" anchor="t"/>
          <a:lstStyle/>
          <a:p>
            <a:r>
              <a:rPr lang="en-US" sz="1600" dirty="0">
                <a:solidFill>
                  <a:schemeClr val="accent6"/>
                </a:solidFill>
              </a:rPr>
              <a:t>Decide how many mistakes are acceptable</a:t>
            </a:r>
            <a:endParaRPr lang="en-US" sz="1600" dirty="0"/>
          </a:p>
        </p:txBody>
      </p:sp>
      <p:sp>
        <p:nvSpPr>
          <p:cNvPr id="24" name="Card"/>
          <p:cNvSpPr/>
          <p:nvPr/>
        </p:nvSpPr>
        <p:spPr>
          <a:xfrm>
            <a:off x="4937760" y="5425440"/>
            <a:ext cx="6644640" cy="755904"/>
          </a:xfrm>
          <a:prstGeom prst="roundRect">
            <a:avLst>
              <a:gd name="adj" fmla="val 1290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5" name="Badge 5"/>
          <p:cNvSpPr txBox="1"/>
          <p:nvPr/>
        </p:nvSpPr>
        <p:spPr>
          <a:xfrm>
            <a:off x="5120640" y="5583936"/>
            <a:ext cx="438912" cy="438912"/>
          </a:xfrm>
          <a:prstGeom prst="ellipse">
            <a:avLst/>
          </a:prstGeom>
          <a:solidFill>
            <a:schemeClr val="accent1"/>
          </a:solidFill>
        </p:spPr>
        <p:txBody>
          <a:bodyPr wrap="square" lIns="0" tIns="0" rIns="0" bIns="0" rtlCol="0" anchor="ctr"/>
          <a:lstStyle/>
          <a:p>
            <a:pPr algn="ctr"/>
            <a:r>
              <a:rPr lang="en-US" sz="1735" b="1" dirty="0">
                <a:solidFill>
                  <a:schemeClr val="bg1"/>
                </a:solidFill>
              </a:rPr>
              <a:t>5</a:t>
            </a:r>
            <a:endParaRPr lang="en-US" sz="1735" dirty="0"/>
          </a:p>
        </p:txBody>
      </p:sp>
      <p:sp>
        <p:nvSpPr>
          <p:cNvPr id="26" name="Text 24"/>
          <p:cNvSpPr txBox="1"/>
          <p:nvPr/>
        </p:nvSpPr>
        <p:spPr>
          <a:xfrm>
            <a:off x="5791200" y="5510784"/>
            <a:ext cx="5608320" cy="304800"/>
          </a:xfrm>
          <a:prstGeom prst="rect">
            <a:avLst/>
          </a:prstGeom>
          <a:noFill/>
        </p:spPr>
        <p:txBody>
          <a:bodyPr wrap="square" lIns="0" tIns="0" rIns="0" bIns="0" rtlCol="0" anchor="t"/>
          <a:lstStyle/>
          <a:p>
            <a:r>
              <a:rPr lang="en-US" sz="1865" b="1" dirty="0"/>
              <a:t>Watch for 12 weeks</a:t>
            </a:r>
            <a:endParaRPr lang="en-US" sz="1865" dirty="0"/>
          </a:p>
        </p:txBody>
      </p:sp>
      <p:sp>
        <p:nvSpPr>
          <p:cNvPr id="27" name="Text 25"/>
          <p:cNvSpPr txBox="1"/>
          <p:nvPr/>
        </p:nvSpPr>
        <p:spPr>
          <a:xfrm>
            <a:off x="5791200" y="5827776"/>
            <a:ext cx="5669280" cy="292608"/>
          </a:xfrm>
          <a:prstGeom prst="rect">
            <a:avLst/>
          </a:prstGeom>
          <a:noFill/>
        </p:spPr>
        <p:txBody>
          <a:bodyPr wrap="square" lIns="0" tIns="0" rIns="0" bIns="0" rtlCol="0" anchor="t"/>
          <a:lstStyle/>
          <a:p>
            <a:r>
              <a:rPr lang="en-US" sz="1600" dirty="0">
                <a:solidFill>
                  <a:schemeClr val="accent6"/>
                </a:solidFill>
              </a:rPr>
              <a:t>See how reliable the agents stay over time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48640" y="640080"/>
            <a:ext cx="11064240" cy="457200"/>
          </a:xfrm>
          <a:prstGeom prst="rect">
            <a:avLst/>
          </a:prstGeom>
          <a:noFill/>
        </p:spPr>
        <p:txBody>
          <a:bodyPr wrap="square" lIns="0" tIns="0" rIns="0" bIns="0" rtlCol="0" anchor="ctr">
            <a:normAutofit/>
          </a:bodyPr>
          <a:lstStyle/>
          <a:p>
            <a:pPr marL="0" indent="0">
              <a:buNone/>
            </a:pPr>
            <a:r>
              <a:rPr lang="en-US" sz="2600" b="1" dirty="0">
                <a:solidFill>
                  <a:srgbClr val="0F2742"/>
                </a:solidFill>
              </a:rPr>
              <a:t>Our solution in four steps</a:t>
            </a:r>
            <a:endParaRPr lang="en-US" sz="2600" dirty="0"/>
          </a:p>
        </p:txBody>
      </p:sp>
      <p:sp>
        <p:nvSpPr>
          <p:cNvPr id="3" name="Text 1"/>
          <p:cNvSpPr/>
          <p:nvPr/>
        </p:nvSpPr>
        <p:spPr>
          <a:xfrm>
            <a:off x="548640" y="1143000"/>
            <a:ext cx="10972800" cy="310896"/>
          </a:xfrm>
          <a:prstGeom prst="rect">
            <a:avLst/>
          </a:prstGeom>
          <a:noFill/>
        </p:spPr>
        <p:txBody>
          <a:bodyPr wrap="square" lIns="0" tIns="0" rIns="0" bIns="0" rtlCol="0" anchor="ctr">
            <a:normAutofit/>
          </a:bodyPr>
          <a:lstStyle/>
          <a:p>
            <a:pPr marL="0" indent="0">
              <a:buNone/>
            </a:pPr>
            <a:r>
              <a:rPr lang="en-US" sz="1250" dirty="0">
                <a:solidFill>
                  <a:srgbClr val="5B677A"/>
                </a:solidFill>
              </a:rPr>
              <a:t>Test it, record it, control the release, and keep watching.</a:t>
            </a:r>
            <a:endParaRPr lang="en-US" sz="1250" dirty="0"/>
          </a:p>
        </p:txBody>
      </p:sp>
      <p:sp>
        <p:nvSpPr>
          <p:cNvPr id="4" name="Shape 2"/>
          <p:cNvSpPr/>
          <p:nvPr/>
        </p:nvSpPr>
        <p:spPr>
          <a:xfrm>
            <a:off x="731520" y="1645920"/>
            <a:ext cx="2514600" cy="2423160"/>
          </a:xfrm>
          <a:prstGeom prst="roundRect">
            <a:avLst>
              <a:gd name="adj" fmla="val 3019"/>
            </a:avLst>
          </a:prstGeom>
          <a:solidFill>
            <a:srgbClr val="FFFFFF"/>
          </a:solidFill>
          <a:ln w="12700">
            <a:solidFill>
              <a:srgbClr val="D8E1EA"/>
            </a:solidFill>
            <a:prstDash val="solid"/>
          </a:ln>
        </p:spPr>
        <p:txBody>
          <a:bodyPr/>
          <a:lstStyle/>
          <a:p>
            <a:endParaRPr lang="en-US"/>
          </a:p>
        </p:txBody>
      </p:sp>
      <p:sp>
        <p:nvSpPr>
          <p:cNvPr id="5" name="Shape 3"/>
          <p:cNvSpPr/>
          <p:nvPr/>
        </p:nvSpPr>
        <p:spPr>
          <a:xfrm>
            <a:off x="731520" y="1645920"/>
            <a:ext cx="73152" cy="2423160"/>
          </a:xfrm>
          <a:prstGeom prst="rect">
            <a:avLst/>
          </a:prstGeom>
          <a:solidFill>
            <a:srgbClr val="01A982"/>
          </a:solidFill>
          <a:ln w="12700">
            <a:solidFill>
              <a:srgbClr val="01A982"/>
            </a:solidFill>
            <a:prstDash val="solid"/>
          </a:ln>
        </p:spPr>
        <p:txBody>
          <a:bodyPr/>
          <a:lstStyle/>
          <a:p>
            <a:endParaRPr lang="en-US"/>
          </a:p>
        </p:txBody>
      </p:sp>
      <p:sp>
        <p:nvSpPr>
          <p:cNvPr id="6" name="Text 4"/>
          <p:cNvSpPr/>
          <p:nvPr/>
        </p:nvSpPr>
        <p:spPr>
          <a:xfrm>
            <a:off x="960120" y="1810512"/>
            <a:ext cx="210312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1  Test</a:t>
            </a:r>
            <a:endParaRPr lang="en-US" sz="1500" dirty="0"/>
          </a:p>
        </p:txBody>
      </p:sp>
      <p:sp>
        <p:nvSpPr>
          <p:cNvPr id="7" name="Text 5"/>
          <p:cNvSpPr/>
          <p:nvPr/>
        </p:nvSpPr>
        <p:spPr>
          <a:xfrm>
            <a:off x="960120" y="2249424"/>
            <a:ext cx="2103120" cy="1673352"/>
          </a:xfrm>
          <a:prstGeom prst="rect">
            <a:avLst/>
          </a:prstGeom>
          <a:noFill/>
        </p:spPr>
        <p:txBody>
          <a:bodyPr wrap="square" lIns="254" tIns="254" rIns="254" bIns="254" rtlCol="0" anchor="t">
            <a:normAutofit/>
          </a:bodyPr>
          <a:lstStyle/>
          <a:p>
            <a:pPr marL="0" indent="0">
              <a:buNone/>
            </a:pPr>
            <a:r>
              <a:rPr lang="en-US" sz="1150" dirty="0">
                <a:solidFill>
                  <a:srgbClr val="5B677A"/>
                </a:solidFill>
              </a:rPr>
              <a:t>Continuous regression: test every change and add failures as new tests.</a:t>
            </a:r>
            <a:endParaRPr lang="en-US" sz="1150" dirty="0"/>
          </a:p>
        </p:txBody>
      </p:sp>
      <p:sp>
        <p:nvSpPr>
          <p:cNvPr id="8" name="Shape 6"/>
          <p:cNvSpPr/>
          <p:nvPr/>
        </p:nvSpPr>
        <p:spPr>
          <a:xfrm>
            <a:off x="3520440" y="1645920"/>
            <a:ext cx="2514600" cy="2423160"/>
          </a:xfrm>
          <a:prstGeom prst="roundRect">
            <a:avLst>
              <a:gd name="adj" fmla="val 3019"/>
            </a:avLst>
          </a:prstGeom>
          <a:solidFill>
            <a:srgbClr val="FFFFFF"/>
          </a:solidFill>
          <a:ln w="12700">
            <a:solidFill>
              <a:srgbClr val="D8E1EA"/>
            </a:solidFill>
            <a:prstDash val="solid"/>
          </a:ln>
        </p:spPr>
        <p:txBody>
          <a:bodyPr/>
          <a:lstStyle/>
          <a:p>
            <a:endParaRPr lang="en-US"/>
          </a:p>
        </p:txBody>
      </p:sp>
      <p:sp>
        <p:nvSpPr>
          <p:cNvPr id="9" name="Shape 7"/>
          <p:cNvSpPr/>
          <p:nvPr/>
        </p:nvSpPr>
        <p:spPr>
          <a:xfrm>
            <a:off x="3520440" y="1645920"/>
            <a:ext cx="73152" cy="2423160"/>
          </a:xfrm>
          <a:prstGeom prst="rect">
            <a:avLst/>
          </a:prstGeom>
          <a:solidFill>
            <a:srgbClr val="2563EB"/>
          </a:solidFill>
          <a:ln w="12700">
            <a:solidFill>
              <a:srgbClr val="2563EB"/>
            </a:solidFill>
            <a:prstDash val="solid"/>
          </a:ln>
        </p:spPr>
        <p:txBody>
          <a:bodyPr/>
          <a:lstStyle/>
          <a:p>
            <a:endParaRPr lang="en-US"/>
          </a:p>
        </p:txBody>
      </p:sp>
      <p:sp>
        <p:nvSpPr>
          <p:cNvPr id="10" name="Text 8"/>
          <p:cNvSpPr/>
          <p:nvPr/>
        </p:nvSpPr>
        <p:spPr>
          <a:xfrm>
            <a:off x="3749040" y="1810512"/>
            <a:ext cx="210312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2  Record</a:t>
            </a:r>
            <a:endParaRPr lang="en-US" sz="1500" dirty="0"/>
          </a:p>
        </p:txBody>
      </p:sp>
      <p:sp>
        <p:nvSpPr>
          <p:cNvPr id="11" name="Text 9"/>
          <p:cNvSpPr/>
          <p:nvPr/>
        </p:nvSpPr>
        <p:spPr>
          <a:xfrm>
            <a:off x="3749040" y="2249424"/>
            <a:ext cx="2103120" cy="1673352"/>
          </a:xfrm>
          <a:prstGeom prst="rect">
            <a:avLst/>
          </a:prstGeom>
          <a:noFill/>
        </p:spPr>
        <p:txBody>
          <a:bodyPr wrap="square" lIns="254" tIns="254" rIns="254" bIns="254" rtlCol="0" anchor="t">
            <a:normAutofit/>
          </a:bodyPr>
          <a:lstStyle/>
          <a:p>
            <a:pPr marL="0" indent="0">
              <a:buNone/>
            </a:pPr>
            <a:r>
              <a:rPr lang="en-US" sz="1150" dirty="0">
                <a:solidFill>
                  <a:srgbClr val="5B677A"/>
                </a:solidFill>
              </a:rPr>
              <a:t>Save model calls, tool calls, errors, speed and cost.</a:t>
            </a:r>
            <a:endParaRPr lang="en-US" sz="1150" dirty="0"/>
          </a:p>
        </p:txBody>
      </p:sp>
      <p:sp>
        <p:nvSpPr>
          <p:cNvPr id="12" name="Shape 10"/>
          <p:cNvSpPr/>
          <p:nvPr/>
        </p:nvSpPr>
        <p:spPr>
          <a:xfrm>
            <a:off x="6309360" y="1645920"/>
            <a:ext cx="2514600" cy="2423160"/>
          </a:xfrm>
          <a:prstGeom prst="roundRect">
            <a:avLst>
              <a:gd name="adj" fmla="val 3019"/>
            </a:avLst>
          </a:prstGeom>
          <a:solidFill>
            <a:srgbClr val="FFFFFF"/>
          </a:solidFill>
          <a:ln w="12700">
            <a:solidFill>
              <a:srgbClr val="D8E1EA"/>
            </a:solidFill>
            <a:prstDash val="solid"/>
          </a:ln>
        </p:spPr>
        <p:txBody>
          <a:bodyPr/>
          <a:lstStyle/>
          <a:p>
            <a:endParaRPr lang="en-US"/>
          </a:p>
        </p:txBody>
      </p:sp>
      <p:sp>
        <p:nvSpPr>
          <p:cNvPr id="13" name="Shape 11"/>
          <p:cNvSpPr/>
          <p:nvPr/>
        </p:nvSpPr>
        <p:spPr>
          <a:xfrm>
            <a:off x="6309360" y="1645920"/>
            <a:ext cx="73152" cy="2423160"/>
          </a:xfrm>
          <a:prstGeom prst="rect">
            <a:avLst/>
          </a:prstGeom>
          <a:solidFill>
            <a:srgbClr val="EA580C"/>
          </a:solidFill>
          <a:ln w="12700">
            <a:solidFill>
              <a:srgbClr val="EA580C"/>
            </a:solidFill>
            <a:prstDash val="solid"/>
          </a:ln>
        </p:spPr>
        <p:txBody>
          <a:bodyPr/>
          <a:lstStyle/>
          <a:p>
            <a:endParaRPr lang="en-US"/>
          </a:p>
        </p:txBody>
      </p:sp>
      <p:sp>
        <p:nvSpPr>
          <p:cNvPr id="14" name="Text 12"/>
          <p:cNvSpPr/>
          <p:nvPr/>
        </p:nvSpPr>
        <p:spPr>
          <a:xfrm>
            <a:off x="6537960" y="1810512"/>
            <a:ext cx="210312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3  Control</a:t>
            </a:r>
            <a:endParaRPr lang="en-US" sz="1500" dirty="0"/>
          </a:p>
        </p:txBody>
      </p:sp>
      <p:sp>
        <p:nvSpPr>
          <p:cNvPr id="15" name="Text 13"/>
          <p:cNvSpPr/>
          <p:nvPr/>
        </p:nvSpPr>
        <p:spPr>
          <a:xfrm>
            <a:off x="6537960" y="2249424"/>
            <a:ext cx="2103120" cy="1673352"/>
          </a:xfrm>
          <a:prstGeom prst="rect">
            <a:avLst/>
          </a:prstGeom>
          <a:noFill/>
        </p:spPr>
        <p:txBody>
          <a:bodyPr wrap="square" lIns="254" tIns="254" rIns="254" bIns="254" rtlCol="0" anchor="t">
            <a:normAutofit/>
          </a:bodyPr>
          <a:lstStyle/>
          <a:p>
            <a:pPr marL="0" indent="0">
              <a:buNone/>
            </a:pPr>
            <a:r>
              <a:rPr lang="en-US" sz="1150" dirty="0">
                <a:solidFill>
                  <a:srgbClr val="5B677A"/>
                </a:solidFill>
              </a:rPr>
              <a:t>Use quality gates and a small canary release.</a:t>
            </a:r>
            <a:endParaRPr lang="en-US" sz="1150" dirty="0"/>
          </a:p>
        </p:txBody>
      </p:sp>
      <p:sp>
        <p:nvSpPr>
          <p:cNvPr id="16" name="Shape 14"/>
          <p:cNvSpPr/>
          <p:nvPr/>
        </p:nvSpPr>
        <p:spPr>
          <a:xfrm>
            <a:off x="9098280" y="1645920"/>
            <a:ext cx="2514600" cy="2423160"/>
          </a:xfrm>
          <a:prstGeom prst="roundRect">
            <a:avLst>
              <a:gd name="adj" fmla="val 3019"/>
            </a:avLst>
          </a:prstGeom>
          <a:solidFill>
            <a:srgbClr val="FFFFFF"/>
          </a:solidFill>
          <a:ln w="12700">
            <a:solidFill>
              <a:srgbClr val="D8E1EA"/>
            </a:solidFill>
            <a:prstDash val="solid"/>
          </a:ln>
        </p:spPr>
        <p:txBody>
          <a:bodyPr/>
          <a:lstStyle/>
          <a:p>
            <a:endParaRPr lang="en-US"/>
          </a:p>
        </p:txBody>
      </p:sp>
      <p:sp>
        <p:nvSpPr>
          <p:cNvPr id="17" name="Shape 15"/>
          <p:cNvSpPr/>
          <p:nvPr/>
        </p:nvSpPr>
        <p:spPr>
          <a:xfrm>
            <a:off x="9098280" y="1645920"/>
            <a:ext cx="73152" cy="2423160"/>
          </a:xfrm>
          <a:prstGeom prst="rect">
            <a:avLst/>
          </a:prstGeom>
          <a:solidFill>
            <a:srgbClr val="DC2626"/>
          </a:solidFill>
          <a:ln w="12700">
            <a:solidFill>
              <a:srgbClr val="DC2626"/>
            </a:solidFill>
            <a:prstDash val="solid"/>
          </a:ln>
        </p:spPr>
        <p:txBody>
          <a:bodyPr/>
          <a:lstStyle/>
          <a:p>
            <a:endParaRPr lang="en-US"/>
          </a:p>
        </p:txBody>
      </p:sp>
      <p:sp>
        <p:nvSpPr>
          <p:cNvPr id="18" name="Text 16"/>
          <p:cNvSpPr/>
          <p:nvPr/>
        </p:nvSpPr>
        <p:spPr>
          <a:xfrm>
            <a:off x="9326880" y="1810512"/>
            <a:ext cx="210312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4  Watch</a:t>
            </a:r>
            <a:endParaRPr lang="en-US" sz="1500" dirty="0"/>
          </a:p>
        </p:txBody>
      </p:sp>
      <p:sp>
        <p:nvSpPr>
          <p:cNvPr id="19" name="Text 17"/>
          <p:cNvSpPr/>
          <p:nvPr/>
        </p:nvSpPr>
        <p:spPr>
          <a:xfrm>
            <a:off x="9326880" y="2249424"/>
            <a:ext cx="2103120" cy="1673352"/>
          </a:xfrm>
          <a:prstGeom prst="rect">
            <a:avLst/>
          </a:prstGeom>
          <a:noFill/>
        </p:spPr>
        <p:txBody>
          <a:bodyPr wrap="square" lIns="254" tIns="254" rIns="254" bIns="254" rtlCol="0" anchor="t">
            <a:normAutofit/>
          </a:bodyPr>
          <a:lstStyle/>
          <a:p>
            <a:pPr marL="0" indent="0">
              <a:buNone/>
            </a:pPr>
            <a:r>
              <a:rPr lang="en-US" sz="1150" dirty="0">
                <a:solidFill>
                  <a:srgbClr val="5B677A"/>
                </a:solidFill>
              </a:rPr>
              <a:t>Track live quality; alert, stop or roll back when needed.</a:t>
            </a:r>
            <a:endParaRPr lang="en-US" sz="1150" dirty="0"/>
          </a:p>
        </p:txBody>
      </p:sp>
      <p:sp>
        <p:nvSpPr>
          <p:cNvPr id="20" name="Shape 18"/>
          <p:cNvSpPr/>
          <p:nvPr/>
        </p:nvSpPr>
        <p:spPr>
          <a:xfrm>
            <a:off x="1554480" y="4617720"/>
            <a:ext cx="9098280" cy="713232"/>
          </a:xfrm>
          <a:prstGeom prst="roundRect">
            <a:avLst/>
          </a:prstGeom>
          <a:solidFill>
            <a:srgbClr val="E8F5F1"/>
          </a:solidFill>
          <a:ln w="19050">
            <a:solidFill>
              <a:srgbClr val="01A982"/>
            </a:solidFill>
            <a:prstDash val="solid"/>
          </a:ln>
        </p:spPr>
        <p:txBody>
          <a:bodyPr/>
          <a:lstStyle/>
          <a:p>
            <a:endParaRPr lang="en-US"/>
          </a:p>
        </p:txBody>
      </p:sp>
      <p:sp>
        <p:nvSpPr>
          <p:cNvPr id="21" name="Text 19"/>
          <p:cNvSpPr/>
          <p:nvPr/>
        </p:nvSpPr>
        <p:spPr>
          <a:xfrm>
            <a:off x="1828800" y="4828032"/>
            <a:ext cx="8549640" cy="274320"/>
          </a:xfrm>
          <a:prstGeom prst="rect">
            <a:avLst/>
          </a:prstGeom>
          <a:noFill/>
        </p:spPr>
        <p:txBody>
          <a:bodyPr wrap="square" lIns="0" tIns="0" rIns="0" bIns="0" rtlCol="0" anchor="ctr">
            <a:normAutofit fontScale="85000" lnSpcReduction="10000"/>
          </a:bodyPr>
          <a:lstStyle/>
          <a:p>
            <a:pPr algn="ctr"/>
            <a:r>
              <a:rPr lang="en-US" sz="1600" b="1" dirty="0">
                <a:solidFill>
                  <a:srgbClr val="0F766E"/>
                </a:solidFill>
                <a:latin typeface="Calibri" panose="020F0502020204030204" pitchFamily="34" charset="0"/>
                <a:ea typeface="Calibri" panose="020F0502020204030204" pitchFamily="34" charset="0"/>
                <a:cs typeface="Calibri" panose="020F0502020204030204" pitchFamily="34" charset="0"/>
              </a:rPr>
              <a:t>CORE IDEA  |  Every failure becomes a new test, strengthening agent quality through continuous regression testing</a:t>
            </a:r>
            <a:r>
              <a:rPr lang="en-US" sz="1600" b="1" dirty="0">
                <a:solidFill>
                  <a:srgbClr val="0F766E"/>
                </a:solidFill>
              </a:rPr>
              <a:t>.</a:t>
            </a:r>
            <a:endParaRPr lang="en-US" sz="1600" dirty="0"/>
          </a:p>
        </p:txBody>
      </p:sp>
      <p:sp>
        <p:nvSpPr>
          <p:cNvPr id="25" name="Slide Number Placeholder 0"/>
          <p:cNvSpPr>
            <a:spLocks noGrp="1"/>
          </p:cNvSpPr>
          <p:nvPr>
            <p:ph type="sldNum" sz="quarter" idx="4294967295"/>
          </p:nvPr>
        </p:nvSpPr>
        <p:spPr>
          <a:xfrm>
            <a:off x="11384280" y="6556248"/>
            <a:ext cx="274320" cy="182880"/>
          </a:xfrm>
          <a:prstGeom prst="rect">
            <a:avLst/>
          </a:prstGeom>
        </p:spPr>
        <p:txBody>
          <a:bodyPr>
            <a:normAutofit fontScale="77500" lnSpcReduction="20000"/>
          </a:bodyPr>
          <a:lstStyle>
            <a:lvl1pPr>
              <a:defRPr sz="900">
                <a:solidFill>
                  <a:srgbClr val="64748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82296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28600"/>
            <a:ext cx="13716000" cy="502920"/>
          </a:xfrm>
          <a:prstGeom prst="rect">
            <a:avLst/>
          </a:prstGeom>
          <a:noFill/>
        </p:spPr>
        <p:txBody>
          <a:bodyPr wrap="square" lIns="73152" tIns="36576" rIns="54864" bIns="0">
            <a:spAutoFit/>
          </a:bodyPr>
          <a:lstStyle/>
          <a:p>
            <a:pPr>
              <a:spcAft>
                <a:spcPts val="500"/>
              </a:spcAft>
              <a:defRPr sz="2800" b="1">
                <a:solidFill>
                  <a:srgbClr val="122448"/>
                </a:solidFill>
              </a:defRPr>
            </a:pPr>
            <a:r>
              <a:t>AgenticOps — End-to-End Reference Architecture</a:t>
            </a:r>
          </a:p>
        </p:txBody>
      </p:sp>
      <p:sp>
        <p:nvSpPr>
          <p:cNvPr id="4" name="TextBox 3"/>
          <p:cNvSpPr txBox="1"/>
          <p:nvPr/>
        </p:nvSpPr>
        <p:spPr>
          <a:xfrm>
            <a:off x="548640" y="768096"/>
            <a:ext cx="13716000" cy="320040"/>
          </a:xfrm>
          <a:prstGeom prst="rect">
            <a:avLst/>
          </a:prstGeom>
          <a:noFill/>
        </p:spPr>
        <p:txBody>
          <a:bodyPr wrap="square" lIns="73152" tIns="36576" rIns="54864" bIns="0">
            <a:spAutoFit/>
          </a:bodyPr>
          <a:lstStyle/>
          <a:p>
            <a:pPr>
              <a:spcAft>
                <a:spcPts val="500"/>
              </a:spcAft>
              <a:defRPr sz="1300" b="0">
                <a:solidFill>
                  <a:srgbClr val="4C637B"/>
                </a:solidFill>
              </a:defRPr>
            </a:pPr>
            <a:r>
              <a:t>Evaluation-driven development • Tracing • Release gates • Canary monitoring • Feedback</a:t>
            </a:r>
          </a:p>
        </p:txBody>
      </p:sp>
      <p:sp>
        <p:nvSpPr>
          <p:cNvPr id="5" name="Rounded Rectangle 4"/>
          <p:cNvSpPr/>
          <p:nvPr/>
        </p:nvSpPr>
        <p:spPr>
          <a:xfrm>
            <a:off x="457200" y="1188720"/>
            <a:ext cx="9144000" cy="502920"/>
          </a:xfrm>
          <a:prstGeom prst="roundRect">
            <a:avLst/>
          </a:prstGeom>
          <a:solidFill>
            <a:srgbClr val="DFEBFA"/>
          </a:solidFill>
          <a:ln>
            <a:solidFill>
              <a:srgbClr val="DFE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252728"/>
            <a:ext cx="8686800" cy="310896"/>
          </a:xfrm>
          <a:prstGeom prst="rect">
            <a:avLst/>
          </a:prstGeom>
          <a:noFill/>
        </p:spPr>
        <p:txBody>
          <a:bodyPr wrap="square" lIns="73152" tIns="36576" rIns="54864" bIns="0">
            <a:spAutoFit/>
          </a:bodyPr>
          <a:lstStyle/>
          <a:p>
            <a:pPr>
              <a:spcAft>
                <a:spcPts val="500"/>
              </a:spcAft>
              <a:defRPr sz="1500" b="1">
                <a:solidFill>
                  <a:srgbClr val="122448"/>
                </a:solidFill>
              </a:defRPr>
            </a:pPr>
            <a:r>
              <a:t>BEFORE RELEASE  |  Development, testing and release decision</a:t>
            </a:r>
          </a:p>
        </p:txBody>
      </p:sp>
      <p:sp>
        <p:nvSpPr>
          <p:cNvPr id="7" name="Rounded Rectangle 6"/>
          <p:cNvSpPr/>
          <p:nvPr/>
        </p:nvSpPr>
        <p:spPr>
          <a:xfrm>
            <a:off x="9784080" y="1188720"/>
            <a:ext cx="4389120" cy="502920"/>
          </a:xfrm>
          <a:prstGeom prst="roundRect">
            <a:avLst/>
          </a:prstGeom>
          <a:solidFill>
            <a:srgbClr val="DCF5EB"/>
          </a:solidFill>
          <a:ln>
            <a:solidFill>
              <a:srgbClr val="DCF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1252728"/>
            <a:ext cx="4114800" cy="310896"/>
          </a:xfrm>
          <a:prstGeom prst="rect">
            <a:avLst/>
          </a:prstGeom>
          <a:noFill/>
        </p:spPr>
        <p:txBody>
          <a:bodyPr wrap="square" lIns="73152" tIns="36576" rIns="54864" bIns="0">
            <a:spAutoFit/>
          </a:bodyPr>
          <a:lstStyle/>
          <a:p>
            <a:pPr>
              <a:spcAft>
                <a:spcPts val="500"/>
              </a:spcAft>
              <a:defRPr sz="1500" b="1">
                <a:solidFill>
                  <a:srgbClr val="122448"/>
                </a:solidFill>
              </a:defRPr>
            </a:pPr>
            <a:r>
              <a:t>AFTER RELEASE  |  Production</a:t>
            </a:r>
          </a:p>
        </p:txBody>
      </p:sp>
      <p:sp>
        <p:nvSpPr>
          <p:cNvPr id="9" name="Rounded Rectangle 8"/>
          <p:cNvSpPr/>
          <p:nvPr/>
        </p:nvSpPr>
        <p:spPr>
          <a:xfrm>
            <a:off x="502920" y="1938528"/>
            <a:ext cx="2084831" cy="2148840"/>
          </a:xfrm>
          <a:prstGeom prst="roundRect">
            <a:avLst/>
          </a:prstGeom>
          <a:solidFill>
            <a:srgbClr val="E8F4FF"/>
          </a:solidFill>
          <a:ln>
            <a:solidFill>
              <a:srgbClr val="3083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 y="2066543"/>
            <a:ext cx="1865376" cy="502920"/>
          </a:xfrm>
          <a:prstGeom prst="rect">
            <a:avLst/>
          </a:prstGeom>
          <a:noFill/>
        </p:spPr>
        <p:txBody>
          <a:bodyPr wrap="square" lIns="73152" tIns="36576" rIns="54864" bIns="0">
            <a:spAutoFit/>
          </a:bodyPr>
          <a:lstStyle/>
          <a:p>
            <a:pPr>
              <a:spcAft>
                <a:spcPts val="500"/>
              </a:spcAft>
              <a:defRPr sz="1600" b="1">
                <a:solidFill>
                  <a:srgbClr val="122448"/>
                </a:solidFill>
              </a:defRPr>
            </a:pPr>
            <a:r>
              <a:t>1  Agent execution</a:t>
            </a:r>
          </a:p>
        </p:txBody>
      </p:sp>
      <p:sp>
        <p:nvSpPr>
          <p:cNvPr id="11" name="TextBox 10"/>
          <p:cNvSpPr txBox="1"/>
          <p:nvPr/>
        </p:nvSpPr>
        <p:spPr>
          <a:xfrm>
            <a:off x="612648" y="2679192"/>
            <a:ext cx="1865376" cy="1298448"/>
          </a:xfrm>
          <a:prstGeom prst="rect">
            <a:avLst/>
          </a:prstGeom>
          <a:noFill/>
        </p:spPr>
        <p:txBody>
          <a:bodyPr wrap="square" lIns="73152" tIns="36576" rIns="54864" bIns="0">
            <a:spAutoFit/>
          </a:bodyPr>
          <a:lstStyle/>
          <a:p>
            <a:pPr>
              <a:spcAft>
                <a:spcPts val="500"/>
              </a:spcAft>
              <a:defRPr sz="1200" b="0">
                <a:solidFill>
                  <a:srgbClr val="122448"/>
                </a:solidFill>
              </a:defRPr>
            </a:pPr>
            <a:r>
              <a:t>LangGraph workflows</a:t>
            </a:r>
          </a:p>
          <a:p>
            <a:pPr>
              <a:spcAft>
                <a:spcPts val="500"/>
              </a:spcAft>
              <a:defRPr sz="1200" b="0">
                <a:solidFill>
                  <a:srgbClr val="122448"/>
                </a:solidFill>
              </a:defRPr>
            </a:pPr>
            <a:r>
              <a:t>Runtime input/tool/output guardrails</a:t>
            </a:r>
          </a:p>
        </p:txBody>
      </p:sp>
      <p:cxnSp>
        <p:nvCxnSpPr>
          <p:cNvPr id="12" name="Connector 11"/>
          <p:cNvCxnSpPr/>
          <p:nvPr/>
        </p:nvCxnSpPr>
        <p:spPr>
          <a:xfrm>
            <a:off x="2587752" y="2990088"/>
            <a:ext cx="164592" cy="0"/>
          </a:xfrm>
          <a:prstGeom prst="line">
            <a:avLst/>
          </a:prstGeom>
          <a:ln w="31750">
            <a:solidFill>
              <a:srgbClr val="1D876E"/>
            </a:solidFill>
            <a:head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16352" y="1938528"/>
            <a:ext cx="2084831" cy="2148840"/>
          </a:xfrm>
          <a:prstGeom prst="roundRect">
            <a:avLst/>
          </a:prstGeom>
          <a:solidFill>
            <a:srgbClr val="EFEAFF"/>
          </a:solidFill>
          <a:ln>
            <a:solidFill>
              <a:srgbClr val="7055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0" y="2066543"/>
            <a:ext cx="1865376" cy="502920"/>
          </a:xfrm>
          <a:prstGeom prst="rect">
            <a:avLst/>
          </a:prstGeom>
          <a:noFill/>
        </p:spPr>
        <p:txBody>
          <a:bodyPr wrap="square" lIns="73152" tIns="36576" rIns="54864" bIns="0">
            <a:spAutoFit/>
          </a:bodyPr>
          <a:lstStyle/>
          <a:p>
            <a:pPr>
              <a:spcAft>
                <a:spcPts val="500"/>
              </a:spcAft>
              <a:defRPr sz="1600" b="1">
                <a:solidFill>
                  <a:srgbClr val="122448"/>
                </a:solidFill>
              </a:defRPr>
            </a:pPr>
            <a:r>
              <a:t>2  Trace</a:t>
            </a:r>
          </a:p>
        </p:txBody>
      </p:sp>
      <p:sp>
        <p:nvSpPr>
          <p:cNvPr id="15" name="TextBox 14"/>
          <p:cNvSpPr txBox="1"/>
          <p:nvPr/>
        </p:nvSpPr>
        <p:spPr>
          <a:xfrm>
            <a:off x="2926080" y="2679192"/>
            <a:ext cx="1865376" cy="1298448"/>
          </a:xfrm>
          <a:prstGeom prst="rect">
            <a:avLst/>
          </a:prstGeom>
          <a:noFill/>
        </p:spPr>
        <p:txBody>
          <a:bodyPr wrap="square" lIns="73152" tIns="36576" rIns="54864" bIns="0">
            <a:spAutoFit/>
          </a:bodyPr>
          <a:lstStyle/>
          <a:p>
            <a:pPr>
              <a:spcAft>
                <a:spcPts val="500"/>
              </a:spcAft>
              <a:defRPr sz="1200" b="0">
                <a:solidFill>
                  <a:srgbClr val="122448"/>
                </a:solidFill>
              </a:defRPr>
            </a:pPr>
            <a:r>
              <a:t>OpenTelemetry spans</a:t>
            </a:r>
          </a:p>
          <a:p>
            <a:pPr>
              <a:spcAft>
                <a:spcPts val="500"/>
              </a:spcAft>
              <a:defRPr sz="1200" b="0">
                <a:solidFill>
                  <a:srgbClr val="122448"/>
                </a:solidFill>
              </a:defRPr>
            </a:pPr>
            <a:r>
              <a:t>Langfuse vs Phoenix</a:t>
            </a:r>
          </a:p>
          <a:p>
            <a:pPr>
              <a:spcAft>
                <a:spcPts val="500"/>
              </a:spcAft>
              <a:defRPr sz="1200" b="0">
                <a:solidFill>
                  <a:srgbClr val="122448"/>
                </a:solidFill>
              </a:defRPr>
            </a:pPr>
            <a:r>
              <a:t>Calls, errors, latency, cost</a:t>
            </a:r>
          </a:p>
        </p:txBody>
      </p:sp>
      <p:cxnSp>
        <p:nvCxnSpPr>
          <p:cNvPr id="16" name="Connector 15"/>
          <p:cNvCxnSpPr/>
          <p:nvPr/>
        </p:nvCxnSpPr>
        <p:spPr>
          <a:xfrm>
            <a:off x="4901183" y="2990088"/>
            <a:ext cx="164593" cy="0"/>
          </a:xfrm>
          <a:prstGeom prst="line">
            <a:avLst/>
          </a:prstGeom>
          <a:ln w="31750">
            <a:solidFill>
              <a:srgbClr val="1D876E"/>
            </a:solidFill>
            <a:head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29784" y="1938528"/>
            <a:ext cx="2084831" cy="2148840"/>
          </a:xfrm>
          <a:prstGeom prst="roundRect">
            <a:avLst/>
          </a:prstGeom>
          <a:solidFill>
            <a:srgbClr val="FFEEE5"/>
          </a:solidFill>
          <a:ln>
            <a:solidFill>
              <a:srgbClr val="DC6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39512" y="2066543"/>
            <a:ext cx="1865376" cy="502920"/>
          </a:xfrm>
          <a:prstGeom prst="rect">
            <a:avLst/>
          </a:prstGeom>
          <a:noFill/>
        </p:spPr>
        <p:txBody>
          <a:bodyPr wrap="square" lIns="73152" tIns="36576" rIns="54864" bIns="0">
            <a:spAutoFit/>
          </a:bodyPr>
          <a:lstStyle/>
          <a:p>
            <a:pPr>
              <a:spcAft>
                <a:spcPts val="500"/>
              </a:spcAft>
              <a:defRPr sz="1600" b="1">
                <a:solidFill>
                  <a:srgbClr val="122448"/>
                </a:solidFill>
              </a:defRPr>
            </a:pPr>
            <a:r>
              <a:t>3  Evaluate</a:t>
            </a:r>
          </a:p>
        </p:txBody>
      </p:sp>
      <p:sp>
        <p:nvSpPr>
          <p:cNvPr id="19" name="TextBox 18"/>
          <p:cNvSpPr txBox="1"/>
          <p:nvPr/>
        </p:nvSpPr>
        <p:spPr>
          <a:xfrm>
            <a:off x="5239512" y="2679192"/>
            <a:ext cx="1865376" cy="1298448"/>
          </a:xfrm>
          <a:prstGeom prst="rect">
            <a:avLst/>
          </a:prstGeom>
          <a:noFill/>
        </p:spPr>
        <p:txBody>
          <a:bodyPr wrap="square" lIns="73152" tIns="36576" rIns="54864" bIns="0">
            <a:spAutoFit/>
          </a:bodyPr>
          <a:lstStyle/>
          <a:p>
            <a:pPr>
              <a:spcAft>
                <a:spcPts val="500"/>
              </a:spcAft>
              <a:defRPr sz="1200" b="0">
                <a:solidFill>
                  <a:srgbClr val="122448"/>
                </a:solidFill>
              </a:defRPr>
            </a:pPr>
            <a:r>
              <a:t>Regression suite</a:t>
            </a:r>
          </a:p>
          <a:p>
            <a:pPr>
              <a:spcAft>
                <a:spcPts val="500"/>
              </a:spcAft>
              <a:defRPr sz="1200" b="0">
                <a:solidFill>
                  <a:srgbClr val="122448"/>
                </a:solidFill>
              </a:defRPr>
            </a:pPr>
            <a:r>
              <a:t>Answer quality, safety</a:t>
            </a:r>
          </a:p>
          <a:p>
            <a:pPr>
              <a:spcAft>
                <a:spcPts val="500"/>
              </a:spcAft>
              <a:defRPr sz="1200" b="0">
                <a:solidFill>
                  <a:srgbClr val="122448"/>
                </a:solidFill>
              </a:defRPr>
            </a:pPr>
            <a:r>
              <a:t>Tool correctness, cost</a:t>
            </a:r>
          </a:p>
        </p:txBody>
      </p:sp>
      <p:cxnSp>
        <p:nvCxnSpPr>
          <p:cNvPr id="20" name="Connector 19"/>
          <p:cNvCxnSpPr/>
          <p:nvPr/>
        </p:nvCxnSpPr>
        <p:spPr>
          <a:xfrm>
            <a:off x="7214616" y="2990088"/>
            <a:ext cx="164592" cy="0"/>
          </a:xfrm>
          <a:prstGeom prst="line">
            <a:avLst/>
          </a:prstGeom>
          <a:ln w="31750">
            <a:solidFill>
              <a:srgbClr val="1D876E"/>
            </a:solidFill>
            <a:head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43216" y="1938528"/>
            <a:ext cx="2084831" cy="2148840"/>
          </a:xfrm>
          <a:prstGeom prst="roundRect">
            <a:avLst/>
          </a:prstGeom>
          <a:solidFill>
            <a:srgbClr val="FFEBEE"/>
          </a:solidFill>
          <a:ln>
            <a:solidFill>
              <a:srgbClr val="CF45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52944" y="2066543"/>
            <a:ext cx="1865376" cy="502920"/>
          </a:xfrm>
          <a:prstGeom prst="rect">
            <a:avLst/>
          </a:prstGeom>
          <a:noFill/>
        </p:spPr>
        <p:txBody>
          <a:bodyPr wrap="square" lIns="73152" tIns="36576" rIns="54864" bIns="0">
            <a:spAutoFit/>
          </a:bodyPr>
          <a:lstStyle/>
          <a:p>
            <a:pPr>
              <a:spcAft>
                <a:spcPts val="500"/>
              </a:spcAft>
              <a:defRPr sz="1600" b="1">
                <a:solidFill>
                  <a:srgbClr val="122448"/>
                </a:solidFill>
              </a:defRPr>
            </a:pPr>
            <a:r>
              <a:t>4  Release gate</a:t>
            </a:r>
          </a:p>
        </p:txBody>
      </p:sp>
      <p:sp>
        <p:nvSpPr>
          <p:cNvPr id="23" name="TextBox 22"/>
          <p:cNvSpPr txBox="1"/>
          <p:nvPr/>
        </p:nvSpPr>
        <p:spPr>
          <a:xfrm>
            <a:off x="7552944" y="2679192"/>
            <a:ext cx="1865376" cy="1298448"/>
          </a:xfrm>
          <a:prstGeom prst="rect">
            <a:avLst/>
          </a:prstGeom>
          <a:noFill/>
        </p:spPr>
        <p:txBody>
          <a:bodyPr wrap="square" lIns="73152" tIns="36576" rIns="54864" bIns="0">
            <a:spAutoFit/>
          </a:bodyPr>
          <a:lstStyle/>
          <a:p>
            <a:pPr>
              <a:spcAft>
                <a:spcPts val="500"/>
              </a:spcAft>
              <a:defRPr sz="1200" b="0">
                <a:solidFill>
                  <a:srgbClr val="122448"/>
                </a:solidFill>
              </a:defRPr>
            </a:pPr>
            <a:r>
              <a:t>CI checks and thresholds</a:t>
            </a:r>
          </a:p>
          <a:p>
            <a:pPr>
              <a:spcAft>
                <a:spcPts val="500"/>
              </a:spcAft>
              <a:defRPr sz="1200" b="0">
                <a:solidFill>
                  <a:srgbClr val="122448"/>
                </a:solidFill>
              </a:defRPr>
            </a:pPr>
            <a:r>
              <a:t>Error-budget policy</a:t>
            </a:r>
          </a:p>
          <a:p>
            <a:pPr>
              <a:spcAft>
                <a:spcPts val="500"/>
              </a:spcAft>
              <a:defRPr sz="1200" b="0">
                <a:solidFill>
                  <a:srgbClr val="122448"/>
                </a:solidFill>
              </a:defRPr>
            </a:pPr>
            <a:r>
              <a:t>PASS or BLOCK</a:t>
            </a:r>
          </a:p>
        </p:txBody>
      </p:sp>
      <p:cxnSp>
        <p:nvCxnSpPr>
          <p:cNvPr id="24" name="Connector 23"/>
          <p:cNvCxnSpPr/>
          <p:nvPr/>
        </p:nvCxnSpPr>
        <p:spPr>
          <a:xfrm>
            <a:off x="9528048" y="2990088"/>
            <a:ext cx="329184" cy="0"/>
          </a:xfrm>
          <a:prstGeom prst="line">
            <a:avLst/>
          </a:prstGeom>
          <a:ln w="31750">
            <a:solidFill>
              <a:srgbClr val="1D876E"/>
            </a:solidFill>
            <a:head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921240" y="1938528"/>
            <a:ext cx="2084831" cy="2148840"/>
          </a:xfrm>
          <a:prstGeom prst="roundRect">
            <a:avLst/>
          </a:prstGeom>
          <a:solidFill>
            <a:srgbClr val="E7F9EA"/>
          </a:solidFill>
          <a:ln>
            <a:solidFill>
              <a:srgbClr val="2D96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30967" y="2066543"/>
            <a:ext cx="1865376" cy="502920"/>
          </a:xfrm>
          <a:prstGeom prst="rect">
            <a:avLst/>
          </a:prstGeom>
          <a:noFill/>
        </p:spPr>
        <p:txBody>
          <a:bodyPr wrap="square" lIns="73152" tIns="36576" rIns="54864" bIns="0">
            <a:spAutoFit/>
          </a:bodyPr>
          <a:lstStyle/>
          <a:p>
            <a:pPr>
              <a:spcAft>
                <a:spcPts val="500"/>
              </a:spcAft>
              <a:defRPr sz="1600" b="1">
                <a:solidFill>
                  <a:srgbClr val="122448"/>
                </a:solidFill>
              </a:defRPr>
            </a:pPr>
            <a:r>
              <a:t>5  Canary</a:t>
            </a:r>
          </a:p>
        </p:txBody>
      </p:sp>
      <p:sp>
        <p:nvSpPr>
          <p:cNvPr id="27" name="TextBox 26"/>
          <p:cNvSpPr txBox="1"/>
          <p:nvPr/>
        </p:nvSpPr>
        <p:spPr>
          <a:xfrm>
            <a:off x="10030967" y="2679192"/>
            <a:ext cx="1865376" cy="1298448"/>
          </a:xfrm>
          <a:prstGeom prst="rect">
            <a:avLst/>
          </a:prstGeom>
          <a:noFill/>
        </p:spPr>
        <p:txBody>
          <a:bodyPr wrap="square" lIns="73152" tIns="36576" rIns="54864" bIns="0">
            <a:spAutoFit/>
          </a:bodyPr>
          <a:lstStyle/>
          <a:p>
            <a:pPr>
              <a:spcAft>
                <a:spcPts val="500"/>
              </a:spcAft>
              <a:defRPr sz="1200" b="0">
                <a:solidFill>
                  <a:srgbClr val="122448"/>
                </a:solidFill>
              </a:defRPr>
            </a:pPr>
            <a:r>
              <a:t>Limited rollout</a:t>
            </a:r>
          </a:p>
          <a:p>
            <a:pPr>
              <a:spcAft>
                <a:spcPts val="500"/>
              </a:spcAft>
              <a:defRPr sz="1200" b="0">
                <a:solidFill>
                  <a:srgbClr val="122448"/>
                </a:solidFill>
              </a:defRPr>
            </a:pPr>
            <a:r>
              <a:t>Observe real-world results</a:t>
            </a:r>
          </a:p>
          <a:p>
            <a:pPr>
              <a:spcAft>
                <a:spcPts val="500"/>
              </a:spcAft>
              <a:defRPr sz="1200" b="0">
                <a:solidFill>
                  <a:srgbClr val="122448"/>
                </a:solidFill>
              </a:defRPr>
            </a:pPr>
            <a:r>
              <a:t>Promote only if healthy</a:t>
            </a:r>
          </a:p>
        </p:txBody>
      </p:sp>
      <p:cxnSp>
        <p:nvCxnSpPr>
          <p:cNvPr id="28" name="Connector 27"/>
          <p:cNvCxnSpPr/>
          <p:nvPr/>
        </p:nvCxnSpPr>
        <p:spPr>
          <a:xfrm>
            <a:off x="12006072" y="2990088"/>
            <a:ext cx="164592" cy="0"/>
          </a:xfrm>
          <a:prstGeom prst="line">
            <a:avLst/>
          </a:prstGeom>
          <a:ln w="31750">
            <a:solidFill>
              <a:srgbClr val="1D876E"/>
            </a:solidFill>
            <a:head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2234672" y="1938528"/>
            <a:ext cx="1901952" cy="2148840"/>
          </a:xfrm>
          <a:prstGeom prst="roundRect">
            <a:avLst/>
          </a:prstGeom>
          <a:solidFill>
            <a:srgbClr val="E7F3FF"/>
          </a:solidFill>
          <a:ln>
            <a:solidFill>
              <a:srgbClr val="2A7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344400" y="2066543"/>
            <a:ext cx="1682496" cy="502920"/>
          </a:xfrm>
          <a:prstGeom prst="rect">
            <a:avLst/>
          </a:prstGeom>
          <a:noFill/>
        </p:spPr>
        <p:txBody>
          <a:bodyPr wrap="square" lIns="73152" tIns="36576" rIns="54864" bIns="0">
            <a:spAutoFit/>
          </a:bodyPr>
          <a:lstStyle/>
          <a:p>
            <a:pPr>
              <a:spcAft>
                <a:spcPts val="500"/>
              </a:spcAft>
              <a:defRPr sz="1600" b="1">
                <a:solidFill>
                  <a:srgbClr val="122448"/>
                </a:solidFill>
              </a:defRPr>
            </a:pPr>
            <a:r>
              <a:t>6  Monitor</a:t>
            </a:r>
          </a:p>
        </p:txBody>
      </p:sp>
      <p:sp>
        <p:nvSpPr>
          <p:cNvPr id="31" name="TextBox 30"/>
          <p:cNvSpPr txBox="1"/>
          <p:nvPr/>
        </p:nvSpPr>
        <p:spPr>
          <a:xfrm>
            <a:off x="12344400" y="2679192"/>
            <a:ext cx="1682496" cy="1298448"/>
          </a:xfrm>
          <a:prstGeom prst="rect">
            <a:avLst/>
          </a:prstGeom>
          <a:noFill/>
        </p:spPr>
        <p:txBody>
          <a:bodyPr wrap="square" lIns="73152" tIns="36576" rIns="54864" bIns="0">
            <a:spAutoFit/>
          </a:bodyPr>
          <a:lstStyle/>
          <a:p>
            <a:pPr>
              <a:spcAft>
                <a:spcPts val="500"/>
              </a:spcAft>
              <a:defRPr sz="1200" b="0">
                <a:solidFill>
                  <a:srgbClr val="122448"/>
                </a:solidFill>
              </a:defRPr>
            </a:pPr>
            <a:r>
              <a:t>Quality and drift alerts</a:t>
            </a:r>
          </a:p>
          <a:p>
            <a:pPr>
              <a:spcAft>
                <a:spcPts val="500"/>
              </a:spcAft>
              <a:defRPr sz="1200" b="0">
                <a:solidFill>
                  <a:srgbClr val="122448"/>
                </a:solidFill>
              </a:defRPr>
            </a:pPr>
            <a:r>
              <a:t>Error-budget burn</a:t>
            </a:r>
          </a:p>
          <a:p>
            <a:pPr>
              <a:spcAft>
                <a:spcPts val="500"/>
              </a:spcAft>
              <a:defRPr sz="1200" b="0">
                <a:solidFill>
                  <a:srgbClr val="122448"/>
                </a:solidFill>
              </a:defRPr>
            </a:pPr>
            <a:r>
              <a:t>Contain or roll back</a:t>
            </a:r>
          </a:p>
        </p:txBody>
      </p:sp>
      <p:sp>
        <p:nvSpPr>
          <p:cNvPr id="32" name="TextBox 31"/>
          <p:cNvSpPr txBox="1"/>
          <p:nvPr/>
        </p:nvSpPr>
        <p:spPr>
          <a:xfrm>
            <a:off x="9235440" y="3319272"/>
            <a:ext cx="640080" cy="274320"/>
          </a:xfrm>
          <a:prstGeom prst="rect">
            <a:avLst/>
          </a:prstGeom>
          <a:noFill/>
        </p:spPr>
        <p:txBody>
          <a:bodyPr wrap="square" lIns="73152" tIns="36576" rIns="54864" bIns="0">
            <a:spAutoFit/>
          </a:bodyPr>
          <a:lstStyle/>
          <a:p>
            <a:pPr>
              <a:spcAft>
                <a:spcPts val="500"/>
              </a:spcAft>
              <a:defRPr sz="1100" b="1">
                <a:solidFill>
                  <a:srgbClr val="19824B"/>
                </a:solidFill>
              </a:defRPr>
            </a:pPr>
            <a:r>
              <a:t>PASS</a:t>
            </a:r>
          </a:p>
        </p:txBody>
      </p:sp>
      <p:cxnSp>
        <p:nvCxnSpPr>
          <p:cNvPr id="33" name="Connector 32"/>
          <p:cNvCxnSpPr/>
          <p:nvPr/>
        </p:nvCxnSpPr>
        <p:spPr>
          <a:xfrm>
            <a:off x="8503920" y="4087368"/>
            <a:ext cx="0" cy="576072"/>
          </a:xfrm>
          <a:prstGeom prst="line">
            <a:avLst/>
          </a:prstGeom>
          <a:ln w="31750">
            <a:solidFill>
              <a:srgbClr val="CC3F4B"/>
            </a:solidFill>
            <a:head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641080" y="4242816"/>
            <a:ext cx="914400" cy="274320"/>
          </a:xfrm>
          <a:prstGeom prst="rect">
            <a:avLst/>
          </a:prstGeom>
          <a:noFill/>
        </p:spPr>
        <p:txBody>
          <a:bodyPr wrap="square" lIns="73152" tIns="36576" rIns="54864" bIns="0">
            <a:spAutoFit/>
          </a:bodyPr>
          <a:lstStyle/>
          <a:p>
            <a:pPr>
              <a:spcAft>
                <a:spcPts val="500"/>
              </a:spcAft>
              <a:defRPr sz="1200" b="1">
                <a:solidFill>
                  <a:srgbClr val="C3373C"/>
                </a:solidFill>
              </a:defRPr>
            </a:pPr>
            <a:r>
              <a:t>FAIL</a:t>
            </a:r>
          </a:p>
        </p:txBody>
      </p:sp>
      <p:sp>
        <p:nvSpPr>
          <p:cNvPr id="35" name="Rounded Rectangle 34"/>
          <p:cNvSpPr/>
          <p:nvPr/>
        </p:nvSpPr>
        <p:spPr>
          <a:xfrm>
            <a:off x="502920" y="4773168"/>
            <a:ext cx="8138160" cy="1828800"/>
          </a:xfrm>
          <a:prstGeom prst="roundRect">
            <a:avLst/>
          </a:prstGeom>
          <a:solidFill>
            <a:srgbClr val="FFF5F5"/>
          </a:solidFill>
          <a:ln>
            <a:solidFill>
              <a:srgbClr val="E67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4892040"/>
            <a:ext cx="7772400" cy="338328"/>
          </a:xfrm>
          <a:prstGeom prst="rect">
            <a:avLst/>
          </a:prstGeom>
          <a:noFill/>
        </p:spPr>
        <p:txBody>
          <a:bodyPr wrap="square" lIns="73152" tIns="36576" rIns="54864" bIns="0">
            <a:spAutoFit/>
          </a:bodyPr>
          <a:lstStyle/>
          <a:p>
            <a:pPr>
              <a:spcAft>
                <a:spcPts val="500"/>
              </a:spcAft>
              <a:defRPr sz="1700" b="1">
                <a:solidFill>
                  <a:srgbClr val="A12C36"/>
                </a:solidFill>
              </a:defRPr>
            </a:pPr>
            <a:r>
              <a:t>PRE-RELEASE FAILURE — Block deployment</a:t>
            </a:r>
          </a:p>
        </p:txBody>
      </p:sp>
      <p:sp>
        <p:nvSpPr>
          <p:cNvPr id="37" name="TextBox 36"/>
          <p:cNvSpPr txBox="1"/>
          <p:nvPr/>
        </p:nvSpPr>
        <p:spPr>
          <a:xfrm>
            <a:off x="713232" y="5367528"/>
            <a:ext cx="7589520" cy="731520"/>
          </a:xfrm>
          <a:prstGeom prst="rect">
            <a:avLst/>
          </a:prstGeom>
          <a:noFill/>
        </p:spPr>
        <p:txBody>
          <a:bodyPr wrap="square" lIns="73152" tIns="36576" rIns="54864" bIns="0">
            <a:spAutoFit/>
          </a:bodyPr>
          <a:lstStyle/>
          <a:p>
            <a:pPr>
              <a:spcAft>
                <a:spcPts val="500"/>
              </a:spcAft>
              <a:defRPr sz="1400" b="0">
                <a:solidFill>
                  <a:srgbClr val="122448"/>
                </a:solidFill>
              </a:defRPr>
            </a:pPr>
            <a:r>
              <a:t>Investigate traces  →  Fix prompt/model/tools  →  Add regression case  →  Retest</a:t>
            </a:r>
          </a:p>
        </p:txBody>
      </p:sp>
      <p:sp>
        <p:nvSpPr>
          <p:cNvPr id="38" name="Rounded Rectangle 37"/>
          <p:cNvSpPr/>
          <p:nvPr/>
        </p:nvSpPr>
        <p:spPr>
          <a:xfrm>
            <a:off x="9144000" y="4773168"/>
            <a:ext cx="4983480" cy="1828800"/>
          </a:xfrm>
          <a:prstGeom prst="roundRect">
            <a:avLst/>
          </a:prstGeom>
          <a:solidFill>
            <a:srgbClr val="EEFBF5"/>
          </a:solidFill>
          <a:ln>
            <a:solidFill>
              <a:srgbClr val="48AA7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326880" y="4892040"/>
            <a:ext cx="4617720" cy="338328"/>
          </a:xfrm>
          <a:prstGeom prst="rect">
            <a:avLst/>
          </a:prstGeom>
          <a:noFill/>
        </p:spPr>
        <p:txBody>
          <a:bodyPr wrap="square" lIns="73152" tIns="36576" rIns="54864" bIns="0">
            <a:spAutoFit/>
          </a:bodyPr>
          <a:lstStyle/>
          <a:p>
            <a:pPr>
              <a:spcAft>
                <a:spcPts val="500"/>
              </a:spcAft>
              <a:defRPr sz="1700" b="1">
                <a:solidFill>
                  <a:srgbClr val="207951"/>
                </a:solidFill>
              </a:defRPr>
            </a:pPr>
            <a:r>
              <a:t>POST-RELEASE FAILURE</a:t>
            </a:r>
          </a:p>
        </p:txBody>
      </p:sp>
      <p:sp>
        <p:nvSpPr>
          <p:cNvPr id="40" name="TextBox 39"/>
          <p:cNvSpPr txBox="1"/>
          <p:nvPr/>
        </p:nvSpPr>
        <p:spPr>
          <a:xfrm>
            <a:off x="9326880" y="5349240"/>
            <a:ext cx="4572000" cy="960120"/>
          </a:xfrm>
          <a:prstGeom prst="rect">
            <a:avLst/>
          </a:prstGeom>
          <a:noFill/>
        </p:spPr>
        <p:txBody>
          <a:bodyPr wrap="square" lIns="73152" tIns="36576" rIns="54864" bIns="0">
            <a:spAutoFit/>
          </a:bodyPr>
          <a:lstStyle/>
          <a:p>
            <a:pPr>
              <a:spcAft>
                <a:spcPts val="500"/>
              </a:spcAft>
              <a:defRPr sz="1400" b="0">
                <a:solidFill>
                  <a:srgbClr val="122448"/>
                </a:solidFill>
              </a:defRPr>
            </a:pPr>
            <a:r>
              <a:t>Alert → Investigate → Contain / rollback</a:t>
            </a:r>
          </a:p>
          <a:p>
            <a:pPr>
              <a:spcAft>
                <a:spcPts val="500"/>
              </a:spcAft>
              <a:defRPr sz="1400" b="0">
                <a:solidFill>
                  <a:srgbClr val="122448"/>
                </a:solidFill>
              </a:defRPr>
            </a:pPr>
            <a:r>
              <a:t>Fix and add regression test</a:t>
            </a:r>
          </a:p>
        </p:txBody>
      </p:sp>
      <p:cxnSp>
        <p:nvCxnSpPr>
          <p:cNvPr id="41" name="Connector 40"/>
          <p:cNvCxnSpPr/>
          <p:nvPr/>
        </p:nvCxnSpPr>
        <p:spPr>
          <a:xfrm>
            <a:off x="13167360" y="4087368"/>
            <a:ext cx="0" cy="667512"/>
          </a:xfrm>
          <a:prstGeom prst="line">
            <a:avLst/>
          </a:prstGeom>
          <a:ln w="31750">
            <a:solidFill>
              <a:srgbClr val="23895F"/>
            </a:solidFill>
            <a:head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48640" y="6903720"/>
            <a:ext cx="13533120" cy="868680"/>
          </a:xfrm>
          <a:prstGeom prst="roundRect">
            <a:avLst/>
          </a:prstGeom>
          <a:solidFill>
            <a:srgbClr val="EBE9FC"/>
          </a:solidFill>
          <a:ln>
            <a:solidFill>
              <a:srgbClr val="8273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7240" y="7040880"/>
            <a:ext cx="13075920" cy="576072"/>
          </a:xfrm>
          <a:prstGeom prst="rect">
            <a:avLst/>
          </a:prstGeom>
          <a:noFill/>
        </p:spPr>
        <p:txBody>
          <a:bodyPr wrap="square" lIns="73152" tIns="36576" rIns="54864" bIns="0">
            <a:spAutoFit/>
          </a:bodyPr>
          <a:lstStyle/>
          <a:p>
            <a:pPr>
              <a:spcAft>
                <a:spcPts val="500"/>
              </a:spcAft>
              <a:defRPr sz="1600" b="1">
                <a:solidFill>
                  <a:srgbClr val="122448"/>
                </a:solidFill>
              </a:defRPr>
            </a:pPr>
            <a:r>
              <a:t>CONTINUOUS FEEDBACK LOOP   •   Observed failures become regression tests; rerun evaluation before the next release.</a:t>
            </a:r>
          </a:p>
        </p:txBody>
      </p:sp>
      <p:cxnSp>
        <p:nvCxnSpPr>
          <p:cNvPr id="44" name="Connector 43"/>
          <p:cNvCxnSpPr/>
          <p:nvPr/>
        </p:nvCxnSpPr>
        <p:spPr>
          <a:xfrm>
            <a:off x="3657600" y="6601968"/>
            <a:ext cx="0" cy="274320"/>
          </a:xfrm>
          <a:prstGeom prst="line">
            <a:avLst/>
          </a:prstGeom>
          <a:ln w="31750">
            <a:solidFill>
              <a:srgbClr val="6F59B8"/>
            </a:solidFill>
            <a:headEnd type="triangle"/>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612880" y="6601968"/>
            <a:ext cx="0" cy="274320"/>
          </a:xfrm>
          <a:prstGeom prst="line">
            <a:avLst/>
          </a:prstGeom>
          <a:ln w="31750">
            <a:solidFill>
              <a:srgbClr val="6F59B8"/>
            </a:solidFill>
            <a:head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p:spPr>
        <p:txBody>
          <a:bodyPr wrap="square" lIns="0" tIns="0" rIns="0" bIns="0" rtlCol="0" anchor="ctr"/>
          <a:lstStyle/>
          <a:p>
            <a:r>
              <a:rPr lang="en-US" dirty="0"/>
              <a:t>Workflow 1: before release</a:t>
            </a:r>
          </a:p>
        </p:txBody>
      </p:sp>
      <p:sp>
        <p:nvSpPr>
          <p:cNvPr id="3" name="Text 0"/>
          <p:cNvSpPr>
            <a:spLocks noGrp="1"/>
          </p:cNvSpPr>
          <p:nvPr>
            <p:ph type="body" idx="101"/>
          </p:nvPr>
        </p:nvSpPr>
        <p:spPr>
          <a:prstGeom prst="rect">
            <a:avLst/>
          </a:prstGeom>
          <a:noFill/>
        </p:spPr>
        <p:txBody>
          <a:bodyPr wrap="square" lIns="0" tIns="0" rIns="0" bIns="0" rtlCol="0" anchor="t"/>
          <a:lstStyle/>
          <a:p>
            <a:r>
              <a:rPr lang="en-US" dirty="0"/>
              <a:t>Stage A tests the new version. Stage B releases it carefully.</a:t>
            </a:r>
          </a:p>
        </p:txBody>
      </p:sp>
      <p:sp>
        <p:nvSpPr>
          <p:cNvPr id="49" name="Slide Number Placeholder 0"/>
          <p:cNvSpPr>
            <a:spLocks noGrp="1"/>
          </p:cNvSpPr>
          <p:nvPr>
            <p:ph type="sldNum" sz="quarter" idx="4294967295"/>
          </p:nvPr>
        </p:nvSpPr>
        <p:spPr>
          <a:xfrm>
            <a:off x="10972800" y="6339840"/>
            <a:ext cx="609600" cy="304800"/>
          </a:xfrm>
          <a:prstGeom prst="rect">
            <a:avLst/>
          </a:prstGeom>
        </p:spPr>
        <p:txBody>
          <a:bodyPr/>
          <a:lstStyle>
            <a:lvl1pPr>
              <a:defRPr sz="1335">
                <a:solidFill>
                  <a:schemeClr val="accent6"/>
                </a:solidFill>
              </a:defRPr>
            </a:lvl1pPr>
          </a:lstStyle>
          <a:p>
            <a:pPr algn="r"/>
            <a:fld id="{F7021451-1387-4CA6-816F-3879F97B5CBC}" type="slidenum">
              <a:rPr lang="en-US" b="0"/>
              <a:t>6</a:t>
            </a:fld>
            <a:endParaRPr lang="en-US"/>
          </a:p>
        </p:txBody>
      </p:sp>
      <p:sp>
        <p:nvSpPr>
          <p:cNvPr id="4" name="Lane A"/>
          <p:cNvSpPr/>
          <p:nvPr/>
        </p:nvSpPr>
        <p:spPr>
          <a:xfrm>
            <a:off x="609600" y="1828800"/>
            <a:ext cx="1584960" cy="1658112"/>
          </a:xfrm>
          <a:prstGeom prst="roundRect">
            <a:avLst>
              <a:gd name="adj" fmla="val 6154"/>
            </a:avLst>
          </a:prstGeom>
          <a:solidFill>
            <a:schemeClr val="accent1"/>
          </a:solidFill>
          <a:effectLst>
            <a:outerShdw blurRad="88900" dist="25400" dir="5400000" algn="bl" rotWithShape="0">
              <a:srgbClr val="0B1633">
                <a:alpha val="13000"/>
              </a:srgbClr>
            </a:outerShdw>
          </a:effectLst>
        </p:spPr>
        <p:txBody>
          <a:bodyPr/>
          <a:lstStyle/>
          <a:p>
            <a:endParaRPr lang="en-US" sz="2400"/>
          </a:p>
        </p:txBody>
      </p:sp>
      <p:sp>
        <p:nvSpPr>
          <p:cNvPr id="5" name="Text 3"/>
          <p:cNvSpPr txBox="1"/>
          <p:nvPr/>
        </p:nvSpPr>
        <p:spPr>
          <a:xfrm>
            <a:off x="792480" y="1975104"/>
            <a:ext cx="1219200" cy="609600"/>
          </a:xfrm>
          <a:prstGeom prst="rect">
            <a:avLst/>
          </a:prstGeom>
          <a:noFill/>
        </p:spPr>
        <p:txBody>
          <a:bodyPr wrap="square" lIns="0" tIns="0" rIns="0" bIns="0" rtlCol="0" anchor="t"/>
          <a:lstStyle/>
          <a:p>
            <a:r>
              <a:rPr lang="en-US" sz="4000" b="1" dirty="0">
                <a:solidFill>
                  <a:schemeClr val="bg1"/>
                </a:solidFill>
                <a:latin typeface="Cambria" panose="02040503050406030204" pitchFamily="34" charset="0"/>
                <a:ea typeface="Cambria" panose="02040503050406030204" pitchFamily="34" charset="-122"/>
                <a:cs typeface="Cambria" panose="02040503050406030204" pitchFamily="34" charset="-120"/>
              </a:rPr>
              <a:t>A</a:t>
            </a:r>
            <a:endParaRPr lang="en-US" sz="4000" dirty="0"/>
          </a:p>
        </p:txBody>
      </p:sp>
      <p:sp>
        <p:nvSpPr>
          <p:cNvPr id="6" name="Text 4"/>
          <p:cNvSpPr txBox="1"/>
          <p:nvPr/>
        </p:nvSpPr>
        <p:spPr>
          <a:xfrm>
            <a:off x="792480" y="2682240"/>
            <a:ext cx="1219200" cy="682752"/>
          </a:xfrm>
          <a:prstGeom prst="rect">
            <a:avLst/>
          </a:prstGeom>
          <a:noFill/>
        </p:spPr>
        <p:txBody>
          <a:bodyPr wrap="square" lIns="0" tIns="0" rIns="0" bIns="0" rtlCol="0" anchor="t"/>
          <a:lstStyle/>
          <a:p>
            <a:r>
              <a:rPr lang="en-US" sz="1735" b="1" dirty="0">
                <a:solidFill>
                  <a:schemeClr val="bg1"/>
                </a:solidFill>
              </a:rPr>
              <a:t>Test before release</a:t>
            </a:r>
            <a:endParaRPr lang="en-US" sz="1735" dirty="0"/>
          </a:p>
        </p:txBody>
      </p:sp>
      <p:sp>
        <p:nvSpPr>
          <p:cNvPr id="7" name="Lane B"/>
          <p:cNvSpPr/>
          <p:nvPr/>
        </p:nvSpPr>
        <p:spPr>
          <a:xfrm>
            <a:off x="609600" y="3974592"/>
            <a:ext cx="1584960" cy="1658112"/>
          </a:xfrm>
          <a:prstGeom prst="roundRect">
            <a:avLst>
              <a:gd name="adj" fmla="val 6154"/>
            </a:avLst>
          </a:prstGeom>
          <a:solidFill>
            <a:schemeClr val="accent4"/>
          </a:solidFill>
          <a:effectLst>
            <a:outerShdw blurRad="88900" dist="25400" dir="5400000" algn="bl" rotWithShape="0">
              <a:srgbClr val="0B1633">
                <a:alpha val="13000"/>
              </a:srgbClr>
            </a:outerShdw>
          </a:effectLst>
        </p:spPr>
        <p:txBody>
          <a:bodyPr/>
          <a:lstStyle/>
          <a:p>
            <a:endParaRPr lang="en-US" sz="2400"/>
          </a:p>
        </p:txBody>
      </p:sp>
      <p:sp>
        <p:nvSpPr>
          <p:cNvPr id="8" name="Text 6"/>
          <p:cNvSpPr txBox="1"/>
          <p:nvPr/>
        </p:nvSpPr>
        <p:spPr>
          <a:xfrm>
            <a:off x="792480" y="4120896"/>
            <a:ext cx="1219200" cy="609600"/>
          </a:xfrm>
          <a:prstGeom prst="rect">
            <a:avLst/>
          </a:prstGeom>
          <a:noFill/>
        </p:spPr>
        <p:txBody>
          <a:bodyPr wrap="square" lIns="0" tIns="0" rIns="0" bIns="0" rtlCol="0" anchor="t"/>
          <a:lstStyle/>
          <a:p>
            <a:r>
              <a:rPr lang="en-US" sz="4000" b="1" dirty="0">
                <a:solidFill>
                  <a:schemeClr val="bg1"/>
                </a:solidFill>
                <a:latin typeface="Cambria" panose="02040503050406030204" pitchFamily="34" charset="0"/>
                <a:ea typeface="Cambria" panose="02040503050406030204" pitchFamily="34" charset="-122"/>
                <a:cs typeface="Cambria" panose="02040503050406030204" pitchFamily="34" charset="-120"/>
              </a:rPr>
              <a:t>B</a:t>
            </a:r>
            <a:endParaRPr lang="en-US" sz="4000" dirty="0"/>
          </a:p>
        </p:txBody>
      </p:sp>
      <p:sp>
        <p:nvSpPr>
          <p:cNvPr id="9" name="Text 7"/>
          <p:cNvSpPr txBox="1"/>
          <p:nvPr/>
        </p:nvSpPr>
        <p:spPr>
          <a:xfrm>
            <a:off x="792480" y="4828032"/>
            <a:ext cx="1219200" cy="682752"/>
          </a:xfrm>
          <a:prstGeom prst="rect">
            <a:avLst/>
          </a:prstGeom>
          <a:noFill/>
        </p:spPr>
        <p:txBody>
          <a:bodyPr wrap="square" lIns="0" tIns="0" rIns="0" bIns="0" rtlCol="0" anchor="t"/>
          <a:lstStyle/>
          <a:p>
            <a:r>
              <a:rPr lang="en-US" sz="1735" b="1" dirty="0">
                <a:solidFill>
                  <a:schemeClr val="bg1"/>
                </a:solidFill>
              </a:rPr>
              <a:t>Controlled release</a:t>
            </a:r>
            <a:endParaRPr lang="en-US" sz="1735" dirty="0"/>
          </a:p>
        </p:txBody>
      </p:sp>
      <p:sp>
        <p:nvSpPr>
          <p:cNvPr id="10" name="Node Save versions"/>
          <p:cNvSpPr/>
          <p:nvPr/>
        </p:nvSpPr>
        <p:spPr>
          <a:xfrm>
            <a:off x="2438400" y="1828800"/>
            <a:ext cx="2048256" cy="1658112"/>
          </a:xfrm>
          <a:prstGeom prst="roundRect">
            <a:avLst>
              <a:gd name="adj" fmla="val 5882"/>
            </a:avLst>
          </a:prstGeom>
          <a:solidFill>
            <a:schemeClr val="bg1"/>
          </a:solidFill>
          <a:ln w="19050">
            <a:solidFill>
              <a:schemeClr val="accent1"/>
            </a:solidFill>
            <a:prstDash val="solid"/>
          </a:ln>
          <a:effectLst>
            <a:outerShdw blurRad="88900" dist="25400" dir="5400000" algn="bl" rotWithShape="0">
              <a:srgbClr val="0B1633">
                <a:alpha val="13000"/>
              </a:srgbClr>
            </a:outerShdw>
          </a:effectLst>
        </p:spPr>
        <p:txBody>
          <a:bodyPr/>
          <a:lstStyle/>
          <a:p>
            <a:endParaRPr lang="en-US" sz="2400"/>
          </a:p>
        </p:txBody>
      </p:sp>
      <p:sp>
        <p:nvSpPr>
          <p:cNvPr id="11" name="Badge A1"/>
          <p:cNvSpPr txBox="1"/>
          <p:nvPr/>
        </p:nvSpPr>
        <p:spPr>
          <a:xfrm>
            <a:off x="2560320" y="1950720"/>
            <a:ext cx="414528" cy="414528"/>
          </a:xfrm>
          <a:prstGeom prst="ellipse">
            <a:avLst/>
          </a:prstGeom>
          <a:solidFill>
            <a:schemeClr val="accent1"/>
          </a:solidFill>
        </p:spPr>
        <p:txBody>
          <a:bodyPr wrap="square" lIns="0" tIns="0" rIns="0" bIns="0" rtlCol="0" anchor="ctr"/>
          <a:lstStyle/>
          <a:p>
            <a:pPr algn="ctr"/>
            <a:r>
              <a:rPr lang="en-US" sz="1335" b="1" dirty="0">
                <a:solidFill>
                  <a:schemeClr val="bg1"/>
                </a:solidFill>
              </a:rPr>
              <a:t>A1</a:t>
            </a:r>
            <a:endParaRPr lang="en-US" sz="1335" dirty="0"/>
          </a:p>
        </p:txBody>
      </p:sp>
      <p:sp>
        <p:nvSpPr>
          <p:cNvPr id="12" name="Text 10"/>
          <p:cNvSpPr txBox="1"/>
          <p:nvPr/>
        </p:nvSpPr>
        <p:spPr>
          <a:xfrm>
            <a:off x="2584704" y="2438400"/>
            <a:ext cx="1755648" cy="316992"/>
          </a:xfrm>
          <a:prstGeom prst="rect">
            <a:avLst/>
          </a:prstGeom>
          <a:noFill/>
        </p:spPr>
        <p:txBody>
          <a:bodyPr wrap="square" lIns="0" tIns="0" rIns="0" bIns="0" rtlCol="0" anchor="t"/>
          <a:lstStyle/>
          <a:p>
            <a:r>
              <a:rPr lang="en-US" sz="1735" b="1" dirty="0"/>
              <a:t>Save versions</a:t>
            </a:r>
            <a:endParaRPr lang="en-US" sz="1735" dirty="0"/>
          </a:p>
        </p:txBody>
      </p:sp>
      <p:sp>
        <p:nvSpPr>
          <p:cNvPr id="13" name="Text 11"/>
          <p:cNvSpPr txBox="1"/>
          <p:nvPr/>
        </p:nvSpPr>
        <p:spPr>
          <a:xfrm>
            <a:off x="2584704" y="2779776"/>
            <a:ext cx="1755648" cy="633984"/>
          </a:xfrm>
          <a:prstGeom prst="rect">
            <a:avLst/>
          </a:prstGeom>
          <a:noFill/>
        </p:spPr>
        <p:txBody>
          <a:bodyPr wrap="square" lIns="0" tIns="0" rIns="0" bIns="0" rtlCol="0" anchor="t"/>
          <a:lstStyle/>
          <a:p>
            <a:r>
              <a:rPr lang="en-US" sz="1600" dirty="0"/>
              <a:t>Code, prompts, tools and settings</a:t>
            </a:r>
          </a:p>
        </p:txBody>
      </p:sp>
      <p:sp>
        <p:nvSpPr>
          <p:cNvPr id="14" name="Connector"/>
          <p:cNvSpPr/>
          <p:nvPr/>
        </p:nvSpPr>
        <p:spPr>
          <a:xfrm>
            <a:off x="4486656" y="2657856"/>
            <a:ext cx="316992" cy="0"/>
          </a:xfrm>
          <a:prstGeom prst="line">
            <a:avLst/>
          </a:prstGeom>
          <a:noFill/>
          <a:ln w="25400">
            <a:solidFill>
              <a:schemeClr val="accent6"/>
            </a:solidFill>
            <a:prstDash val="solid"/>
            <a:tailEnd type="triangle"/>
          </a:ln>
        </p:spPr>
        <p:txBody>
          <a:bodyPr/>
          <a:lstStyle/>
          <a:p>
            <a:endParaRPr lang="en-US" sz="2400"/>
          </a:p>
        </p:txBody>
      </p:sp>
      <p:sp>
        <p:nvSpPr>
          <p:cNvPr id="15" name="Node Run both agents"/>
          <p:cNvSpPr/>
          <p:nvPr/>
        </p:nvSpPr>
        <p:spPr>
          <a:xfrm>
            <a:off x="4803648" y="1828800"/>
            <a:ext cx="2048256" cy="1658112"/>
          </a:xfrm>
          <a:prstGeom prst="roundRect">
            <a:avLst>
              <a:gd name="adj" fmla="val 5882"/>
            </a:avLst>
          </a:prstGeom>
          <a:solidFill>
            <a:schemeClr val="bg1"/>
          </a:solidFill>
          <a:ln w="19050">
            <a:solidFill>
              <a:schemeClr val="accent1"/>
            </a:solidFill>
            <a:prstDash val="solid"/>
          </a:ln>
          <a:effectLst>
            <a:outerShdw blurRad="88900" dist="25400" dir="5400000" algn="bl" rotWithShape="0">
              <a:srgbClr val="0B1633">
                <a:alpha val="13000"/>
              </a:srgbClr>
            </a:outerShdw>
          </a:effectLst>
        </p:spPr>
        <p:txBody>
          <a:bodyPr/>
          <a:lstStyle/>
          <a:p>
            <a:endParaRPr lang="en-US" sz="2400"/>
          </a:p>
        </p:txBody>
      </p:sp>
      <p:sp>
        <p:nvSpPr>
          <p:cNvPr id="16" name="Badge A2"/>
          <p:cNvSpPr txBox="1"/>
          <p:nvPr/>
        </p:nvSpPr>
        <p:spPr>
          <a:xfrm>
            <a:off x="4925568" y="1950720"/>
            <a:ext cx="414528" cy="414528"/>
          </a:xfrm>
          <a:prstGeom prst="ellipse">
            <a:avLst/>
          </a:prstGeom>
          <a:solidFill>
            <a:schemeClr val="accent1"/>
          </a:solidFill>
        </p:spPr>
        <p:txBody>
          <a:bodyPr wrap="square" lIns="0" tIns="0" rIns="0" bIns="0" rtlCol="0" anchor="ctr"/>
          <a:lstStyle/>
          <a:p>
            <a:pPr algn="ctr"/>
            <a:r>
              <a:rPr lang="en-US" sz="1335" b="1" dirty="0">
                <a:solidFill>
                  <a:schemeClr val="bg1"/>
                </a:solidFill>
              </a:rPr>
              <a:t>A2</a:t>
            </a:r>
            <a:endParaRPr lang="en-US" sz="1335" dirty="0"/>
          </a:p>
        </p:txBody>
      </p:sp>
      <p:sp>
        <p:nvSpPr>
          <p:cNvPr id="17" name="Text 15"/>
          <p:cNvSpPr txBox="1"/>
          <p:nvPr/>
        </p:nvSpPr>
        <p:spPr>
          <a:xfrm>
            <a:off x="4949952" y="2438400"/>
            <a:ext cx="1755648" cy="316992"/>
          </a:xfrm>
          <a:prstGeom prst="rect">
            <a:avLst/>
          </a:prstGeom>
          <a:noFill/>
        </p:spPr>
        <p:txBody>
          <a:bodyPr wrap="square" lIns="0" tIns="0" rIns="0" bIns="0" rtlCol="0" anchor="t"/>
          <a:lstStyle/>
          <a:p>
            <a:r>
              <a:rPr lang="en-US" sz="1735" b="1" dirty="0"/>
              <a:t>Run both agents</a:t>
            </a:r>
            <a:endParaRPr lang="en-US" sz="1735" dirty="0"/>
          </a:p>
        </p:txBody>
      </p:sp>
      <p:sp>
        <p:nvSpPr>
          <p:cNvPr id="18" name="Text 16"/>
          <p:cNvSpPr txBox="1"/>
          <p:nvPr/>
        </p:nvSpPr>
        <p:spPr>
          <a:xfrm>
            <a:off x="4949952" y="2779776"/>
            <a:ext cx="1755648" cy="633984"/>
          </a:xfrm>
          <a:prstGeom prst="rect">
            <a:avLst/>
          </a:prstGeom>
          <a:noFill/>
        </p:spPr>
        <p:txBody>
          <a:bodyPr wrap="square" lIns="0" tIns="0" rIns="0" bIns="0" rtlCol="0" anchor="t"/>
          <a:lstStyle/>
          <a:p>
            <a:r>
              <a:rPr lang="en-US" sz="1600" dirty="0"/>
              <a:t>Same tests, run automatically</a:t>
            </a:r>
          </a:p>
        </p:txBody>
      </p:sp>
      <p:sp>
        <p:nvSpPr>
          <p:cNvPr id="19" name="Connector"/>
          <p:cNvSpPr/>
          <p:nvPr/>
        </p:nvSpPr>
        <p:spPr>
          <a:xfrm>
            <a:off x="6851904" y="2657856"/>
            <a:ext cx="316992" cy="0"/>
          </a:xfrm>
          <a:prstGeom prst="line">
            <a:avLst/>
          </a:prstGeom>
          <a:noFill/>
          <a:ln w="25400">
            <a:solidFill>
              <a:schemeClr val="accent6"/>
            </a:solidFill>
            <a:prstDash val="solid"/>
            <a:tailEnd type="triangle"/>
          </a:ln>
        </p:spPr>
        <p:txBody>
          <a:bodyPr/>
          <a:lstStyle/>
          <a:p>
            <a:endParaRPr lang="en-US" sz="2400"/>
          </a:p>
        </p:txBody>
      </p:sp>
      <p:sp>
        <p:nvSpPr>
          <p:cNvPr id="20" name="Node Score results"/>
          <p:cNvSpPr/>
          <p:nvPr/>
        </p:nvSpPr>
        <p:spPr>
          <a:xfrm>
            <a:off x="7168896" y="1828800"/>
            <a:ext cx="2048256" cy="1658112"/>
          </a:xfrm>
          <a:prstGeom prst="roundRect">
            <a:avLst>
              <a:gd name="adj" fmla="val 5882"/>
            </a:avLst>
          </a:prstGeom>
          <a:solidFill>
            <a:schemeClr val="bg1"/>
          </a:solidFill>
          <a:ln w="19050">
            <a:solidFill>
              <a:schemeClr val="accent1"/>
            </a:solidFill>
            <a:prstDash val="solid"/>
          </a:ln>
          <a:effectLst>
            <a:outerShdw blurRad="88900" dist="25400" dir="5400000" algn="bl" rotWithShape="0">
              <a:srgbClr val="0B1633">
                <a:alpha val="13000"/>
              </a:srgbClr>
            </a:outerShdw>
          </a:effectLst>
        </p:spPr>
        <p:txBody>
          <a:bodyPr/>
          <a:lstStyle/>
          <a:p>
            <a:endParaRPr lang="en-US" sz="2400"/>
          </a:p>
        </p:txBody>
      </p:sp>
      <p:sp>
        <p:nvSpPr>
          <p:cNvPr id="21" name="Badge A3"/>
          <p:cNvSpPr txBox="1"/>
          <p:nvPr/>
        </p:nvSpPr>
        <p:spPr>
          <a:xfrm>
            <a:off x="7290816" y="1950720"/>
            <a:ext cx="414528" cy="414528"/>
          </a:xfrm>
          <a:prstGeom prst="ellipse">
            <a:avLst/>
          </a:prstGeom>
          <a:solidFill>
            <a:schemeClr val="accent1"/>
          </a:solidFill>
        </p:spPr>
        <p:txBody>
          <a:bodyPr wrap="square" lIns="0" tIns="0" rIns="0" bIns="0" rtlCol="0" anchor="ctr"/>
          <a:lstStyle/>
          <a:p>
            <a:pPr algn="ctr"/>
            <a:r>
              <a:rPr lang="en-US" sz="1335" b="1" dirty="0">
                <a:solidFill>
                  <a:schemeClr val="bg1"/>
                </a:solidFill>
              </a:rPr>
              <a:t>A3</a:t>
            </a:r>
            <a:endParaRPr lang="en-US" sz="1335" dirty="0"/>
          </a:p>
        </p:txBody>
      </p:sp>
      <p:sp>
        <p:nvSpPr>
          <p:cNvPr id="22" name="Text 20"/>
          <p:cNvSpPr txBox="1"/>
          <p:nvPr/>
        </p:nvSpPr>
        <p:spPr>
          <a:xfrm>
            <a:off x="7315200" y="2438400"/>
            <a:ext cx="1755648" cy="316992"/>
          </a:xfrm>
          <a:prstGeom prst="rect">
            <a:avLst/>
          </a:prstGeom>
          <a:noFill/>
        </p:spPr>
        <p:txBody>
          <a:bodyPr wrap="square" lIns="0" tIns="0" rIns="0" bIns="0" rtlCol="0" anchor="t"/>
          <a:lstStyle/>
          <a:p>
            <a:r>
              <a:rPr lang="en-US" sz="1735" b="1" dirty="0"/>
              <a:t>Score results</a:t>
            </a:r>
            <a:endParaRPr lang="en-US" sz="1735" dirty="0"/>
          </a:p>
        </p:txBody>
      </p:sp>
      <p:sp>
        <p:nvSpPr>
          <p:cNvPr id="23" name="Text 21"/>
          <p:cNvSpPr txBox="1"/>
          <p:nvPr/>
        </p:nvSpPr>
        <p:spPr>
          <a:xfrm>
            <a:off x="7315200" y="2779776"/>
            <a:ext cx="1755648" cy="633984"/>
          </a:xfrm>
          <a:prstGeom prst="rect">
            <a:avLst/>
          </a:prstGeom>
          <a:noFill/>
        </p:spPr>
        <p:txBody>
          <a:bodyPr wrap="square" lIns="0" tIns="0" rIns="0" bIns="0" rtlCol="0" anchor="t"/>
          <a:lstStyle/>
          <a:p>
            <a:r>
              <a:rPr lang="en-US" sz="1600" dirty="0"/>
              <a:t>AI judge plus fixed checks</a:t>
            </a:r>
          </a:p>
        </p:txBody>
      </p:sp>
      <p:sp>
        <p:nvSpPr>
          <p:cNvPr id="24" name="Connector"/>
          <p:cNvSpPr/>
          <p:nvPr/>
        </p:nvSpPr>
        <p:spPr>
          <a:xfrm>
            <a:off x="9217152" y="2657856"/>
            <a:ext cx="316992" cy="0"/>
          </a:xfrm>
          <a:prstGeom prst="line">
            <a:avLst/>
          </a:prstGeom>
          <a:noFill/>
          <a:ln w="25400">
            <a:solidFill>
              <a:schemeClr val="accent6"/>
            </a:solidFill>
            <a:prstDash val="solid"/>
            <a:tailEnd type="triangle"/>
          </a:ln>
        </p:spPr>
        <p:txBody>
          <a:bodyPr/>
          <a:lstStyle/>
          <a:p>
            <a:endParaRPr lang="en-US" sz="2400"/>
          </a:p>
        </p:txBody>
      </p:sp>
      <p:sp>
        <p:nvSpPr>
          <p:cNvPr id="25" name="Node Gate passed?"/>
          <p:cNvSpPr/>
          <p:nvPr/>
        </p:nvSpPr>
        <p:spPr>
          <a:xfrm>
            <a:off x="9534144" y="1828800"/>
            <a:ext cx="2048256" cy="1658112"/>
          </a:xfrm>
          <a:prstGeom prst="roundRect">
            <a:avLst>
              <a:gd name="adj" fmla="val 5882"/>
            </a:avLst>
          </a:prstGeom>
          <a:solidFill>
            <a:schemeClr val="accent2">
              <a:alpha val="18000"/>
            </a:schemeClr>
          </a:solidFill>
          <a:ln w="28575">
            <a:solidFill>
              <a:schemeClr val="accent1"/>
            </a:solidFill>
            <a:prstDash val="solid"/>
          </a:ln>
          <a:effectLst>
            <a:outerShdw blurRad="88900" dist="25400" dir="5400000" algn="bl" rotWithShape="0">
              <a:srgbClr val="0B1633">
                <a:alpha val="13000"/>
              </a:srgbClr>
            </a:outerShdw>
          </a:effectLst>
        </p:spPr>
        <p:txBody>
          <a:bodyPr/>
          <a:lstStyle/>
          <a:p>
            <a:endParaRPr lang="en-US" sz="2400"/>
          </a:p>
        </p:txBody>
      </p:sp>
      <p:sp>
        <p:nvSpPr>
          <p:cNvPr id="26" name="Badge A4"/>
          <p:cNvSpPr txBox="1"/>
          <p:nvPr/>
        </p:nvSpPr>
        <p:spPr>
          <a:xfrm>
            <a:off x="9656064" y="1950720"/>
            <a:ext cx="414528" cy="414528"/>
          </a:xfrm>
          <a:prstGeom prst="ellipse">
            <a:avLst/>
          </a:prstGeom>
          <a:solidFill>
            <a:schemeClr val="accent1"/>
          </a:solidFill>
        </p:spPr>
        <p:txBody>
          <a:bodyPr wrap="square" lIns="0" tIns="0" rIns="0" bIns="0" rtlCol="0" anchor="ctr"/>
          <a:lstStyle/>
          <a:p>
            <a:pPr algn="ctr"/>
            <a:r>
              <a:rPr lang="en-US" sz="1335" b="1" dirty="0">
                <a:solidFill>
                  <a:schemeClr val="bg1"/>
                </a:solidFill>
              </a:rPr>
              <a:t>A4</a:t>
            </a:r>
            <a:endParaRPr lang="en-US" sz="1335" dirty="0"/>
          </a:p>
        </p:txBody>
      </p:sp>
      <p:sp>
        <p:nvSpPr>
          <p:cNvPr id="27" name="Text 25"/>
          <p:cNvSpPr txBox="1"/>
          <p:nvPr/>
        </p:nvSpPr>
        <p:spPr>
          <a:xfrm>
            <a:off x="9680448" y="2438400"/>
            <a:ext cx="1755648" cy="316992"/>
          </a:xfrm>
          <a:prstGeom prst="rect">
            <a:avLst/>
          </a:prstGeom>
          <a:noFill/>
        </p:spPr>
        <p:txBody>
          <a:bodyPr wrap="square" lIns="0" tIns="0" rIns="0" bIns="0" rtlCol="0" anchor="t"/>
          <a:lstStyle/>
          <a:p>
            <a:r>
              <a:rPr lang="en-US" sz="1735" b="1" dirty="0"/>
              <a:t>Gate passed?</a:t>
            </a:r>
            <a:endParaRPr lang="en-US" sz="1735" dirty="0"/>
          </a:p>
        </p:txBody>
      </p:sp>
      <p:sp>
        <p:nvSpPr>
          <p:cNvPr id="28" name="Text 26"/>
          <p:cNvSpPr txBox="1"/>
          <p:nvPr/>
        </p:nvSpPr>
        <p:spPr>
          <a:xfrm>
            <a:off x="9680448" y="2779776"/>
            <a:ext cx="1755648" cy="633984"/>
          </a:xfrm>
          <a:prstGeom prst="rect">
            <a:avLst/>
          </a:prstGeom>
          <a:noFill/>
        </p:spPr>
        <p:txBody>
          <a:bodyPr wrap="square" lIns="0" tIns="0" rIns="0" bIns="0" rtlCol="0" anchor="t"/>
          <a:lstStyle/>
          <a:p>
            <a:r>
              <a:rPr lang="en-US" sz="1600" dirty="0"/>
              <a:t>YES: go to canary. NO: block and fix.</a:t>
            </a:r>
          </a:p>
        </p:txBody>
      </p:sp>
      <p:sp>
        <p:nvSpPr>
          <p:cNvPr id="29" name="Connector"/>
          <p:cNvSpPr/>
          <p:nvPr/>
        </p:nvSpPr>
        <p:spPr>
          <a:xfrm>
            <a:off x="10558272" y="3486912"/>
            <a:ext cx="0" cy="243840"/>
          </a:xfrm>
          <a:prstGeom prst="line">
            <a:avLst/>
          </a:prstGeom>
          <a:noFill/>
          <a:ln w="25400">
            <a:solidFill>
              <a:schemeClr val="accent6"/>
            </a:solidFill>
            <a:prstDash val="solid"/>
          </a:ln>
        </p:spPr>
        <p:txBody>
          <a:bodyPr/>
          <a:lstStyle/>
          <a:p>
            <a:endParaRPr lang="en-US" sz="2400"/>
          </a:p>
        </p:txBody>
      </p:sp>
      <p:sp>
        <p:nvSpPr>
          <p:cNvPr id="30" name="Connector"/>
          <p:cNvSpPr/>
          <p:nvPr/>
        </p:nvSpPr>
        <p:spPr>
          <a:xfrm flipH="1">
            <a:off x="3462528" y="3730752"/>
            <a:ext cx="7095744" cy="0"/>
          </a:xfrm>
          <a:prstGeom prst="line">
            <a:avLst/>
          </a:prstGeom>
          <a:noFill/>
          <a:ln w="25400">
            <a:solidFill>
              <a:schemeClr val="accent6"/>
            </a:solidFill>
            <a:prstDash val="solid"/>
          </a:ln>
        </p:spPr>
        <p:txBody>
          <a:bodyPr/>
          <a:lstStyle/>
          <a:p>
            <a:endParaRPr lang="en-US" sz="2400"/>
          </a:p>
        </p:txBody>
      </p:sp>
      <p:sp>
        <p:nvSpPr>
          <p:cNvPr id="31" name="Connector"/>
          <p:cNvSpPr/>
          <p:nvPr/>
        </p:nvSpPr>
        <p:spPr>
          <a:xfrm>
            <a:off x="3462528" y="3730752"/>
            <a:ext cx="0" cy="243840"/>
          </a:xfrm>
          <a:prstGeom prst="line">
            <a:avLst/>
          </a:prstGeom>
          <a:noFill/>
          <a:ln w="25400">
            <a:solidFill>
              <a:schemeClr val="accent6"/>
            </a:solidFill>
            <a:prstDash val="solid"/>
            <a:tailEnd type="triangle"/>
          </a:ln>
        </p:spPr>
        <p:txBody>
          <a:bodyPr/>
          <a:lstStyle/>
          <a:p>
            <a:endParaRPr lang="en-US" sz="2400"/>
          </a:p>
        </p:txBody>
      </p:sp>
      <p:sp>
        <p:nvSpPr>
          <p:cNvPr id="32" name="Text 30"/>
          <p:cNvSpPr txBox="1"/>
          <p:nvPr/>
        </p:nvSpPr>
        <p:spPr>
          <a:xfrm>
            <a:off x="4754880" y="3742944"/>
            <a:ext cx="4876800" cy="243840"/>
          </a:xfrm>
          <a:prstGeom prst="rect">
            <a:avLst/>
          </a:prstGeom>
          <a:noFill/>
        </p:spPr>
        <p:txBody>
          <a:bodyPr wrap="square" lIns="0" tIns="0" rIns="0" bIns="0" rtlCol="0" anchor="t"/>
          <a:lstStyle/>
          <a:p>
            <a:pPr algn="ctr"/>
            <a:r>
              <a:rPr lang="en-US" sz="1335" dirty="0">
                <a:solidFill>
                  <a:schemeClr val="accent6"/>
                </a:solidFill>
              </a:rPr>
              <a:t>YES: the new version moves to the canary group</a:t>
            </a:r>
            <a:endParaRPr lang="en-US" sz="1335" dirty="0"/>
          </a:p>
        </p:txBody>
      </p:sp>
      <p:sp>
        <p:nvSpPr>
          <p:cNvPr id="33" name="Node Canary release"/>
          <p:cNvSpPr/>
          <p:nvPr/>
        </p:nvSpPr>
        <p:spPr>
          <a:xfrm>
            <a:off x="2438400" y="3974592"/>
            <a:ext cx="2048256" cy="1658112"/>
          </a:xfrm>
          <a:prstGeom prst="roundRect">
            <a:avLst>
              <a:gd name="adj" fmla="val 5882"/>
            </a:avLst>
          </a:prstGeom>
          <a:solidFill>
            <a:schemeClr val="bg1"/>
          </a:solidFill>
          <a:ln w="19050">
            <a:solidFill>
              <a:schemeClr val="accent4"/>
            </a:solidFill>
            <a:prstDash val="solid"/>
          </a:ln>
          <a:effectLst>
            <a:outerShdw blurRad="88900" dist="25400" dir="5400000" algn="bl" rotWithShape="0">
              <a:srgbClr val="0B1633">
                <a:alpha val="13000"/>
              </a:srgbClr>
            </a:outerShdw>
          </a:effectLst>
        </p:spPr>
        <p:txBody>
          <a:bodyPr/>
          <a:lstStyle/>
          <a:p>
            <a:endParaRPr lang="en-US" sz="2400"/>
          </a:p>
        </p:txBody>
      </p:sp>
      <p:sp>
        <p:nvSpPr>
          <p:cNvPr id="34" name="Badge B1"/>
          <p:cNvSpPr txBox="1"/>
          <p:nvPr/>
        </p:nvSpPr>
        <p:spPr>
          <a:xfrm>
            <a:off x="2560320" y="4096512"/>
            <a:ext cx="414528" cy="414528"/>
          </a:xfrm>
          <a:prstGeom prst="ellipse">
            <a:avLst/>
          </a:prstGeom>
          <a:solidFill>
            <a:schemeClr val="accent4"/>
          </a:solidFill>
        </p:spPr>
        <p:txBody>
          <a:bodyPr wrap="square" lIns="0" tIns="0" rIns="0" bIns="0" rtlCol="0" anchor="ctr"/>
          <a:lstStyle/>
          <a:p>
            <a:pPr algn="ctr"/>
            <a:r>
              <a:rPr lang="en-US" sz="1335" b="1" dirty="0">
                <a:solidFill>
                  <a:schemeClr val="bg1"/>
                </a:solidFill>
              </a:rPr>
              <a:t>B1</a:t>
            </a:r>
            <a:endParaRPr lang="en-US" sz="1335" dirty="0"/>
          </a:p>
        </p:txBody>
      </p:sp>
      <p:sp>
        <p:nvSpPr>
          <p:cNvPr id="35" name="Text 33"/>
          <p:cNvSpPr txBox="1"/>
          <p:nvPr/>
        </p:nvSpPr>
        <p:spPr>
          <a:xfrm>
            <a:off x="2584704" y="4584192"/>
            <a:ext cx="1755648" cy="316992"/>
          </a:xfrm>
          <a:prstGeom prst="rect">
            <a:avLst/>
          </a:prstGeom>
          <a:noFill/>
        </p:spPr>
        <p:txBody>
          <a:bodyPr wrap="square" lIns="0" tIns="0" rIns="0" bIns="0" rtlCol="0" anchor="t"/>
          <a:lstStyle/>
          <a:p>
            <a:r>
              <a:rPr lang="en-US" sz="1735" b="1" dirty="0"/>
              <a:t>Canary release</a:t>
            </a:r>
            <a:endParaRPr lang="en-US" sz="1735" dirty="0"/>
          </a:p>
        </p:txBody>
      </p:sp>
      <p:sp>
        <p:nvSpPr>
          <p:cNvPr id="36" name="Text 34"/>
          <p:cNvSpPr txBox="1"/>
          <p:nvPr/>
        </p:nvSpPr>
        <p:spPr>
          <a:xfrm>
            <a:off x="2584704" y="4925568"/>
            <a:ext cx="1755648" cy="633984"/>
          </a:xfrm>
          <a:prstGeom prst="rect">
            <a:avLst/>
          </a:prstGeom>
          <a:noFill/>
        </p:spPr>
        <p:txBody>
          <a:bodyPr wrap="square" lIns="0" tIns="0" rIns="0" bIns="0" rtlCol="0" anchor="t"/>
          <a:lstStyle/>
          <a:p>
            <a:r>
              <a:rPr lang="en-US" sz="1600" dirty="0"/>
              <a:t>A small group gets it first</a:t>
            </a:r>
          </a:p>
        </p:txBody>
      </p:sp>
      <p:sp>
        <p:nvSpPr>
          <p:cNvPr id="37" name="Node Checks passed?"/>
          <p:cNvSpPr/>
          <p:nvPr/>
        </p:nvSpPr>
        <p:spPr>
          <a:xfrm>
            <a:off x="4803648" y="3974592"/>
            <a:ext cx="2048256" cy="1658112"/>
          </a:xfrm>
          <a:prstGeom prst="roundRect">
            <a:avLst>
              <a:gd name="adj" fmla="val 5882"/>
            </a:avLst>
          </a:prstGeom>
          <a:solidFill>
            <a:schemeClr val="accent2">
              <a:alpha val="18000"/>
            </a:schemeClr>
          </a:solidFill>
          <a:ln w="28575">
            <a:solidFill>
              <a:schemeClr val="accent4"/>
            </a:solidFill>
            <a:prstDash val="solid"/>
          </a:ln>
          <a:effectLst>
            <a:outerShdw blurRad="88900" dist="25400" dir="5400000" algn="bl" rotWithShape="0">
              <a:srgbClr val="0B1633">
                <a:alpha val="13000"/>
              </a:srgbClr>
            </a:outerShdw>
          </a:effectLst>
        </p:spPr>
        <p:txBody>
          <a:bodyPr/>
          <a:lstStyle/>
          <a:p>
            <a:endParaRPr lang="en-US" sz="2400"/>
          </a:p>
        </p:txBody>
      </p:sp>
      <p:sp>
        <p:nvSpPr>
          <p:cNvPr id="38" name="Badge B2"/>
          <p:cNvSpPr txBox="1"/>
          <p:nvPr/>
        </p:nvSpPr>
        <p:spPr>
          <a:xfrm>
            <a:off x="4925568" y="4096512"/>
            <a:ext cx="414528" cy="414528"/>
          </a:xfrm>
          <a:prstGeom prst="ellipse">
            <a:avLst/>
          </a:prstGeom>
          <a:solidFill>
            <a:schemeClr val="accent4"/>
          </a:solidFill>
        </p:spPr>
        <p:txBody>
          <a:bodyPr wrap="square" lIns="0" tIns="0" rIns="0" bIns="0" rtlCol="0" anchor="ctr"/>
          <a:lstStyle/>
          <a:p>
            <a:pPr algn="ctr"/>
            <a:r>
              <a:rPr lang="en-US" sz="1335" b="1" dirty="0">
                <a:solidFill>
                  <a:schemeClr val="bg1"/>
                </a:solidFill>
              </a:rPr>
              <a:t>B2</a:t>
            </a:r>
            <a:endParaRPr lang="en-US" sz="1335" dirty="0"/>
          </a:p>
        </p:txBody>
      </p:sp>
      <p:sp>
        <p:nvSpPr>
          <p:cNvPr id="39" name="Text 37"/>
          <p:cNvSpPr txBox="1"/>
          <p:nvPr/>
        </p:nvSpPr>
        <p:spPr>
          <a:xfrm>
            <a:off x="4949952" y="4584192"/>
            <a:ext cx="1755648" cy="316992"/>
          </a:xfrm>
          <a:prstGeom prst="rect">
            <a:avLst/>
          </a:prstGeom>
          <a:noFill/>
        </p:spPr>
        <p:txBody>
          <a:bodyPr wrap="square" lIns="0" tIns="0" rIns="0" bIns="0" rtlCol="0" anchor="t"/>
          <a:lstStyle/>
          <a:p>
            <a:r>
              <a:rPr lang="en-US" sz="1735" b="1" dirty="0"/>
              <a:t>Checks passed?</a:t>
            </a:r>
            <a:endParaRPr lang="en-US" sz="1735" dirty="0"/>
          </a:p>
        </p:txBody>
      </p:sp>
      <p:sp>
        <p:nvSpPr>
          <p:cNvPr id="40" name="Text 38"/>
          <p:cNvSpPr txBox="1"/>
          <p:nvPr/>
        </p:nvSpPr>
        <p:spPr>
          <a:xfrm>
            <a:off x="4949952" y="4925568"/>
            <a:ext cx="1755648" cy="633984"/>
          </a:xfrm>
          <a:prstGeom prst="rect">
            <a:avLst/>
          </a:prstGeom>
          <a:noFill/>
        </p:spPr>
        <p:txBody>
          <a:bodyPr wrap="square" lIns="0" tIns="0" rIns="0" bIns="0" rtlCol="0" anchor="t"/>
          <a:lstStyle/>
          <a:p>
            <a:r>
              <a:rPr lang="en-US" sz="1600" dirty="0"/>
              <a:t>Are live results within limits?</a:t>
            </a:r>
          </a:p>
        </p:txBody>
      </p:sp>
      <p:sp>
        <p:nvSpPr>
          <p:cNvPr id="41" name="Connector"/>
          <p:cNvSpPr/>
          <p:nvPr/>
        </p:nvSpPr>
        <p:spPr>
          <a:xfrm>
            <a:off x="4486656" y="4803648"/>
            <a:ext cx="316992" cy="0"/>
          </a:xfrm>
          <a:prstGeom prst="line">
            <a:avLst/>
          </a:prstGeom>
          <a:noFill/>
          <a:ln w="25400">
            <a:solidFill>
              <a:schemeClr val="accent6"/>
            </a:solidFill>
            <a:prstDash val="solid"/>
            <a:tailEnd type="triangle"/>
          </a:ln>
        </p:spPr>
        <p:txBody>
          <a:bodyPr/>
          <a:lstStyle/>
          <a:p>
            <a:endParaRPr lang="en-US" sz="2400"/>
          </a:p>
        </p:txBody>
      </p:sp>
      <p:sp>
        <p:nvSpPr>
          <p:cNvPr id="42" name="Outcome"/>
          <p:cNvSpPr/>
          <p:nvPr/>
        </p:nvSpPr>
        <p:spPr>
          <a:xfrm>
            <a:off x="7168896" y="3974592"/>
            <a:ext cx="4413504" cy="780288"/>
          </a:xfrm>
          <a:prstGeom prst="roundRect">
            <a:avLst>
              <a:gd name="adj" fmla="val 12500"/>
            </a:avLst>
          </a:prstGeom>
          <a:solidFill>
            <a:schemeClr val="accent5">
              <a:alpha val="20000"/>
            </a:schemeClr>
          </a:solidFill>
          <a:ln w="25400">
            <a:solidFill>
              <a:schemeClr val="accent5"/>
            </a:solidFill>
            <a:prstDash val="solid"/>
          </a:ln>
        </p:spPr>
        <p:txBody>
          <a:bodyPr/>
          <a:lstStyle/>
          <a:p>
            <a:endParaRPr lang="en-US" sz="2400"/>
          </a:p>
        </p:txBody>
      </p:sp>
      <p:sp>
        <p:nvSpPr>
          <p:cNvPr id="43" name="Text 41"/>
          <p:cNvSpPr txBox="1"/>
          <p:nvPr/>
        </p:nvSpPr>
        <p:spPr>
          <a:xfrm>
            <a:off x="7290816" y="3974592"/>
            <a:ext cx="4169664" cy="780288"/>
          </a:xfrm>
          <a:prstGeom prst="rect">
            <a:avLst/>
          </a:prstGeom>
          <a:noFill/>
        </p:spPr>
        <p:txBody>
          <a:bodyPr wrap="square" lIns="0" tIns="0" rIns="0" bIns="0" rtlCol="0" anchor="ctr"/>
          <a:lstStyle/>
          <a:p>
            <a:r>
              <a:rPr lang="en-US" sz="1600" dirty="0"/>
              <a:t>YES: promote it. Go live for everyone and keep a rollback point.</a:t>
            </a:r>
          </a:p>
        </p:txBody>
      </p:sp>
      <p:sp>
        <p:nvSpPr>
          <p:cNvPr id="44" name="Outcome"/>
          <p:cNvSpPr/>
          <p:nvPr/>
        </p:nvSpPr>
        <p:spPr>
          <a:xfrm>
            <a:off x="7168896" y="4852416"/>
            <a:ext cx="4413504" cy="780288"/>
          </a:xfrm>
          <a:prstGeom prst="roundRect">
            <a:avLst>
              <a:gd name="adj" fmla="val 12500"/>
            </a:avLst>
          </a:prstGeom>
          <a:solidFill>
            <a:schemeClr val="accent3">
              <a:alpha val="20000"/>
            </a:schemeClr>
          </a:solidFill>
          <a:ln w="25400">
            <a:solidFill>
              <a:schemeClr val="accent3"/>
            </a:solidFill>
            <a:prstDash val="solid"/>
          </a:ln>
        </p:spPr>
        <p:txBody>
          <a:bodyPr/>
          <a:lstStyle/>
          <a:p>
            <a:endParaRPr lang="en-US" sz="2400"/>
          </a:p>
        </p:txBody>
      </p:sp>
      <p:sp>
        <p:nvSpPr>
          <p:cNvPr id="45" name="Text 43"/>
          <p:cNvSpPr txBox="1"/>
          <p:nvPr/>
        </p:nvSpPr>
        <p:spPr>
          <a:xfrm>
            <a:off x="7290816" y="4852416"/>
            <a:ext cx="4169664" cy="780288"/>
          </a:xfrm>
          <a:prstGeom prst="rect">
            <a:avLst/>
          </a:prstGeom>
          <a:noFill/>
        </p:spPr>
        <p:txBody>
          <a:bodyPr wrap="square" lIns="0" tIns="0" rIns="0" bIns="0" rtlCol="0" anchor="ctr"/>
          <a:lstStyle/>
          <a:p>
            <a:r>
              <a:rPr lang="en-US" sz="1600" dirty="0"/>
              <a:t>NO: stop, roll back to the last good version and open an incident.</a:t>
            </a:r>
          </a:p>
        </p:txBody>
      </p:sp>
      <p:sp>
        <p:nvSpPr>
          <p:cNvPr id="46" name="Connector"/>
          <p:cNvSpPr/>
          <p:nvPr/>
        </p:nvSpPr>
        <p:spPr>
          <a:xfrm>
            <a:off x="6851904" y="4364736"/>
            <a:ext cx="316992" cy="0"/>
          </a:xfrm>
          <a:prstGeom prst="line">
            <a:avLst/>
          </a:prstGeom>
          <a:noFill/>
          <a:ln w="25400">
            <a:solidFill>
              <a:schemeClr val="accent5"/>
            </a:solidFill>
            <a:prstDash val="solid"/>
            <a:tailEnd type="triangle"/>
          </a:ln>
        </p:spPr>
        <p:txBody>
          <a:bodyPr/>
          <a:lstStyle/>
          <a:p>
            <a:endParaRPr lang="en-US" sz="2400"/>
          </a:p>
        </p:txBody>
      </p:sp>
      <p:sp>
        <p:nvSpPr>
          <p:cNvPr id="47" name="Connector"/>
          <p:cNvSpPr/>
          <p:nvPr/>
        </p:nvSpPr>
        <p:spPr>
          <a:xfrm>
            <a:off x="6851904" y="5242560"/>
            <a:ext cx="316992" cy="0"/>
          </a:xfrm>
          <a:prstGeom prst="line">
            <a:avLst/>
          </a:prstGeom>
          <a:noFill/>
          <a:ln w="25400">
            <a:solidFill>
              <a:schemeClr val="accent3"/>
            </a:solidFill>
            <a:prstDash val="solid"/>
            <a:tailEnd type="triangle"/>
          </a:ln>
        </p:spPr>
        <p:txBody>
          <a:bodyPr/>
          <a:lstStyle/>
          <a:p>
            <a:endParaRPr lang="en-US" sz="2400"/>
          </a:p>
        </p:txBody>
      </p:sp>
      <p:sp>
        <p:nvSpPr>
          <p:cNvPr id="48" name="Text 46"/>
          <p:cNvSpPr txBox="1"/>
          <p:nvPr/>
        </p:nvSpPr>
        <p:spPr>
          <a:xfrm>
            <a:off x="609600" y="5827776"/>
            <a:ext cx="10972800" cy="426720"/>
          </a:xfrm>
          <a:prstGeom prst="rect">
            <a:avLst/>
          </a:prstGeom>
          <a:noFill/>
        </p:spPr>
        <p:txBody>
          <a:bodyPr wrap="square" lIns="0" tIns="0" rIns="0" bIns="0" rtlCol="0" anchor="t"/>
          <a:lstStyle/>
          <a:p>
            <a:r>
              <a:rPr lang="en-US" sz="1600" b="1" dirty="0">
                <a:solidFill>
                  <a:schemeClr val="accent6"/>
                </a:solidFill>
              </a:rPr>
              <a:t>Canary </a:t>
            </a:r>
            <a:r>
              <a:rPr lang="en-US" sz="1600" dirty="0">
                <a:solidFill>
                  <a:schemeClr val="accent6"/>
                </a:solidFill>
              </a:rPr>
              <a:t>= a small group of users tries the new version first.   </a:t>
            </a:r>
            <a:r>
              <a:rPr lang="en-US" sz="1600" b="1" dirty="0">
                <a:solidFill>
                  <a:schemeClr val="accent6"/>
                </a:solidFill>
              </a:rPr>
              <a:t>CI </a:t>
            </a:r>
            <a:r>
              <a:rPr lang="en-US" sz="1600" dirty="0">
                <a:solidFill>
                  <a:schemeClr val="accent6"/>
                </a:solidFill>
              </a:rPr>
              <a:t>= an automatic test pipeline.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p:spPr>
        <p:txBody>
          <a:bodyPr wrap="square" lIns="0" tIns="0" rIns="0" bIns="0" rtlCol="0" anchor="ctr"/>
          <a:lstStyle/>
          <a:p>
            <a:r>
              <a:rPr lang="en-US" dirty="0"/>
              <a:t>Workflow 2: after release</a:t>
            </a:r>
          </a:p>
        </p:txBody>
      </p:sp>
      <p:sp>
        <p:nvSpPr>
          <p:cNvPr id="3" name="Text 0"/>
          <p:cNvSpPr>
            <a:spLocks noGrp="1"/>
          </p:cNvSpPr>
          <p:nvPr>
            <p:ph type="body" idx="101"/>
          </p:nvPr>
        </p:nvSpPr>
        <p:spPr>
          <a:prstGeom prst="rect">
            <a:avLst/>
          </a:prstGeom>
          <a:noFill/>
        </p:spPr>
        <p:txBody>
          <a:bodyPr wrap="square" lIns="0" tIns="0" rIns="0" bIns="0" rtlCol="0" anchor="t"/>
          <a:lstStyle/>
          <a:p>
            <a:r>
              <a:rPr lang="en-US" dirty="0"/>
              <a:t>Stage C records everything. Stage D measures, decides and learns.</a:t>
            </a:r>
          </a:p>
        </p:txBody>
      </p:sp>
      <p:sp>
        <p:nvSpPr>
          <p:cNvPr id="55" name="Slide Number Placeholder 0"/>
          <p:cNvSpPr>
            <a:spLocks noGrp="1"/>
          </p:cNvSpPr>
          <p:nvPr>
            <p:ph type="sldNum" sz="quarter" idx="4294967295"/>
          </p:nvPr>
        </p:nvSpPr>
        <p:spPr>
          <a:xfrm>
            <a:off x="10972800" y="6339840"/>
            <a:ext cx="609600" cy="304800"/>
          </a:xfrm>
          <a:prstGeom prst="rect">
            <a:avLst/>
          </a:prstGeom>
        </p:spPr>
        <p:txBody>
          <a:bodyPr/>
          <a:lstStyle>
            <a:lvl1pPr>
              <a:defRPr sz="1335">
                <a:solidFill>
                  <a:schemeClr val="accent6"/>
                </a:solidFill>
              </a:defRPr>
            </a:lvl1pPr>
          </a:lstStyle>
          <a:p>
            <a:pPr algn="r"/>
            <a:fld id="{F7021451-1387-4CA6-816F-3879F97B5CBC}" type="slidenum">
              <a:rPr lang="en-US" b="0"/>
              <a:t>7</a:t>
            </a:fld>
            <a:endParaRPr lang="en-US"/>
          </a:p>
        </p:txBody>
      </p:sp>
      <p:sp>
        <p:nvSpPr>
          <p:cNvPr id="4" name="Lane C"/>
          <p:cNvSpPr/>
          <p:nvPr/>
        </p:nvSpPr>
        <p:spPr>
          <a:xfrm>
            <a:off x="609600" y="1828800"/>
            <a:ext cx="1584960" cy="1658112"/>
          </a:xfrm>
          <a:prstGeom prst="roundRect">
            <a:avLst>
              <a:gd name="adj" fmla="val 6154"/>
            </a:avLst>
          </a:prstGeom>
          <a:solidFill>
            <a:schemeClr val="accent1"/>
          </a:solidFill>
          <a:effectLst>
            <a:outerShdw blurRad="88900" dist="25400" dir="5400000" algn="bl" rotWithShape="0">
              <a:srgbClr val="0B1633">
                <a:alpha val="13000"/>
              </a:srgbClr>
            </a:outerShdw>
          </a:effectLst>
        </p:spPr>
        <p:txBody>
          <a:bodyPr/>
          <a:lstStyle/>
          <a:p>
            <a:endParaRPr lang="en-US" sz="2400"/>
          </a:p>
        </p:txBody>
      </p:sp>
      <p:sp>
        <p:nvSpPr>
          <p:cNvPr id="5" name="Text 3"/>
          <p:cNvSpPr txBox="1"/>
          <p:nvPr/>
        </p:nvSpPr>
        <p:spPr>
          <a:xfrm>
            <a:off x="792480" y="1975104"/>
            <a:ext cx="1219200" cy="609600"/>
          </a:xfrm>
          <a:prstGeom prst="rect">
            <a:avLst/>
          </a:prstGeom>
          <a:noFill/>
        </p:spPr>
        <p:txBody>
          <a:bodyPr wrap="square" lIns="0" tIns="0" rIns="0" bIns="0" rtlCol="0" anchor="t"/>
          <a:lstStyle/>
          <a:p>
            <a:r>
              <a:rPr lang="en-US" sz="4000" b="1" dirty="0">
                <a:solidFill>
                  <a:schemeClr val="bg1"/>
                </a:solidFill>
                <a:latin typeface="Cambria" panose="02040503050406030204" pitchFamily="34" charset="0"/>
                <a:ea typeface="Cambria" panose="02040503050406030204" pitchFamily="34" charset="-122"/>
                <a:cs typeface="Cambria" panose="02040503050406030204" pitchFamily="34" charset="-120"/>
              </a:rPr>
              <a:t>C</a:t>
            </a:r>
            <a:endParaRPr lang="en-US" sz="4000" dirty="0"/>
          </a:p>
        </p:txBody>
      </p:sp>
      <p:sp>
        <p:nvSpPr>
          <p:cNvPr id="6" name="Text 4"/>
          <p:cNvSpPr txBox="1"/>
          <p:nvPr/>
        </p:nvSpPr>
        <p:spPr>
          <a:xfrm>
            <a:off x="792480" y="2682240"/>
            <a:ext cx="1219200" cy="682752"/>
          </a:xfrm>
          <a:prstGeom prst="rect">
            <a:avLst/>
          </a:prstGeom>
          <a:noFill/>
        </p:spPr>
        <p:txBody>
          <a:bodyPr wrap="square" lIns="0" tIns="0" rIns="0" bIns="0" rtlCol="0" anchor="t"/>
          <a:lstStyle/>
          <a:p>
            <a:r>
              <a:rPr lang="en-US" sz="1735" b="1" dirty="0">
                <a:solidFill>
                  <a:schemeClr val="bg1"/>
                </a:solidFill>
              </a:rPr>
              <a:t>Record while running</a:t>
            </a:r>
            <a:endParaRPr lang="en-US" sz="1735" dirty="0"/>
          </a:p>
        </p:txBody>
      </p:sp>
      <p:sp>
        <p:nvSpPr>
          <p:cNvPr id="7" name="Lane D"/>
          <p:cNvSpPr/>
          <p:nvPr/>
        </p:nvSpPr>
        <p:spPr>
          <a:xfrm>
            <a:off x="609600" y="3974592"/>
            <a:ext cx="1584960" cy="1658112"/>
          </a:xfrm>
          <a:prstGeom prst="roundRect">
            <a:avLst>
              <a:gd name="adj" fmla="val 6154"/>
            </a:avLst>
          </a:prstGeom>
          <a:solidFill>
            <a:schemeClr val="accent4"/>
          </a:solidFill>
          <a:effectLst>
            <a:outerShdw blurRad="88900" dist="25400" dir="5400000" algn="bl" rotWithShape="0">
              <a:srgbClr val="0B1633">
                <a:alpha val="13000"/>
              </a:srgbClr>
            </a:outerShdw>
          </a:effectLst>
        </p:spPr>
        <p:txBody>
          <a:bodyPr/>
          <a:lstStyle/>
          <a:p>
            <a:endParaRPr lang="en-US" sz="2400"/>
          </a:p>
        </p:txBody>
      </p:sp>
      <p:sp>
        <p:nvSpPr>
          <p:cNvPr id="8" name="Text 6"/>
          <p:cNvSpPr txBox="1"/>
          <p:nvPr/>
        </p:nvSpPr>
        <p:spPr>
          <a:xfrm>
            <a:off x="792480" y="4120896"/>
            <a:ext cx="1219200" cy="609600"/>
          </a:xfrm>
          <a:prstGeom prst="rect">
            <a:avLst/>
          </a:prstGeom>
          <a:noFill/>
        </p:spPr>
        <p:txBody>
          <a:bodyPr wrap="square" lIns="0" tIns="0" rIns="0" bIns="0" rtlCol="0" anchor="t"/>
          <a:lstStyle/>
          <a:p>
            <a:r>
              <a:rPr lang="en-US" sz="4000" b="1" dirty="0">
                <a:solidFill>
                  <a:schemeClr val="bg1"/>
                </a:solidFill>
                <a:latin typeface="Cambria" panose="02040503050406030204" pitchFamily="34" charset="0"/>
                <a:ea typeface="Cambria" panose="02040503050406030204" pitchFamily="34" charset="-122"/>
                <a:cs typeface="Cambria" panose="02040503050406030204" pitchFamily="34" charset="-120"/>
              </a:rPr>
              <a:t>D</a:t>
            </a:r>
            <a:endParaRPr lang="en-US" sz="4000" dirty="0"/>
          </a:p>
        </p:txBody>
      </p:sp>
      <p:sp>
        <p:nvSpPr>
          <p:cNvPr id="9" name="Text 7"/>
          <p:cNvSpPr txBox="1"/>
          <p:nvPr/>
        </p:nvSpPr>
        <p:spPr>
          <a:xfrm>
            <a:off x="792480" y="4828032"/>
            <a:ext cx="1219200" cy="682752"/>
          </a:xfrm>
          <a:prstGeom prst="rect">
            <a:avLst/>
          </a:prstGeom>
          <a:noFill/>
        </p:spPr>
        <p:txBody>
          <a:bodyPr wrap="square" lIns="0" tIns="0" rIns="0" bIns="0" rtlCol="0" anchor="t"/>
          <a:lstStyle/>
          <a:p>
            <a:r>
              <a:rPr lang="en-US" sz="1735" b="1" dirty="0">
                <a:solidFill>
                  <a:schemeClr val="bg1"/>
                </a:solidFill>
              </a:rPr>
              <a:t>Measure, decide, learn</a:t>
            </a:r>
            <a:endParaRPr lang="en-US" sz="1735" dirty="0"/>
          </a:p>
        </p:txBody>
      </p:sp>
      <p:sp>
        <p:nvSpPr>
          <p:cNvPr id="10" name="Node Agents run"/>
          <p:cNvSpPr/>
          <p:nvPr/>
        </p:nvSpPr>
        <p:spPr>
          <a:xfrm>
            <a:off x="2438400" y="1828800"/>
            <a:ext cx="2048256" cy="1658112"/>
          </a:xfrm>
          <a:prstGeom prst="roundRect">
            <a:avLst>
              <a:gd name="adj" fmla="val 5882"/>
            </a:avLst>
          </a:prstGeom>
          <a:solidFill>
            <a:schemeClr val="bg1"/>
          </a:solidFill>
          <a:ln w="19050">
            <a:solidFill>
              <a:schemeClr val="accent1"/>
            </a:solidFill>
            <a:prstDash val="solid"/>
          </a:ln>
          <a:effectLst>
            <a:outerShdw blurRad="88900" dist="25400" dir="5400000" algn="bl" rotWithShape="0">
              <a:srgbClr val="0B1633">
                <a:alpha val="13000"/>
              </a:srgbClr>
            </a:outerShdw>
          </a:effectLst>
        </p:spPr>
        <p:txBody>
          <a:bodyPr/>
          <a:lstStyle/>
          <a:p>
            <a:endParaRPr lang="en-US" sz="2400"/>
          </a:p>
        </p:txBody>
      </p:sp>
      <p:sp>
        <p:nvSpPr>
          <p:cNvPr id="11" name="Badge C1"/>
          <p:cNvSpPr txBox="1"/>
          <p:nvPr/>
        </p:nvSpPr>
        <p:spPr>
          <a:xfrm>
            <a:off x="2560320" y="1950720"/>
            <a:ext cx="414528" cy="414528"/>
          </a:xfrm>
          <a:prstGeom prst="ellipse">
            <a:avLst/>
          </a:prstGeom>
          <a:solidFill>
            <a:schemeClr val="accent1"/>
          </a:solidFill>
        </p:spPr>
        <p:txBody>
          <a:bodyPr wrap="square" lIns="0" tIns="0" rIns="0" bIns="0" rtlCol="0" anchor="ctr"/>
          <a:lstStyle/>
          <a:p>
            <a:pPr algn="ctr"/>
            <a:r>
              <a:rPr lang="en-US" sz="1335" b="1" dirty="0">
                <a:solidFill>
                  <a:schemeClr val="bg1"/>
                </a:solidFill>
              </a:rPr>
              <a:t>C1</a:t>
            </a:r>
            <a:endParaRPr lang="en-US" sz="1335" dirty="0"/>
          </a:p>
        </p:txBody>
      </p:sp>
      <p:sp>
        <p:nvSpPr>
          <p:cNvPr id="12" name="Text 10"/>
          <p:cNvSpPr txBox="1"/>
          <p:nvPr/>
        </p:nvSpPr>
        <p:spPr>
          <a:xfrm>
            <a:off x="2584704" y="2438400"/>
            <a:ext cx="1755648" cy="316992"/>
          </a:xfrm>
          <a:prstGeom prst="rect">
            <a:avLst/>
          </a:prstGeom>
          <a:noFill/>
        </p:spPr>
        <p:txBody>
          <a:bodyPr wrap="square" lIns="0" tIns="0" rIns="0" bIns="0" rtlCol="0" anchor="t"/>
          <a:lstStyle/>
          <a:p>
            <a:r>
              <a:rPr lang="en-US" sz="1735" b="1" dirty="0"/>
              <a:t>Agents run</a:t>
            </a:r>
            <a:endParaRPr lang="en-US" sz="1735" dirty="0"/>
          </a:p>
        </p:txBody>
      </p:sp>
      <p:sp>
        <p:nvSpPr>
          <p:cNvPr id="13" name="Text 11"/>
          <p:cNvSpPr txBox="1"/>
          <p:nvPr/>
        </p:nvSpPr>
        <p:spPr>
          <a:xfrm>
            <a:off x="2584704" y="2779776"/>
            <a:ext cx="1755648" cy="633984"/>
          </a:xfrm>
          <a:prstGeom prst="rect">
            <a:avLst/>
          </a:prstGeom>
          <a:noFill/>
        </p:spPr>
        <p:txBody>
          <a:bodyPr wrap="square" lIns="0" tIns="0" rIns="0" bIns="0" rtlCol="0" anchor="t"/>
          <a:lstStyle/>
          <a:p>
            <a:r>
              <a:rPr lang="en-US" sz="1600" dirty="0"/>
              <a:t>Handle real or test requests</a:t>
            </a:r>
          </a:p>
        </p:txBody>
      </p:sp>
      <p:sp>
        <p:nvSpPr>
          <p:cNvPr id="14" name="Connector"/>
          <p:cNvSpPr/>
          <p:nvPr/>
        </p:nvSpPr>
        <p:spPr>
          <a:xfrm>
            <a:off x="4486656" y="2657856"/>
            <a:ext cx="316992" cy="0"/>
          </a:xfrm>
          <a:prstGeom prst="line">
            <a:avLst/>
          </a:prstGeom>
          <a:noFill/>
          <a:ln w="25400">
            <a:solidFill>
              <a:schemeClr val="accent6"/>
            </a:solidFill>
            <a:prstDash val="solid"/>
            <a:tailEnd type="triangle"/>
          </a:ln>
        </p:spPr>
        <p:txBody>
          <a:bodyPr/>
          <a:lstStyle/>
          <a:p>
            <a:endParaRPr lang="en-US" sz="2400"/>
          </a:p>
        </p:txBody>
      </p:sp>
      <p:sp>
        <p:nvSpPr>
          <p:cNvPr id="15" name="Node Record steps"/>
          <p:cNvSpPr/>
          <p:nvPr/>
        </p:nvSpPr>
        <p:spPr>
          <a:xfrm>
            <a:off x="4803648" y="1828800"/>
            <a:ext cx="2048256" cy="1658112"/>
          </a:xfrm>
          <a:prstGeom prst="roundRect">
            <a:avLst>
              <a:gd name="adj" fmla="val 5882"/>
            </a:avLst>
          </a:prstGeom>
          <a:solidFill>
            <a:schemeClr val="bg1"/>
          </a:solidFill>
          <a:ln w="19050">
            <a:solidFill>
              <a:schemeClr val="accent1"/>
            </a:solidFill>
            <a:prstDash val="solid"/>
          </a:ln>
          <a:effectLst>
            <a:outerShdw blurRad="88900" dist="25400" dir="5400000" algn="bl" rotWithShape="0">
              <a:srgbClr val="0B1633">
                <a:alpha val="13000"/>
              </a:srgbClr>
            </a:outerShdw>
          </a:effectLst>
        </p:spPr>
        <p:txBody>
          <a:bodyPr/>
          <a:lstStyle/>
          <a:p>
            <a:endParaRPr lang="en-US" sz="2400"/>
          </a:p>
        </p:txBody>
      </p:sp>
      <p:sp>
        <p:nvSpPr>
          <p:cNvPr id="16" name="Badge C2"/>
          <p:cNvSpPr txBox="1"/>
          <p:nvPr/>
        </p:nvSpPr>
        <p:spPr>
          <a:xfrm>
            <a:off x="4925568" y="1950720"/>
            <a:ext cx="414528" cy="414528"/>
          </a:xfrm>
          <a:prstGeom prst="ellipse">
            <a:avLst/>
          </a:prstGeom>
          <a:solidFill>
            <a:schemeClr val="accent1"/>
          </a:solidFill>
        </p:spPr>
        <p:txBody>
          <a:bodyPr wrap="square" lIns="0" tIns="0" rIns="0" bIns="0" rtlCol="0" anchor="ctr"/>
          <a:lstStyle/>
          <a:p>
            <a:pPr algn="ctr"/>
            <a:r>
              <a:rPr lang="en-US" sz="1335" b="1" dirty="0">
                <a:solidFill>
                  <a:schemeClr val="bg1"/>
                </a:solidFill>
              </a:rPr>
              <a:t>C2</a:t>
            </a:r>
            <a:endParaRPr lang="en-US" sz="1335" dirty="0"/>
          </a:p>
        </p:txBody>
      </p:sp>
      <p:sp>
        <p:nvSpPr>
          <p:cNvPr id="17" name="Text 15"/>
          <p:cNvSpPr txBox="1"/>
          <p:nvPr/>
        </p:nvSpPr>
        <p:spPr>
          <a:xfrm>
            <a:off x="4949952" y="2438400"/>
            <a:ext cx="1755648" cy="316992"/>
          </a:xfrm>
          <a:prstGeom prst="rect">
            <a:avLst/>
          </a:prstGeom>
          <a:noFill/>
        </p:spPr>
        <p:txBody>
          <a:bodyPr wrap="square" lIns="0" tIns="0" rIns="0" bIns="0" rtlCol="0" anchor="t"/>
          <a:lstStyle/>
          <a:p>
            <a:r>
              <a:rPr lang="en-US" sz="1735" b="1" dirty="0"/>
              <a:t>Record steps</a:t>
            </a:r>
            <a:endParaRPr lang="en-US" sz="1735" dirty="0"/>
          </a:p>
        </p:txBody>
      </p:sp>
      <p:sp>
        <p:nvSpPr>
          <p:cNvPr id="18" name="Text 16"/>
          <p:cNvSpPr txBox="1"/>
          <p:nvPr/>
        </p:nvSpPr>
        <p:spPr>
          <a:xfrm>
            <a:off x="4949952" y="2779776"/>
            <a:ext cx="1755648" cy="633984"/>
          </a:xfrm>
          <a:prstGeom prst="rect">
            <a:avLst/>
          </a:prstGeom>
          <a:noFill/>
        </p:spPr>
        <p:txBody>
          <a:bodyPr wrap="square" lIns="0" tIns="0" rIns="0" bIns="0" rtlCol="0" anchor="t"/>
          <a:lstStyle/>
          <a:p>
            <a:r>
              <a:rPr lang="en-US" sz="1600" dirty="0"/>
              <a:t>Steps, errors, speed and cost</a:t>
            </a:r>
          </a:p>
        </p:txBody>
      </p:sp>
      <p:sp>
        <p:nvSpPr>
          <p:cNvPr id="19" name="Connector"/>
          <p:cNvSpPr/>
          <p:nvPr/>
        </p:nvSpPr>
        <p:spPr>
          <a:xfrm>
            <a:off x="6851904" y="2657856"/>
            <a:ext cx="316992" cy="0"/>
          </a:xfrm>
          <a:prstGeom prst="line">
            <a:avLst/>
          </a:prstGeom>
          <a:noFill/>
          <a:ln w="25400">
            <a:solidFill>
              <a:schemeClr val="accent6"/>
            </a:solidFill>
            <a:prstDash val="solid"/>
            <a:tailEnd type="triangle"/>
          </a:ln>
        </p:spPr>
        <p:txBody>
          <a:bodyPr/>
          <a:lstStyle/>
          <a:p>
            <a:endParaRPr lang="en-US" sz="2400"/>
          </a:p>
        </p:txBody>
      </p:sp>
      <p:sp>
        <p:nvSpPr>
          <p:cNvPr id="20" name="Node Clean the data"/>
          <p:cNvSpPr/>
          <p:nvPr/>
        </p:nvSpPr>
        <p:spPr>
          <a:xfrm>
            <a:off x="7168896" y="1828800"/>
            <a:ext cx="2048256" cy="1658112"/>
          </a:xfrm>
          <a:prstGeom prst="roundRect">
            <a:avLst>
              <a:gd name="adj" fmla="val 5882"/>
            </a:avLst>
          </a:prstGeom>
          <a:solidFill>
            <a:schemeClr val="bg1"/>
          </a:solidFill>
          <a:ln w="19050">
            <a:solidFill>
              <a:schemeClr val="accent1"/>
            </a:solidFill>
            <a:prstDash val="solid"/>
          </a:ln>
          <a:effectLst>
            <a:outerShdw blurRad="88900" dist="25400" dir="5400000" algn="bl" rotWithShape="0">
              <a:srgbClr val="0B1633">
                <a:alpha val="13000"/>
              </a:srgbClr>
            </a:outerShdw>
          </a:effectLst>
        </p:spPr>
        <p:txBody>
          <a:bodyPr/>
          <a:lstStyle/>
          <a:p>
            <a:endParaRPr lang="en-US" sz="2400"/>
          </a:p>
        </p:txBody>
      </p:sp>
      <p:sp>
        <p:nvSpPr>
          <p:cNvPr id="21" name="Badge C3"/>
          <p:cNvSpPr txBox="1"/>
          <p:nvPr/>
        </p:nvSpPr>
        <p:spPr>
          <a:xfrm>
            <a:off x="7290816" y="1950720"/>
            <a:ext cx="414528" cy="414528"/>
          </a:xfrm>
          <a:prstGeom prst="ellipse">
            <a:avLst/>
          </a:prstGeom>
          <a:solidFill>
            <a:schemeClr val="accent1"/>
          </a:solidFill>
        </p:spPr>
        <p:txBody>
          <a:bodyPr wrap="square" lIns="0" tIns="0" rIns="0" bIns="0" rtlCol="0" anchor="ctr"/>
          <a:lstStyle/>
          <a:p>
            <a:pPr algn="ctr"/>
            <a:r>
              <a:rPr lang="en-US" sz="1335" b="1" dirty="0">
                <a:solidFill>
                  <a:schemeClr val="bg1"/>
                </a:solidFill>
              </a:rPr>
              <a:t>C3</a:t>
            </a:r>
            <a:endParaRPr lang="en-US" sz="1335" dirty="0"/>
          </a:p>
        </p:txBody>
      </p:sp>
      <p:sp>
        <p:nvSpPr>
          <p:cNvPr id="22" name="Text 20"/>
          <p:cNvSpPr txBox="1"/>
          <p:nvPr/>
        </p:nvSpPr>
        <p:spPr>
          <a:xfrm>
            <a:off x="7315200" y="2438400"/>
            <a:ext cx="1755648" cy="316992"/>
          </a:xfrm>
          <a:prstGeom prst="rect">
            <a:avLst/>
          </a:prstGeom>
          <a:noFill/>
        </p:spPr>
        <p:txBody>
          <a:bodyPr wrap="square" lIns="0" tIns="0" rIns="0" bIns="0" rtlCol="0" anchor="t"/>
          <a:lstStyle/>
          <a:p>
            <a:r>
              <a:rPr lang="en-US" sz="1735" b="1" dirty="0"/>
              <a:t>Clean the data</a:t>
            </a:r>
            <a:endParaRPr lang="en-US" sz="1735" dirty="0"/>
          </a:p>
        </p:txBody>
      </p:sp>
      <p:sp>
        <p:nvSpPr>
          <p:cNvPr id="23" name="Text 21"/>
          <p:cNvSpPr txBox="1"/>
          <p:nvPr/>
        </p:nvSpPr>
        <p:spPr>
          <a:xfrm>
            <a:off x="7315200" y="2779776"/>
            <a:ext cx="1755648" cy="633984"/>
          </a:xfrm>
          <a:prstGeom prst="rect">
            <a:avLst/>
          </a:prstGeom>
          <a:noFill/>
        </p:spPr>
        <p:txBody>
          <a:bodyPr wrap="square" lIns="0" tIns="0" rIns="0" bIns="0" rtlCol="0" anchor="t"/>
          <a:lstStyle/>
          <a:p>
            <a:r>
              <a:rPr lang="en-US" sz="1600" dirty="0"/>
              <a:t>Remove private data. One format.</a:t>
            </a:r>
          </a:p>
        </p:txBody>
      </p:sp>
      <p:sp>
        <p:nvSpPr>
          <p:cNvPr id="24" name="Connector"/>
          <p:cNvSpPr/>
          <p:nvPr/>
        </p:nvSpPr>
        <p:spPr>
          <a:xfrm>
            <a:off x="9217152" y="2657856"/>
            <a:ext cx="316992" cy="0"/>
          </a:xfrm>
          <a:prstGeom prst="line">
            <a:avLst/>
          </a:prstGeom>
          <a:noFill/>
          <a:ln w="25400">
            <a:solidFill>
              <a:schemeClr val="accent6"/>
            </a:solidFill>
            <a:prstDash val="solid"/>
            <a:tailEnd type="triangle"/>
          </a:ln>
        </p:spPr>
        <p:txBody>
          <a:bodyPr/>
          <a:lstStyle/>
          <a:p>
            <a:endParaRPr lang="en-US" sz="2400"/>
          </a:p>
        </p:txBody>
      </p:sp>
      <p:sp>
        <p:nvSpPr>
          <p:cNvPr id="25" name="Node View traces"/>
          <p:cNvSpPr/>
          <p:nvPr/>
        </p:nvSpPr>
        <p:spPr>
          <a:xfrm>
            <a:off x="9534144" y="1828800"/>
            <a:ext cx="2048256" cy="1658112"/>
          </a:xfrm>
          <a:prstGeom prst="roundRect">
            <a:avLst>
              <a:gd name="adj" fmla="val 5882"/>
            </a:avLst>
          </a:prstGeom>
          <a:solidFill>
            <a:schemeClr val="bg1"/>
          </a:solidFill>
          <a:ln w="19050">
            <a:solidFill>
              <a:schemeClr val="accent1"/>
            </a:solidFill>
            <a:prstDash val="solid"/>
          </a:ln>
          <a:effectLst>
            <a:outerShdw blurRad="88900" dist="25400" dir="5400000" algn="bl" rotWithShape="0">
              <a:srgbClr val="0B1633">
                <a:alpha val="13000"/>
              </a:srgbClr>
            </a:outerShdw>
          </a:effectLst>
        </p:spPr>
        <p:txBody>
          <a:bodyPr/>
          <a:lstStyle/>
          <a:p>
            <a:endParaRPr lang="en-US" sz="2400"/>
          </a:p>
        </p:txBody>
      </p:sp>
      <p:sp>
        <p:nvSpPr>
          <p:cNvPr id="26" name="Badge C4"/>
          <p:cNvSpPr txBox="1"/>
          <p:nvPr/>
        </p:nvSpPr>
        <p:spPr>
          <a:xfrm>
            <a:off x="9656064" y="1950720"/>
            <a:ext cx="414528" cy="414528"/>
          </a:xfrm>
          <a:prstGeom prst="ellipse">
            <a:avLst/>
          </a:prstGeom>
          <a:solidFill>
            <a:schemeClr val="accent1"/>
          </a:solidFill>
        </p:spPr>
        <p:txBody>
          <a:bodyPr wrap="square" lIns="0" tIns="0" rIns="0" bIns="0" rtlCol="0" anchor="ctr"/>
          <a:lstStyle/>
          <a:p>
            <a:pPr algn="ctr"/>
            <a:r>
              <a:rPr lang="en-US" sz="1335" b="1" dirty="0">
                <a:solidFill>
                  <a:schemeClr val="bg1"/>
                </a:solidFill>
              </a:rPr>
              <a:t>C4</a:t>
            </a:r>
            <a:endParaRPr lang="en-US" sz="1335" dirty="0"/>
          </a:p>
        </p:txBody>
      </p:sp>
      <p:sp>
        <p:nvSpPr>
          <p:cNvPr id="27" name="Text 25"/>
          <p:cNvSpPr txBox="1"/>
          <p:nvPr/>
        </p:nvSpPr>
        <p:spPr>
          <a:xfrm>
            <a:off x="9680448" y="2438400"/>
            <a:ext cx="1755648" cy="316992"/>
          </a:xfrm>
          <a:prstGeom prst="rect">
            <a:avLst/>
          </a:prstGeom>
          <a:noFill/>
        </p:spPr>
        <p:txBody>
          <a:bodyPr wrap="square" lIns="0" tIns="0" rIns="0" bIns="0" rtlCol="0" anchor="t"/>
          <a:lstStyle/>
          <a:p>
            <a:r>
              <a:rPr lang="en-US" sz="1735" b="1" dirty="0"/>
              <a:t>View traces</a:t>
            </a:r>
            <a:endParaRPr lang="en-US" sz="1735" dirty="0"/>
          </a:p>
        </p:txBody>
      </p:sp>
      <p:sp>
        <p:nvSpPr>
          <p:cNvPr id="28" name="Text 26"/>
          <p:cNvSpPr txBox="1"/>
          <p:nvPr/>
        </p:nvSpPr>
        <p:spPr>
          <a:xfrm>
            <a:off x="9680448" y="2779776"/>
            <a:ext cx="1755648" cy="633984"/>
          </a:xfrm>
          <a:prstGeom prst="rect">
            <a:avLst/>
          </a:prstGeom>
          <a:noFill/>
        </p:spPr>
        <p:txBody>
          <a:bodyPr wrap="square" lIns="0" tIns="0" rIns="0" bIns="0" rtlCol="0" anchor="t"/>
          <a:lstStyle/>
          <a:p>
            <a:r>
              <a:rPr lang="en-US" sz="1600" dirty="0"/>
              <a:t>Langfuse and Phoenix show traces</a:t>
            </a:r>
          </a:p>
        </p:txBody>
      </p:sp>
      <p:sp>
        <p:nvSpPr>
          <p:cNvPr id="29" name="Connector"/>
          <p:cNvSpPr/>
          <p:nvPr/>
        </p:nvSpPr>
        <p:spPr>
          <a:xfrm>
            <a:off x="10558272" y="3486912"/>
            <a:ext cx="0" cy="243840"/>
          </a:xfrm>
          <a:prstGeom prst="line">
            <a:avLst/>
          </a:prstGeom>
          <a:noFill/>
          <a:ln w="25400">
            <a:solidFill>
              <a:schemeClr val="accent6"/>
            </a:solidFill>
            <a:prstDash val="solid"/>
          </a:ln>
        </p:spPr>
        <p:txBody>
          <a:bodyPr/>
          <a:lstStyle/>
          <a:p>
            <a:endParaRPr lang="en-US" sz="2400"/>
          </a:p>
        </p:txBody>
      </p:sp>
      <p:sp>
        <p:nvSpPr>
          <p:cNvPr id="30" name="Connector"/>
          <p:cNvSpPr/>
          <p:nvPr/>
        </p:nvSpPr>
        <p:spPr>
          <a:xfrm flipH="1">
            <a:off x="3462528" y="3730752"/>
            <a:ext cx="7095744" cy="0"/>
          </a:xfrm>
          <a:prstGeom prst="line">
            <a:avLst/>
          </a:prstGeom>
          <a:noFill/>
          <a:ln w="25400">
            <a:solidFill>
              <a:schemeClr val="accent6"/>
            </a:solidFill>
            <a:prstDash val="solid"/>
          </a:ln>
        </p:spPr>
        <p:txBody>
          <a:bodyPr/>
          <a:lstStyle/>
          <a:p>
            <a:endParaRPr lang="en-US" sz="2400"/>
          </a:p>
        </p:txBody>
      </p:sp>
      <p:sp>
        <p:nvSpPr>
          <p:cNvPr id="31" name="Connector"/>
          <p:cNvSpPr/>
          <p:nvPr/>
        </p:nvSpPr>
        <p:spPr>
          <a:xfrm>
            <a:off x="3462528" y="3730752"/>
            <a:ext cx="0" cy="243840"/>
          </a:xfrm>
          <a:prstGeom prst="line">
            <a:avLst/>
          </a:prstGeom>
          <a:noFill/>
          <a:ln w="25400">
            <a:solidFill>
              <a:schemeClr val="accent6"/>
            </a:solidFill>
            <a:prstDash val="solid"/>
            <a:tailEnd type="triangle"/>
          </a:ln>
        </p:spPr>
        <p:txBody>
          <a:bodyPr/>
          <a:lstStyle/>
          <a:p>
            <a:endParaRPr lang="en-US" sz="2400"/>
          </a:p>
        </p:txBody>
      </p:sp>
      <p:sp>
        <p:nvSpPr>
          <p:cNvPr id="32" name="Text 30"/>
          <p:cNvSpPr txBox="1"/>
          <p:nvPr/>
        </p:nvSpPr>
        <p:spPr>
          <a:xfrm>
            <a:off x="4754880" y="3742944"/>
            <a:ext cx="4876800" cy="243840"/>
          </a:xfrm>
          <a:prstGeom prst="rect">
            <a:avLst/>
          </a:prstGeom>
          <a:noFill/>
        </p:spPr>
        <p:txBody>
          <a:bodyPr wrap="square" lIns="0" tIns="0" rIns="0" bIns="0" rtlCol="0" anchor="t"/>
          <a:lstStyle/>
          <a:p>
            <a:pPr algn="ctr"/>
            <a:r>
              <a:rPr lang="en-US" sz="1335" dirty="0">
                <a:solidFill>
                  <a:schemeClr val="accent6"/>
                </a:solidFill>
              </a:rPr>
              <a:t>All results are stored in one place</a:t>
            </a:r>
            <a:endParaRPr lang="en-US" sz="1335" dirty="0"/>
          </a:p>
        </p:txBody>
      </p:sp>
      <p:sp>
        <p:nvSpPr>
          <p:cNvPr id="33" name="Node Compare"/>
          <p:cNvSpPr/>
          <p:nvPr/>
        </p:nvSpPr>
        <p:spPr>
          <a:xfrm>
            <a:off x="2438400" y="3974592"/>
            <a:ext cx="2048256" cy="1658112"/>
          </a:xfrm>
          <a:prstGeom prst="roundRect">
            <a:avLst>
              <a:gd name="adj" fmla="val 5882"/>
            </a:avLst>
          </a:prstGeom>
          <a:solidFill>
            <a:schemeClr val="bg1"/>
          </a:solidFill>
          <a:ln w="19050">
            <a:solidFill>
              <a:schemeClr val="accent4"/>
            </a:solidFill>
            <a:prstDash val="solid"/>
          </a:ln>
          <a:effectLst>
            <a:outerShdw blurRad="88900" dist="25400" dir="5400000" algn="bl" rotWithShape="0">
              <a:srgbClr val="0B1633">
                <a:alpha val="13000"/>
              </a:srgbClr>
            </a:outerShdw>
          </a:effectLst>
        </p:spPr>
        <p:txBody>
          <a:bodyPr/>
          <a:lstStyle/>
          <a:p>
            <a:endParaRPr lang="en-US" sz="2400"/>
          </a:p>
        </p:txBody>
      </p:sp>
      <p:sp>
        <p:nvSpPr>
          <p:cNvPr id="34" name="Badge D1"/>
          <p:cNvSpPr txBox="1"/>
          <p:nvPr/>
        </p:nvSpPr>
        <p:spPr>
          <a:xfrm>
            <a:off x="2560320" y="4096512"/>
            <a:ext cx="414528" cy="414528"/>
          </a:xfrm>
          <a:prstGeom prst="ellipse">
            <a:avLst/>
          </a:prstGeom>
          <a:solidFill>
            <a:schemeClr val="accent4"/>
          </a:solidFill>
        </p:spPr>
        <p:txBody>
          <a:bodyPr wrap="square" lIns="0" tIns="0" rIns="0" bIns="0" rtlCol="0" anchor="ctr"/>
          <a:lstStyle/>
          <a:p>
            <a:pPr algn="ctr"/>
            <a:r>
              <a:rPr lang="en-US" sz="1335" b="1" dirty="0">
                <a:solidFill>
                  <a:schemeClr val="bg1"/>
                </a:solidFill>
              </a:rPr>
              <a:t>D1</a:t>
            </a:r>
            <a:endParaRPr lang="en-US" sz="1335" dirty="0"/>
          </a:p>
        </p:txBody>
      </p:sp>
      <p:sp>
        <p:nvSpPr>
          <p:cNvPr id="35" name="Text 33"/>
          <p:cNvSpPr txBox="1"/>
          <p:nvPr/>
        </p:nvSpPr>
        <p:spPr>
          <a:xfrm>
            <a:off x="2584704" y="4584192"/>
            <a:ext cx="1755648" cy="316992"/>
          </a:xfrm>
          <a:prstGeom prst="rect">
            <a:avLst/>
          </a:prstGeom>
          <a:noFill/>
        </p:spPr>
        <p:txBody>
          <a:bodyPr wrap="square" lIns="0" tIns="0" rIns="0" bIns="0" rtlCol="0" anchor="t"/>
          <a:lstStyle/>
          <a:p>
            <a:r>
              <a:rPr lang="en-US" sz="1735" b="1" dirty="0"/>
              <a:t>Compare</a:t>
            </a:r>
            <a:endParaRPr lang="en-US" sz="1735" dirty="0"/>
          </a:p>
        </p:txBody>
      </p:sp>
      <p:sp>
        <p:nvSpPr>
          <p:cNvPr id="36" name="Text 34"/>
          <p:cNvSpPr txBox="1"/>
          <p:nvPr/>
        </p:nvSpPr>
        <p:spPr>
          <a:xfrm>
            <a:off x="2584704" y="4925568"/>
            <a:ext cx="1755648" cy="633984"/>
          </a:xfrm>
          <a:prstGeom prst="rect">
            <a:avLst/>
          </a:prstGeom>
          <a:noFill/>
        </p:spPr>
        <p:txBody>
          <a:bodyPr wrap="square" lIns="0" tIns="0" rIns="0" bIns="0" rtlCol="0" anchor="t"/>
          <a:lstStyle/>
          <a:p>
            <a:r>
              <a:rPr lang="en-US" sz="1600" dirty="0"/>
              <a:t>Trace quality, time to find causes</a:t>
            </a:r>
          </a:p>
        </p:txBody>
      </p:sp>
      <p:sp>
        <p:nvSpPr>
          <p:cNvPr id="37" name="Node Health checks"/>
          <p:cNvSpPr/>
          <p:nvPr/>
        </p:nvSpPr>
        <p:spPr>
          <a:xfrm>
            <a:off x="4803648" y="3974592"/>
            <a:ext cx="2048256" cy="1658112"/>
          </a:xfrm>
          <a:prstGeom prst="roundRect">
            <a:avLst>
              <a:gd name="adj" fmla="val 5882"/>
            </a:avLst>
          </a:prstGeom>
          <a:solidFill>
            <a:schemeClr val="bg1"/>
          </a:solidFill>
          <a:ln w="19050">
            <a:solidFill>
              <a:schemeClr val="accent4"/>
            </a:solidFill>
            <a:prstDash val="solid"/>
          </a:ln>
          <a:effectLst>
            <a:outerShdw blurRad="88900" dist="25400" dir="5400000" algn="bl" rotWithShape="0">
              <a:srgbClr val="0B1633">
                <a:alpha val="13000"/>
              </a:srgbClr>
            </a:outerShdw>
          </a:effectLst>
        </p:spPr>
        <p:txBody>
          <a:bodyPr/>
          <a:lstStyle/>
          <a:p>
            <a:endParaRPr lang="en-US" sz="2400"/>
          </a:p>
        </p:txBody>
      </p:sp>
      <p:sp>
        <p:nvSpPr>
          <p:cNvPr id="38" name="Badge D2"/>
          <p:cNvSpPr txBox="1"/>
          <p:nvPr/>
        </p:nvSpPr>
        <p:spPr>
          <a:xfrm>
            <a:off x="4925568" y="4096512"/>
            <a:ext cx="414528" cy="414528"/>
          </a:xfrm>
          <a:prstGeom prst="ellipse">
            <a:avLst/>
          </a:prstGeom>
          <a:solidFill>
            <a:schemeClr val="accent4"/>
          </a:solidFill>
        </p:spPr>
        <p:txBody>
          <a:bodyPr wrap="square" lIns="0" tIns="0" rIns="0" bIns="0" rtlCol="0" anchor="ctr"/>
          <a:lstStyle/>
          <a:p>
            <a:pPr algn="ctr"/>
            <a:r>
              <a:rPr lang="en-US" sz="1335" b="1" dirty="0">
                <a:solidFill>
                  <a:schemeClr val="bg1"/>
                </a:solidFill>
              </a:rPr>
              <a:t>D2</a:t>
            </a:r>
            <a:endParaRPr lang="en-US" sz="1335" dirty="0"/>
          </a:p>
        </p:txBody>
      </p:sp>
      <p:sp>
        <p:nvSpPr>
          <p:cNvPr id="39" name="Text 37"/>
          <p:cNvSpPr txBox="1"/>
          <p:nvPr/>
        </p:nvSpPr>
        <p:spPr>
          <a:xfrm>
            <a:off x="4949952" y="4584192"/>
            <a:ext cx="1755648" cy="316992"/>
          </a:xfrm>
          <a:prstGeom prst="rect">
            <a:avLst/>
          </a:prstGeom>
          <a:noFill/>
        </p:spPr>
        <p:txBody>
          <a:bodyPr wrap="square" lIns="0" tIns="0" rIns="0" bIns="0" rtlCol="0" anchor="t"/>
          <a:lstStyle/>
          <a:p>
            <a:r>
              <a:rPr lang="en-US" sz="1735" b="1" dirty="0"/>
              <a:t>Health checks</a:t>
            </a:r>
            <a:endParaRPr lang="en-US" sz="1735" dirty="0"/>
          </a:p>
        </p:txBody>
      </p:sp>
      <p:sp>
        <p:nvSpPr>
          <p:cNvPr id="40" name="Text 38"/>
          <p:cNvSpPr txBox="1"/>
          <p:nvPr/>
        </p:nvSpPr>
        <p:spPr>
          <a:xfrm>
            <a:off x="4949952" y="4925568"/>
            <a:ext cx="1755648" cy="633984"/>
          </a:xfrm>
          <a:prstGeom prst="rect">
            <a:avLst/>
          </a:prstGeom>
          <a:noFill/>
        </p:spPr>
        <p:txBody>
          <a:bodyPr wrap="square" lIns="0" tIns="0" rIns="0" bIns="0" rtlCol="0" anchor="t"/>
          <a:lstStyle/>
          <a:p>
            <a:r>
              <a:rPr lang="en-US" sz="1600" dirty="0"/>
              <a:t>Success, errors, speed and cost</a:t>
            </a:r>
          </a:p>
        </p:txBody>
      </p:sp>
      <p:sp>
        <p:nvSpPr>
          <p:cNvPr id="41" name="Node Budget left?"/>
          <p:cNvSpPr/>
          <p:nvPr/>
        </p:nvSpPr>
        <p:spPr>
          <a:xfrm>
            <a:off x="7168896" y="3974592"/>
            <a:ext cx="2048256" cy="1658112"/>
          </a:xfrm>
          <a:prstGeom prst="roundRect">
            <a:avLst>
              <a:gd name="adj" fmla="val 5882"/>
            </a:avLst>
          </a:prstGeom>
          <a:solidFill>
            <a:schemeClr val="accent2">
              <a:alpha val="18000"/>
            </a:schemeClr>
          </a:solidFill>
          <a:ln w="28575">
            <a:solidFill>
              <a:schemeClr val="accent4"/>
            </a:solidFill>
            <a:prstDash val="solid"/>
          </a:ln>
          <a:effectLst>
            <a:outerShdw blurRad="88900" dist="25400" dir="5400000" algn="bl" rotWithShape="0">
              <a:srgbClr val="0B1633">
                <a:alpha val="13000"/>
              </a:srgbClr>
            </a:outerShdw>
          </a:effectLst>
        </p:spPr>
        <p:txBody>
          <a:bodyPr/>
          <a:lstStyle/>
          <a:p>
            <a:endParaRPr lang="en-US" sz="2400"/>
          </a:p>
        </p:txBody>
      </p:sp>
      <p:sp>
        <p:nvSpPr>
          <p:cNvPr id="42" name="Badge D3"/>
          <p:cNvSpPr txBox="1"/>
          <p:nvPr/>
        </p:nvSpPr>
        <p:spPr>
          <a:xfrm>
            <a:off x="7290816" y="4096512"/>
            <a:ext cx="414528" cy="414528"/>
          </a:xfrm>
          <a:prstGeom prst="ellipse">
            <a:avLst/>
          </a:prstGeom>
          <a:solidFill>
            <a:schemeClr val="accent4"/>
          </a:solidFill>
        </p:spPr>
        <p:txBody>
          <a:bodyPr wrap="square" lIns="0" tIns="0" rIns="0" bIns="0" rtlCol="0" anchor="ctr"/>
          <a:lstStyle/>
          <a:p>
            <a:pPr algn="ctr"/>
            <a:r>
              <a:rPr lang="en-US" sz="1335" b="1" dirty="0">
                <a:solidFill>
                  <a:schemeClr val="bg1"/>
                </a:solidFill>
              </a:rPr>
              <a:t>D3</a:t>
            </a:r>
            <a:endParaRPr lang="en-US" sz="1335" dirty="0"/>
          </a:p>
        </p:txBody>
      </p:sp>
      <p:sp>
        <p:nvSpPr>
          <p:cNvPr id="43" name="Text 41"/>
          <p:cNvSpPr txBox="1"/>
          <p:nvPr/>
        </p:nvSpPr>
        <p:spPr>
          <a:xfrm>
            <a:off x="7315200" y="4584192"/>
            <a:ext cx="1755648" cy="316992"/>
          </a:xfrm>
          <a:prstGeom prst="rect">
            <a:avLst/>
          </a:prstGeom>
          <a:noFill/>
        </p:spPr>
        <p:txBody>
          <a:bodyPr wrap="square" lIns="0" tIns="0" rIns="0" bIns="0" rtlCol="0" anchor="t"/>
          <a:lstStyle/>
          <a:p>
            <a:r>
              <a:rPr lang="en-US" sz="1735" b="1" dirty="0"/>
              <a:t>Budget left?</a:t>
            </a:r>
            <a:endParaRPr lang="en-US" sz="1735" dirty="0"/>
          </a:p>
        </p:txBody>
      </p:sp>
      <p:sp>
        <p:nvSpPr>
          <p:cNvPr id="44" name="Text 42"/>
          <p:cNvSpPr txBox="1"/>
          <p:nvPr/>
        </p:nvSpPr>
        <p:spPr>
          <a:xfrm>
            <a:off x="7315200" y="4925568"/>
            <a:ext cx="1755648" cy="633984"/>
          </a:xfrm>
          <a:prstGeom prst="rect">
            <a:avLst/>
          </a:prstGeom>
          <a:noFill/>
        </p:spPr>
        <p:txBody>
          <a:bodyPr wrap="square" lIns="0" tIns="0" rIns="0" bIns="0" rtlCol="0" anchor="t"/>
          <a:lstStyle/>
          <a:p>
            <a:r>
              <a:rPr lang="en-US" sz="1600" dirty="0"/>
              <a:t>Mistakes still within the limit?</a:t>
            </a:r>
          </a:p>
        </p:txBody>
      </p:sp>
      <p:sp>
        <p:nvSpPr>
          <p:cNvPr id="45" name="Connector"/>
          <p:cNvSpPr/>
          <p:nvPr/>
        </p:nvSpPr>
        <p:spPr>
          <a:xfrm>
            <a:off x="4486656" y="4803648"/>
            <a:ext cx="316992" cy="0"/>
          </a:xfrm>
          <a:prstGeom prst="line">
            <a:avLst/>
          </a:prstGeom>
          <a:noFill/>
          <a:ln w="25400">
            <a:solidFill>
              <a:schemeClr val="accent6"/>
            </a:solidFill>
            <a:prstDash val="solid"/>
            <a:tailEnd type="triangle"/>
          </a:ln>
        </p:spPr>
        <p:txBody>
          <a:bodyPr/>
          <a:lstStyle/>
          <a:p>
            <a:endParaRPr lang="en-US" sz="2400"/>
          </a:p>
        </p:txBody>
      </p:sp>
      <p:sp>
        <p:nvSpPr>
          <p:cNvPr id="46" name="Connector"/>
          <p:cNvSpPr/>
          <p:nvPr/>
        </p:nvSpPr>
        <p:spPr>
          <a:xfrm>
            <a:off x="6851904" y="4803648"/>
            <a:ext cx="316992" cy="0"/>
          </a:xfrm>
          <a:prstGeom prst="line">
            <a:avLst/>
          </a:prstGeom>
          <a:noFill/>
          <a:ln w="25400">
            <a:solidFill>
              <a:schemeClr val="accent6"/>
            </a:solidFill>
            <a:prstDash val="solid"/>
            <a:tailEnd type="triangle"/>
          </a:ln>
        </p:spPr>
        <p:txBody>
          <a:bodyPr/>
          <a:lstStyle/>
          <a:p>
            <a:endParaRPr lang="en-US" sz="2400"/>
          </a:p>
        </p:txBody>
      </p:sp>
      <p:sp>
        <p:nvSpPr>
          <p:cNvPr id="47" name="Outcome"/>
          <p:cNvSpPr/>
          <p:nvPr/>
        </p:nvSpPr>
        <p:spPr>
          <a:xfrm>
            <a:off x="9534144" y="3974592"/>
            <a:ext cx="2048256" cy="780288"/>
          </a:xfrm>
          <a:prstGeom prst="roundRect">
            <a:avLst>
              <a:gd name="adj" fmla="val 12500"/>
            </a:avLst>
          </a:prstGeom>
          <a:solidFill>
            <a:schemeClr val="accent5">
              <a:alpha val="20000"/>
            </a:schemeClr>
          </a:solidFill>
          <a:ln w="25400">
            <a:solidFill>
              <a:schemeClr val="accent5"/>
            </a:solidFill>
            <a:prstDash val="solid"/>
          </a:ln>
        </p:spPr>
        <p:txBody>
          <a:bodyPr/>
          <a:lstStyle/>
          <a:p>
            <a:endParaRPr lang="en-US" sz="2400"/>
          </a:p>
        </p:txBody>
      </p:sp>
      <p:sp>
        <p:nvSpPr>
          <p:cNvPr id="48" name="Text 46"/>
          <p:cNvSpPr txBox="1"/>
          <p:nvPr/>
        </p:nvSpPr>
        <p:spPr>
          <a:xfrm>
            <a:off x="9656064" y="3974592"/>
            <a:ext cx="1804416" cy="780288"/>
          </a:xfrm>
          <a:prstGeom prst="rect">
            <a:avLst/>
          </a:prstGeom>
          <a:noFill/>
        </p:spPr>
        <p:txBody>
          <a:bodyPr wrap="square" lIns="0" tIns="0" rIns="0" bIns="0" rtlCol="0" anchor="ctr"/>
          <a:lstStyle/>
          <a:p>
            <a:r>
              <a:rPr lang="en-US" sz="1600" dirty="0"/>
              <a:t>YES: keep watching</a:t>
            </a:r>
          </a:p>
        </p:txBody>
      </p:sp>
      <p:sp>
        <p:nvSpPr>
          <p:cNvPr id="49" name="Outcome"/>
          <p:cNvSpPr/>
          <p:nvPr/>
        </p:nvSpPr>
        <p:spPr>
          <a:xfrm>
            <a:off x="9534144" y="4852416"/>
            <a:ext cx="2048256" cy="780288"/>
          </a:xfrm>
          <a:prstGeom prst="roundRect">
            <a:avLst>
              <a:gd name="adj" fmla="val 12500"/>
            </a:avLst>
          </a:prstGeom>
          <a:solidFill>
            <a:schemeClr val="accent3">
              <a:alpha val="20000"/>
            </a:schemeClr>
          </a:solidFill>
          <a:ln w="25400">
            <a:solidFill>
              <a:schemeClr val="accent3"/>
            </a:solidFill>
            <a:prstDash val="solid"/>
          </a:ln>
        </p:spPr>
        <p:txBody>
          <a:bodyPr/>
          <a:lstStyle/>
          <a:p>
            <a:endParaRPr lang="en-US" sz="2400"/>
          </a:p>
        </p:txBody>
      </p:sp>
      <p:sp>
        <p:nvSpPr>
          <p:cNvPr id="50" name="Text 48"/>
          <p:cNvSpPr txBox="1"/>
          <p:nvPr/>
        </p:nvSpPr>
        <p:spPr>
          <a:xfrm>
            <a:off x="9656064" y="4852416"/>
            <a:ext cx="1804416" cy="780288"/>
          </a:xfrm>
          <a:prstGeom prst="rect">
            <a:avLst/>
          </a:prstGeom>
          <a:noFill/>
        </p:spPr>
        <p:txBody>
          <a:bodyPr wrap="square" lIns="0" tIns="0" rIns="0" bIns="0" rtlCol="0" anchor="ctr"/>
          <a:lstStyle/>
          <a:p>
            <a:r>
              <a:rPr lang="en-US" sz="1600" dirty="0"/>
              <a:t>NO: alert, freeze releases or roll back</a:t>
            </a:r>
          </a:p>
        </p:txBody>
      </p:sp>
      <p:sp>
        <p:nvSpPr>
          <p:cNvPr id="51" name="Connector"/>
          <p:cNvSpPr/>
          <p:nvPr/>
        </p:nvSpPr>
        <p:spPr>
          <a:xfrm>
            <a:off x="9217152" y="4364736"/>
            <a:ext cx="316992" cy="0"/>
          </a:xfrm>
          <a:prstGeom prst="line">
            <a:avLst/>
          </a:prstGeom>
          <a:noFill/>
          <a:ln w="25400">
            <a:solidFill>
              <a:schemeClr val="accent5"/>
            </a:solidFill>
            <a:prstDash val="solid"/>
            <a:tailEnd type="triangle"/>
          </a:ln>
        </p:spPr>
        <p:txBody>
          <a:bodyPr/>
          <a:lstStyle/>
          <a:p>
            <a:endParaRPr lang="en-US" sz="2400"/>
          </a:p>
        </p:txBody>
      </p:sp>
      <p:sp>
        <p:nvSpPr>
          <p:cNvPr id="52" name="Connector"/>
          <p:cNvSpPr/>
          <p:nvPr/>
        </p:nvSpPr>
        <p:spPr>
          <a:xfrm>
            <a:off x="9217152" y="5242560"/>
            <a:ext cx="316992" cy="0"/>
          </a:xfrm>
          <a:prstGeom prst="line">
            <a:avLst/>
          </a:prstGeom>
          <a:noFill/>
          <a:ln w="25400">
            <a:solidFill>
              <a:schemeClr val="accent3"/>
            </a:solidFill>
            <a:prstDash val="solid"/>
            <a:tailEnd type="triangle"/>
          </a:ln>
        </p:spPr>
        <p:txBody>
          <a:bodyPr/>
          <a:lstStyle/>
          <a:p>
            <a:endParaRPr lang="en-US" sz="2400"/>
          </a:p>
        </p:txBody>
      </p:sp>
      <p:sp>
        <p:nvSpPr>
          <p:cNvPr id="53" name="Learn bar"/>
          <p:cNvSpPr/>
          <p:nvPr/>
        </p:nvSpPr>
        <p:spPr>
          <a:xfrm>
            <a:off x="609600" y="5827776"/>
            <a:ext cx="10972800" cy="463296"/>
          </a:xfrm>
          <a:prstGeom prst="roundRect">
            <a:avLst>
              <a:gd name="adj" fmla="val 21053"/>
            </a:avLst>
          </a:prstGeom>
          <a:solidFill>
            <a:schemeClr val="tx2"/>
          </a:solidFill>
        </p:spPr>
        <p:txBody>
          <a:bodyPr/>
          <a:lstStyle/>
          <a:p>
            <a:endParaRPr lang="en-US" sz="2400"/>
          </a:p>
        </p:txBody>
      </p:sp>
      <p:sp>
        <p:nvSpPr>
          <p:cNvPr id="54" name="Text 52"/>
          <p:cNvSpPr txBox="1"/>
          <p:nvPr/>
        </p:nvSpPr>
        <p:spPr>
          <a:xfrm>
            <a:off x="914400" y="5827776"/>
            <a:ext cx="10363200" cy="463296"/>
          </a:xfrm>
          <a:prstGeom prst="rect">
            <a:avLst/>
          </a:prstGeom>
          <a:noFill/>
        </p:spPr>
        <p:txBody>
          <a:bodyPr wrap="square" lIns="0" tIns="0" rIns="0" bIns="0" rtlCol="0" anchor="ctr"/>
          <a:lstStyle/>
          <a:p>
            <a:r>
              <a:rPr lang="en-US" sz="1600" b="1" dirty="0">
                <a:solidFill>
                  <a:schemeClr val="accent2"/>
                </a:solidFill>
              </a:rPr>
              <a:t>LEARN   </a:t>
            </a:r>
            <a:r>
              <a:rPr lang="en-US" sz="1600" dirty="0">
                <a:solidFill>
                  <a:schemeClr val="bg1"/>
                </a:solidFill>
              </a:rPr>
              <a:t>Lessons from every failure go into the test set. Then the cycle starts again.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p:spPr>
        <p:txBody>
          <a:bodyPr wrap="square" lIns="0" tIns="0" rIns="0" bIns="0" rtlCol="0" anchor="ctr"/>
          <a:lstStyle/>
          <a:p>
            <a:r>
              <a:rPr lang="en-US" dirty="0"/>
              <a:t>Tools we use, and why</a:t>
            </a:r>
          </a:p>
        </p:txBody>
      </p:sp>
      <p:sp>
        <p:nvSpPr>
          <p:cNvPr id="3" name="Text 0"/>
          <p:cNvSpPr>
            <a:spLocks noGrp="1"/>
          </p:cNvSpPr>
          <p:nvPr>
            <p:ph type="body" idx="101"/>
          </p:nvPr>
        </p:nvSpPr>
        <p:spPr>
          <a:prstGeom prst="rect">
            <a:avLst/>
          </a:prstGeom>
          <a:noFill/>
        </p:spPr>
        <p:txBody>
          <a:bodyPr wrap="square" lIns="0" tIns="0" rIns="0" bIns="0" rtlCol="0" anchor="t"/>
          <a:lstStyle/>
          <a:p>
            <a:r>
              <a:rPr lang="en-US" dirty="0"/>
              <a:t>Each tool has one clear job.</a:t>
            </a:r>
          </a:p>
        </p:txBody>
      </p:sp>
      <p:sp>
        <p:nvSpPr>
          <p:cNvPr id="38" name="Slide Number Placeholder 0"/>
          <p:cNvSpPr>
            <a:spLocks noGrp="1"/>
          </p:cNvSpPr>
          <p:nvPr>
            <p:ph type="sldNum" sz="quarter" idx="4294967295"/>
          </p:nvPr>
        </p:nvSpPr>
        <p:spPr>
          <a:xfrm>
            <a:off x="10972800" y="6339840"/>
            <a:ext cx="609600" cy="304800"/>
          </a:xfrm>
          <a:prstGeom prst="rect">
            <a:avLst/>
          </a:prstGeom>
        </p:spPr>
        <p:txBody>
          <a:bodyPr/>
          <a:lstStyle>
            <a:lvl1pPr>
              <a:defRPr sz="1335">
                <a:solidFill>
                  <a:schemeClr val="accent6"/>
                </a:solidFill>
              </a:defRPr>
            </a:lvl1pPr>
          </a:lstStyle>
          <a:p>
            <a:pPr algn="r"/>
            <a:fld id="{F7021451-1387-4CA6-816F-3879F97B5CBC}" type="slidenum">
              <a:rPr lang="en-US" b="0"/>
              <a:t>8</a:t>
            </a:fld>
            <a:endParaRPr lang="en-US"/>
          </a:p>
        </p:txBody>
      </p:sp>
      <p:sp>
        <p:nvSpPr>
          <p:cNvPr id="4" name="Card"/>
          <p:cNvSpPr/>
          <p:nvPr/>
        </p:nvSpPr>
        <p:spPr>
          <a:xfrm>
            <a:off x="609600" y="182880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5" name="Icon circle"/>
          <p:cNvSpPr/>
          <p:nvPr/>
        </p:nvSpPr>
        <p:spPr>
          <a:xfrm>
            <a:off x="853440" y="2072640"/>
            <a:ext cx="609600" cy="609600"/>
          </a:xfrm>
          <a:prstGeom prst="ellipse">
            <a:avLst/>
          </a:prstGeom>
          <a:solidFill>
            <a:schemeClr val="accent1"/>
          </a:solidFill>
        </p:spPr>
        <p:txBody>
          <a:bodyPr/>
          <a:lstStyle/>
          <a:p>
            <a:endParaRPr lang="en-US" sz="2400"/>
          </a:p>
        </p:txBody>
      </p:sp>
      <p:pic>
        <p:nvPicPr>
          <p:cNvPr id="6" name="Image 0" descr="icon"/>
          <p:cNvPicPr>
            <a:picLocks noChangeAspect="1"/>
          </p:cNvPicPr>
          <p:nvPr/>
        </p:nvPicPr>
        <p:blipFill>
          <a:blip r:embed="rId3"/>
          <a:stretch>
            <a:fillRect/>
          </a:stretch>
        </p:blipFill>
        <p:spPr>
          <a:xfrm>
            <a:off x="1018032" y="2237232"/>
            <a:ext cx="280416" cy="280416"/>
          </a:xfrm>
          <a:prstGeom prst="rect">
            <a:avLst/>
          </a:prstGeom>
        </p:spPr>
      </p:pic>
      <p:sp>
        <p:nvSpPr>
          <p:cNvPr id="7" name="Text 4"/>
          <p:cNvSpPr txBox="1"/>
          <p:nvPr/>
        </p:nvSpPr>
        <p:spPr>
          <a:xfrm>
            <a:off x="1645920" y="2194560"/>
            <a:ext cx="2377440" cy="365760"/>
          </a:xfrm>
          <a:prstGeom prst="rect">
            <a:avLst/>
          </a:prstGeom>
          <a:noFill/>
        </p:spPr>
        <p:txBody>
          <a:bodyPr wrap="square" lIns="0" tIns="0" rIns="0" bIns="0" rtlCol="0" anchor="t"/>
          <a:lstStyle/>
          <a:p>
            <a:r>
              <a:rPr lang="en-US" sz="2000" b="1" dirty="0"/>
              <a:t>LangGraph</a:t>
            </a:r>
            <a:endParaRPr lang="en-US" sz="2000" dirty="0"/>
          </a:p>
        </p:txBody>
      </p:sp>
      <p:sp>
        <p:nvSpPr>
          <p:cNvPr id="8" name="Text 5"/>
          <p:cNvSpPr txBox="1"/>
          <p:nvPr/>
        </p:nvSpPr>
        <p:spPr>
          <a:xfrm>
            <a:off x="853440" y="2828544"/>
            <a:ext cx="3108960" cy="633984"/>
          </a:xfrm>
          <a:prstGeom prst="rect">
            <a:avLst/>
          </a:prstGeom>
          <a:noFill/>
        </p:spPr>
        <p:txBody>
          <a:bodyPr wrap="square" lIns="0" tIns="0" rIns="0" bIns="0" rtlCol="0" anchor="t"/>
          <a:lstStyle/>
          <a:p>
            <a:r>
              <a:rPr lang="en-US" sz="1865" dirty="0"/>
              <a:t>Builds the agents and organises their steps.</a:t>
            </a:r>
          </a:p>
        </p:txBody>
      </p:sp>
      <p:sp>
        <p:nvSpPr>
          <p:cNvPr id="9" name="Card"/>
          <p:cNvSpPr/>
          <p:nvPr/>
        </p:nvSpPr>
        <p:spPr>
          <a:xfrm>
            <a:off x="4328160" y="182880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0" name="Icon circle"/>
          <p:cNvSpPr/>
          <p:nvPr/>
        </p:nvSpPr>
        <p:spPr>
          <a:xfrm>
            <a:off x="4572000" y="2072640"/>
            <a:ext cx="609600" cy="609600"/>
          </a:xfrm>
          <a:prstGeom prst="ellipse">
            <a:avLst/>
          </a:prstGeom>
          <a:solidFill>
            <a:schemeClr val="accent1"/>
          </a:solidFill>
        </p:spPr>
        <p:txBody>
          <a:bodyPr/>
          <a:lstStyle/>
          <a:p>
            <a:endParaRPr lang="en-US" sz="2400"/>
          </a:p>
        </p:txBody>
      </p:sp>
      <p:pic>
        <p:nvPicPr>
          <p:cNvPr id="11" name="Image 1" descr="icon"/>
          <p:cNvPicPr>
            <a:picLocks noChangeAspect="1"/>
          </p:cNvPicPr>
          <p:nvPr/>
        </p:nvPicPr>
        <p:blipFill>
          <a:blip r:embed="rId4"/>
          <a:stretch>
            <a:fillRect/>
          </a:stretch>
        </p:blipFill>
        <p:spPr>
          <a:xfrm>
            <a:off x="4736592" y="2237232"/>
            <a:ext cx="280416" cy="280416"/>
          </a:xfrm>
          <a:prstGeom prst="rect">
            <a:avLst/>
          </a:prstGeom>
        </p:spPr>
      </p:pic>
      <p:sp>
        <p:nvSpPr>
          <p:cNvPr id="12" name="Text 8"/>
          <p:cNvSpPr txBox="1"/>
          <p:nvPr/>
        </p:nvSpPr>
        <p:spPr>
          <a:xfrm>
            <a:off x="5364480" y="2194560"/>
            <a:ext cx="2377440" cy="365760"/>
          </a:xfrm>
          <a:prstGeom prst="rect">
            <a:avLst/>
          </a:prstGeom>
          <a:noFill/>
        </p:spPr>
        <p:txBody>
          <a:bodyPr wrap="square" lIns="0" tIns="0" rIns="0" bIns="0" rtlCol="0" anchor="t"/>
          <a:lstStyle/>
          <a:p>
            <a:r>
              <a:rPr lang="en-US" sz="2000" b="1" dirty="0"/>
              <a:t>OpenTelemetry</a:t>
            </a:r>
            <a:endParaRPr lang="en-US" sz="2000" dirty="0"/>
          </a:p>
        </p:txBody>
      </p:sp>
      <p:sp>
        <p:nvSpPr>
          <p:cNvPr id="13" name="Text 9"/>
          <p:cNvSpPr txBox="1"/>
          <p:nvPr/>
        </p:nvSpPr>
        <p:spPr>
          <a:xfrm>
            <a:off x="4572000" y="2828544"/>
            <a:ext cx="3108960" cy="633984"/>
          </a:xfrm>
          <a:prstGeom prst="rect">
            <a:avLst/>
          </a:prstGeom>
          <a:noFill/>
        </p:spPr>
        <p:txBody>
          <a:bodyPr wrap="square" lIns="0" tIns="0" rIns="0" bIns="0" rtlCol="0" anchor="t"/>
          <a:lstStyle/>
          <a:p>
            <a:r>
              <a:rPr lang="en-US" sz="1865" dirty="0"/>
              <a:t>A standard way to record what agents do.</a:t>
            </a:r>
          </a:p>
        </p:txBody>
      </p:sp>
      <p:sp>
        <p:nvSpPr>
          <p:cNvPr id="14" name="Card"/>
          <p:cNvSpPr/>
          <p:nvPr/>
        </p:nvSpPr>
        <p:spPr>
          <a:xfrm>
            <a:off x="8046720" y="182880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5" name="Icon circle"/>
          <p:cNvSpPr/>
          <p:nvPr/>
        </p:nvSpPr>
        <p:spPr>
          <a:xfrm>
            <a:off x="8290560" y="2072640"/>
            <a:ext cx="609600" cy="609600"/>
          </a:xfrm>
          <a:prstGeom prst="ellipse">
            <a:avLst/>
          </a:prstGeom>
          <a:solidFill>
            <a:schemeClr val="accent4"/>
          </a:solidFill>
        </p:spPr>
        <p:txBody>
          <a:bodyPr/>
          <a:lstStyle/>
          <a:p>
            <a:endParaRPr lang="en-US" sz="2400"/>
          </a:p>
        </p:txBody>
      </p:sp>
      <p:pic>
        <p:nvPicPr>
          <p:cNvPr id="16" name="Image 2" descr="icon"/>
          <p:cNvPicPr>
            <a:picLocks noChangeAspect="1"/>
          </p:cNvPicPr>
          <p:nvPr/>
        </p:nvPicPr>
        <p:blipFill>
          <a:blip r:embed="rId5"/>
          <a:stretch>
            <a:fillRect/>
          </a:stretch>
        </p:blipFill>
        <p:spPr>
          <a:xfrm>
            <a:off x="8455152" y="2237232"/>
            <a:ext cx="280416" cy="280416"/>
          </a:xfrm>
          <a:prstGeom prst="rect">
            <a:avLst/>
          </a:prstGeom>
        </p:spPr>
      </p:pic>
      <p:sp>
        <p:nvSpPr>
          <p:cNvPr id="17" name="Text 12"/>
          <p:cNvSpPr txBox="1"/>
          <p:nvPr/>
        </p:nvSpPr>
        <p:spPr>
          <a:xfrm>
            <a:off x="9083040" y="2194560"/>
            <a:ext cx="2377440" cy="365760"/>
          </a:xfrm>
          <a:prstGeom prst="rect">
            <a:avLst/>
          </a:prstGeom>
          <a:noFill/>
        </p:spPr>
        <p:txBody>
          <a:bodyPr wrap="square" lIns="0" tIns="0" rIns="0" bIns="0" rtlCol="0" anchor="t"/>
          <a:lstStyle/>
          <a:p>
            <a:r>
              <a:rPr lang="en-US" sz="2000" b="1" dirty="0"/>
              <a:t>Langfuse</a:t>
            </a:r>
            <a:endParaRPr lang="en-US" sz="2000" dirty="0"/>
          </a:p>
        </p:txBody>
      </p:sp>
      <p:sp>
        <p:nvSpPr>
          <p:cNvPr id="18" name="Text 13"/>
          <p:cNvSpPr txBox="1"/>
          <p:nvPr/>
        </p:nvSpPr>
        <p:spPr>
          <a:xfrm>
            <a:off x="8290560" y="2828544"/>
            <a:ext cx="3108960" cy="633984"/>
          </a:xfrm>
          <a:prstGeom prst="rect">
            <a:avLst/>
          </a:prstGeom>
          <a:noFill/>
        </p:spPr>
        <p:txBody>
          <a:bodyPr wrap="square" lIns="0" tIns="0" rIns="0" bIns="0" rtlCol="0" anchor="t"/>
          <a:lstStyle/>
          <a:p>
            <a:r>
              <a:rPr lang="en-US" sz="1865" dirty="0"/>
              <a:t>Shows traces, scores answers, runs experiments.</a:t>
            </a:r>
          </a:p>
        </p:txBody>
      </p:sp>
      <p:sp>
        <p:nvSpPr>
          <p:cNvPr id="19" name="Card"/>
          <p:cNvSpPr/>
          <p:nvPr/>
        </p:nvSpPr>
        <p:spPr>
          <a:xfrm>
            <a:off x="609600" y="377952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0" name="Icon circle"/>
          <p:cNvSpPr/>
          <p:nvPr/>
        </p:nvSpPr>
        <p:spPr>
          <a:xfrm>
            <a:off x="853440" y="4023360"/>
            <a:ext cx="609600" cy="609600"/>
          </a:xfrm>
          <a:prstGeom prst="ellipse">
            <a:avLst/>
          </a:prstGeom>
          <a:solidFill>
            <a:schemeClr val="accent4"/>
          </a:solidFill>
        </p:spPr>
        <p:txBody>
          <a:bodyPr/>
          <a:lstStyle/>
          <a:p>
            <a:endParaRPr lang="en-US" sz="2400"/>
          </a:p>
        </p:txBody>
      </p:sp>
      <p:pic>
        <p:nvPicPr>
          <p:cNvPr id="21" name="Image 3" descr="icon"/>
          <p:cNvPicPr>
            <a:picLocks noChangeAspect="1"/>
          </p:cNvPicPr>
          <p:nvPr/>
        </p:nvPicPr>
        <p:blipFill>
          <a:blip r:embed="rId6"/>
          <a:stretch>
            <a:fillRect/>
          </a:stretch>
        </p:blipFill>
        <p:spPr>
          <a:xfrm>
            <a:off x="1018032" y="4187952"/>
            <a:ext cx="280416" cy="280416"/>
          </a:xfrm>
          <a:prstGeom prst="rect">
            <a:avLst/>
          </a:prstGeom>
        </p:spPr>
      </p:pic>
      <p:sp>
        <p:nvSpPr>
          <p:cNvPr id="22" name="Text 16"/>
          <p:cNvSpPr txBox="1"/>
          <p:nvPr/>
        </p:nvSpPr>
        <p:spPr>
          <a:xfrm>
            <a:off x="1645920" y="4145280"/>
            <a:ext cx="2377440" cy="365760"/>
          </a:xfrm>
          <a:prstGeom prst="rect">
            <a:avLst/>
          </a:prstGeom>
          <a:noFill/>
        </p:spPr>
        <p:txBody>
          <a:bodyPr wrap="square" lIns="0" tIns="0" rIns="0" bIns="0" rtlCol="0" anchor="t"/>
          <a:lstStyle/>
          <a:p>
            <a:r>
              <a:rPr lang="en-US" sz="2000" b="1" dirty="0"/>
              <a:t>Arize Phoenix</a:t>
            </a:r>
            <a:endParaRPr lang="en-US" sz="2000" dirty="0"/>
          </a:p>
        </p:txBody>
      </p:sp>
      <p:sp>
        <p:nvSpPr>
          <p:cNvPr id="23" name="Text 17"/>
          <p:cNvSpPr txBox="1"/>
          <p:nvPr/>
        </p:nvSpPr>
        <p:spPr>
          <a:xfrm>
            <a:off x="853440" y="4779264"/>
            <a:ext cx="3108960" cy="633984"/>
          </a:xfrm>
          <a:prstGeom prst="rect">
            <a:avLst/>
          </a:prstGeom>
          <a:noFill/>
        </p:spPr>
        <p:txBody>
          <a:bodyPr wrap="square" lIns="0" tIns="0" rIns="0" bIns="0" rtlCol="0" anchor="t"/>
          <a:lstStyle/>
          <a:p>
            <a:r>
              <a:rPr lang="en-US" sz="1865" dirty="0"/>
              <a:t>Shows traces, scores answers, helps debug.</a:t>
            </a:r>
          </a:p>
        </p:txBody>
      </p:sp>
      <p:sp>
        <p:nvSpPr>
          <p:cNvPr id="24" name="Card"/>
          <p:cNvSpPr/>
          <p:nvPr/>
        </p:nvSpPr>
        <p:spPr>
          <a:xfrm>
            <a:off x="4328160" y="377952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5" name="Icon circle"/>
          <p:cNvSpPr/>
          <p:nvPr/>
        </p:nvSpPr>
        <p:spPr>
          <a:xfrm>
            <a:off x="4572000" y="4023360"/>
            <a:ext cx="609600" cy="609600"/>
          </a:xfrm>
          <a:prstGeom prst="ellipse">
            <a:avLst/>
          </a:prstGeom>
          <a:solidFill>
            <a:schemeClr val="accent2"/>
          </a:solidFill>
        </p:spPr>
        <p:txBody>
          <a:bodyPr/>
          <a:lstStyle/>
          <a:p>
            <a:endParaRPr lang="en-US" sz="2400"/>
          </a:p>
        </p:txBody>
      </p:sp>
      <p:pic>
        <p:nvPicPr>
          <p:cNvPr id="26" name="Image 4" descr="icon"/>
          <p:cNvPicPr>
            <a:picLocks noChangeAspect="1"/>
          </p:cNvPicPr>
          <p:nvPr/>
        </p:nvPicPr>
        <p:blipFill>
          <a:blip r:embed="rId7"/>
          <a:stretch>
            <a:fillRect/>
          </a:stretch>
        </p:blipFill>
        <p:spPr>
          <a:xfrm>
            <a:off x="4736592" y="4187952"/>
            <a:ext cx="280416" cy="280416"/>
          </a:xfrm>
          <a:prstGeom prst="rect">
            <a:avLst/>
          </a:prstGeom>
        </p:spPr>
      </p:pic>
      <p:sp>
        <p:nvSpPr>
          <p:cNvPr id="27" name="Text 20"/>
          <p:cNvSpPr txBox="1"/>
          <p:nvPr/>
        </p:nvSpPr>
        <p:spPr>
          <a:xfrm>
            <a:off x="5364480" y="4145280"/>
            <a:ext cx="2377440" cy="365760"/>
          </a:xfrm>
          <a:prstGeom prst="rect">
            <a:avLst/>
          </a:prstGeom>
          <a:noFill/>
        </p:spPr>
        <p:txBody>
          <a:bodyPr wrap="square" lIns="0" tIns="0" rIns="0" bIns="0" rtlCol="0" anchor="t"/>
          <a:lstStyle/>
          <a:p>
            <a:r>
              <a:rPr lang="en-US" sz="2000" b="1" dirty="0"/>
              <a:t>CI pipeline</a:t>
            </a:r>
            <a:endParaRPr lang="en-US" sz="2000" dirty="0"/>
          </a:p>
        </p:txBody>
      </p:sp>
      <p:sp>
        <p:nvSpPr>
          <p:cNvPr id="28" name="Text 21"/>
          <p:cNvSpPr txBox="1"/>
          <p:nvPr/>
        </p:nvSpPr>
        <p:spPr>
          <a:xfrm>
            <a:off x="4572000" y="4779264"/>
            <a:ext cx="3108960" cy="633984"/>
          </a:xfrm>
          <a:prstGeom prst="rect">
            <a:avLst/>
          </a:prstGeom>
          <a:noFill/>
        </p:spPr>
        <p:txBody>
          <a:bodyPr wrap="square" lIns="0" tIns="0" rIns="0" bIns="0" rtlCol="0" anchor="t"/>
          <a:lstStyle/>
          <a:p>
            <a:r>
              <a:rPr lang="en-US" sz="1865" dirty="0"/>
              <a:t>Runs tests automatically and blocks bad versions.</a:t>
            </a:r>
          </a:p>
        </p:txBody>
      </p:sp>
      <p:sp>
        <p:nvSpPr>
          <p:cNvPr id="29" name="Card"/>
          <p:cNvSpPr/>
          <p:nvPr/>
        </p:nvSpPr>
        <p:spPr>
          <a:xfrm>
            <a:off x="8046720" y="377952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30" name="Icon circle"/>
          <p:cNvSpPr/>
          <p:nvPr/>
        </p:nvSpPr>
        <p:spPr>
          <a:xfrm>
            <a:off x="8290560" y="4023360"/>
            <a:ext cx="609600" cy="609600"/>
          </a:xfrm>
          <a:prstGeom prst="ellipse">
            <a:avLst/>
          </a:prstGeom>
          <a:solidFill>
            <a:schemeClr val="accent6"/>
          </a:solidFill>
        </p:spPr>
        <p:txBody>
          <a:bodyPr/>
          <a:lstStyle/>
          <a:p>
            <a:endParaRPr lang="en-US" sz="2400"/>
          </a:p>
        </p:txBody>
      </p:sp>
      <p:pic>
        <p:nvPicPr>
          <p:cNvPr id="31" name="Image 5" descr="icon"/>
          <p:cNvPicPr>
            <a:picLocks noChangeAspect="1"/>
          </p:cNvPicPr>
          <p:nvPr/>
        </p:nvPicPr>
        <p:blipFill>
          <a:blip r:embed="rId8"/>
          <a:stretch>
            <a:fillRect/>
          </a:stretch>
        </p:blipFill>
        <p:spPr>
          <a:xfrm>
            <a:off x="8455152" y="4187952"/>
            <a:ext cx="280416" cy="280416"/>
          </a:xfrm>
          <a:prstGeom prst="rect">
            <a:avLst/>
          </a:prstGeom>
        </p:spPr>
      </p:pic>
      <p:sp>
        <p:nvSpPr>
          <p:cNvPr id="32" name="Text 24"/>
          <p:cNvSpPr txBox="1"/>
          <p:nvPr/>
        </p:nvSpPr>
        <p:spPr>
          <a:xfrm>
            <a:off x="9083040" y="4145280"/>
            <a:ext cx="2377440" cy="365760"/>
          </a:xfrm>
          <a:prstGeom prst="rect">
            <a:avLst/>
          </a:prstGeom>
          <a:noFill/>
        </p:spPr>
        <p:txBody>
          <a:bodyPr wrap="square" lIns="0" tIns="0" rIns="0" bIns="0" rtlCol="0" anchor="t"/>
          <a:lstStyle/>
          <a:p>
            <a:r>
              <a:rPr lang="en-US" sz="2000" b="1" dirty="0"/>
              <a:t>Measurement store</a:t>
            </a:r>
            <a:endParaRPr lang="en-US" sz="2000" dirty="0"/>
          </a:p>
        </p:txBody>
      </p:sp>
      <p:sp>
        <p:nvSpPr>
          <p:cNvPr id="33" name="Text 25"/>
          <p:cNvSpPr txBox="1"/>
          <p:nvPr/>
        </p:nvSpPr>
        <p:spPr>
          <a:xfrm>
            <a:off x="8290560" y="4779264"/>
            <a:ext cx="3108960" cy="633984"/>
          </a:xfrm>
          <a:prstGeom prst="rect">
            <a:avLst/>
          </a:prstGeom>
          <a:noFill/>
        </p:spPr>
        <p:txBody>
          <a:bodyPr wrap="square" lIns="0" tIns="0" rIns="0" bIns="0" rtlCol="0" anchor="t"/>
          <a:lstStyle/>
          <a:p>
            <a:r>
              <a:rPr lang="en-US" sz="1865" dirty="0"/>
              <a:t>One place linking versions, traces and results.</a:t>
            </a:r>
          </a:p>
        </p:txBody>
      </p:sp>
      <p:sp>
        <p:nvSpPr>
          <p:cNvPr id="34" name="Banner"/>
          <p:cNvSpPr/>
          <p:nvPr/>
        </p:nvSpPr>
        <p:spPr>
          <a:xfrm>
            <a:off x="609600" y="5730240"/>
            <a:ext cx="10972800" cy="548640"/>
          </a:xfrm>
          <a:prstGeom prst="roundRect">
            <a:avLst>
              <a:gd name="adj" fmla="val 17778"/>
            </a:avLst>
          </a:prstGeom>
          <a:solidFill>
            <a:schemeClr val="tx2"/>
          </a:solidFill>
          <a:effectLst>
            <a:outerShdw blurRad="88900" dist="25400" dir="5400000" algn="bl" rotWithShape="0">
              <a:srgbClr val="0B1633">
                <a:alpha val="13000"/>
              </a:srgbClr>
            </a:outerShdw>
          </a:effectLst>
        </p:spPr>
        <p:txBody>
          <a:bodyPr/>
          <a:lstStyle/>
          <a:p>
            <a:endParaRPr lang="en-US" sz="2400"/>
          </a:p>
        </p:txBody>
      </p:sp>
      <p:sp>
        <p:nvSpPr>
          <p:cNvPr id="35" name="Text 27"/>
          <p:cNvSpPr txBox="1"/>
          <p:nvPr/>
        </p:nvSpPr>
        <p:spPr>
          <a:xfrm>
            <a:off x="914400" y="5876544"/>
            <a:ext cx="10363200" cy="268224"/>
          </a:xfrm>
          <a:prstGeom prst="rect">
            <a:avLst/>
          </a:prstGeom>
          <a:noFill/>
        </p:spPr>
        <p:txBody>
          <a:bodyPr wrap="square" lIns="0" tIns="0" rIns="0" bIns="0" rtlCol="0" anchor="t"/>
          <a:lstStyle/>
          <a:p>
            <a:endParaRPr lang="en-US" sz="1335" dirty="0"/>
          </a:p>
        </p:txBody>
      </p:sp>
      <p:sp>
        <p:nvSpPr>
          <p:cNvPr id="36" name="Text 28"/>
          <p:cNvSpPr txBox="1"/>
          <p:nvPr/>
        </p:nvSpPr>
        <p:spPr>
          <a:xfrm>
            <a:off x="914400" y="6193536"/>
            <a:ext cx="10363200" cy="12192"/>
          </a:xfrm>
          <a:prstGeom prst="rect">
            <a:avLst/>
          </a:prstGeom>
          <a:noFill/>
        </p:spPr>
        <p:txBody>
          <a:bodyPr wrap="square" lIns="0" tIns="0" rIns="0" bIns="0" rtlCol="0" anchor="t"/>
          <a:lstStyle/>
          <a:p>
            <a:endParaRPr lang="en-US" sz="1865" dirty="0"/>
          </a:p>
        </p:txBody>
      </p:sp>
      <p:sp>
        <p:nvSpPr>
          <p:cNvPr id="37" name="Text 29"/>
          <p:cNvSpPr txBox="1"/>
          <p:nvPr/>
        </p:nvSpPr>
        <p:spPr>
          <a:xfrm>
            <a:off x="914400" y="5730240"/>
            <a:ext cx="10363200" cy="548640"/>
          </a:xfrm>
          <a:prstGeom prst="rect">
            <a:avLst/>
          </a:prstGeom>
          <a:noFill/>
        </p:spPr>
        <p:txBody>
          <a:bodyPr wrap="square" lIns="0" tIns="0" rIns="0" bIns="0" rtlCol="0" anchor="ctr"/>
          <a:lstStyle/>
          <a:p>
            <a:r>
              <a:rPr lang="en-US" sz="1865" dirty="0">
                <a:solidFill>
                  <a:schemeClr val="bg1"/>
                </a:solidFill>
              </a:rPr>
              <a:t>Langfuse and Arize Phoenix run on the same work, so the comparison is fair.</a:t>
            </a:r>
            <a:endParaRPr lang="en-US" sz="186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p:spPr>
        <p:txBody>
          <a:bodyPr wrap="square" lIns="0" tIns="0" rIns="0" bIns="0" rtlCol="0" anchor="ctr"/>
          <a:lstStyle/>
          <a:p>
            <a:r>
              <a:rPr lang="en-US" dirty="0"/>
              <a:t>How we measure success</a:t>
            </a:r>
          </a:p>
        </p:txBody>
      </p:sp>
      <p:sp>
        <p:nvSpPr>
          <p:cNvPr id="3" name="Text 0"/>
          <p:cNvSpPr>
            <a:spLocks noGrp="1"/>
          </p:cNvSpPr>
          <p:nvPr>
            <p:ph type="body" idx="101"/>
          </p:nvPr>
        </p:nvSpPr>
        <p:spPr>
          <a:prstGeom prst="rect">
            <a:avLst/>
          </a:prstGeom>
          <a:noFill/>
        </p:spPr>
        <p:txBody>
          <a:bodyPr wrap="square" lIns="0" tIns="0" rIns="0" bIns="0" rtlCol="0" anchor="t"/>
          <a:lstStyle/>
          <a:p>
            <a:r>
              <a:rPr lang="en-US" dirty="0"/>
              <a:t>Six simple measures tell us whether the system works.</a:t>
            </a:r>
          </a:p>
        </p:txBody>
      </p:sp>
      <p:sp>
        <p:nvSpPr>
          <p:cNvPr id="38" name="Slide Number Placeholder 0"/>
          <p:cNvSpPr>
            <a:spLocks noGrp="1"/>
          </p:cNvSpPr>
          <p:nvPr>
            <p:ph type="sldNum" sz="quarter" idx="4294967295"/>
          </p:nvPr>
        </p:nvSpPr>
        <p:spPr>
          <a:xfrm>
            <a:off x="10972800" y="6339840"/>
            <a:ext cx="609600" cy="304800"/>
          </a:xfrm>
          <a:prstGeom prst="rect">
            <a:avLst/>
          </a:prstGeom>
        </p:spPr>
        <p:txBody>
          <a:bodyPr/>
          <a:lstStyle>
            <a:lvl1pPr>
              <a:defRPr sz="1335">
                <a:solidFill>
                  <a:schemeClr val="accent6"/>
                </a:solidFill>
              </a:defRPr>
            </a:lvl1pPr>
          </a:lstStyle>
          <a:p>
            <a:pPr algn="r"/>
            <a:fld id="{F7021451-1387-4CA6-816F-3879F97B5CBC}" type="slidenum">
              <a:rPr lang="en-US" b="0"/>
              <a:t>9</a:t>
            </a:fld>
            <a:endParaRPr lang="en-US"/>
          </a:p>
        </p:txBody>
      </p:sp>
      <p:sp>
        <p:nvSpPr>
          <p:cNvPr id="4" name="Card"/>
          <p:cNvSpPr/>
          <p:nvPr/>
        </p:nvSpPr>
        <p:spPr>
          <a:xfrm>
            <a:off x="609600" y="182880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5" name="Icon circle"/>
          <p:cNvSpPr/>
          <p:nvPr/>
        </p:nvSpPr>
        <p:spPr>
          <a:xfrm>
            <a:off x="853440" y="2072640"/>
            <a:ext cx="609600" cy="609600"/>
          </a:xfrm>
          <a:prstGeom prst="ellipse">
            <a:avLst/>
          </a:prstGeom>
          <a:solidFill>
            <a:schemeClr val="accent1"/>
          </a:solidFill>
        </p:spPr>
        <p:txBody>
          <a:bodyPr/>
          <a:lstStyle/>
          <a:p>
            <a:endParaRPr lang="en-US" sz="2400"/>
          </a:p>
        </p:txBody>
      </p:sp>
      <p:pic>
        <p:nvPicPr>
          <p:cNvPr id="6" name="Image 0" descr="icon"/>
          <p:cNvPicPr>
            <a:picLocks noChangeAspect="1"/>
          </p:cNvPicPr>
          <p:nvPr/>
        </p:nvPicPr>
        <p:blipFill>
          <a:blip r:embed="rId3"/>
          <a:stretch>
            <a:fillRect/>
          </a:stretch>
        </p:blipFill>
        <p:spPr>
          <a:xfrm>
            <a:off x="1018032" y="2237232"/>
            <a:ext cx="280416" cy="280416"/>
          </a:xfrm>
          <a:prstGeom prst="rect">
            <a:avLst/>
          </a:prstGeom>
        </p:spPr>
      </p:pic>
      <p:sp>
        <p:nvSpPr>
          <p:cNvPr id="7" name="Text 4"/>
          <p:cNvSpPr txBox="1"/>
          <p:nvPr/>
        </p:nvSpPr>
        <p:spPr>
          <a:xfrm>
            <a:off x="1645920" y="2072640"/>
            <a:ext cx="2377440" cy="609600"/>
          </a:xfrm>
          <a:prstGeom prst="rect">
            <a:avLst/>
          </a:prstGeom>
          <a:noFill/>
        </p:spPr>
        <p:txBody>
          <a:bodyPr wrap="square" lIns="0" tIns="0" rIns="0" bIns="0" rtlCol="0" anchor="ctr"/>
          <a:lstStyle/>
          <a:p>
            <a:r>
              <a:rPr lang="en-US" sz="2000" b="1" dirty="0"/>
              <a:t>Task success</a:t>
            </a:r>
            <a:endParaRPr lang="en-US" sz="2000" dirty="0"/>
          </a:p>
        </p:txBody>
      </p:sp>
      <p:sp>
        <p:nvSpPr>
          <p:cNvPr id="8" name="Text 5"/>
          <p:cNvSpPr txBox="1"/>
          <p:nvPr/>
        </p:nvSpPr>
        <p:spPr>
          <a:xfrm>
            <a:off x="853440" y="2828544"/>
            <a:ext cx="3108960" cy="633984"/>
          </a:xfrm>
          <a:prstGeom prst="rect">
            <a:avLst/>
          </a:prstGeom>
          <a:noFill/>
        </p:spPr>
        <p:txBody>
          <a:bodyPr wrap="square" lIns="0" tIns="0" rIns="0" bIns="0" rtlCol="0" anchor="t"/>
          <a:lstStyle/>
          <a:p>
            <a:r>
              <a:rPr lang="en-US" sz="1865" dirty="0"/>
              <a:t>Did the agent finish the job correctly?</a:t>
            </a:r>
          </a:p>
        </p:txBody>
      </p:sp>
      <p:sp>
        <p:nvSpPr>
          <p:cNvPr id="9" name="Card"/>
          <p:cNvSpPr/>
          <p:nvPr/>
        </p:nvSpPr>
        <p:spPr>
          <a:xfrm>
            <a:off x="4328160" y="182880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0" name="Icon circle"/>
          <p:cNvSpPr/>
          <p:nvPr/>
        </p:nvSpPr>
        <p:spPr>
          <a:xfrm>
            <a:off x="4572000" y="2072640"/>
            <a:ext cx="609600" cy="609600"/>
          </a:xfrm>
          <a:prstGeom prst="ellipse">
            <a:avLst/>
          </a:prstGeom>
          <a:solidFill>
            <a:schemeClr val="accent1"/>
          </a:solidFill>
        </p:spPr>
        <p:txBody>
          <a:bodyPr/>
          <a:lstStyle/>
          <a:p>
            <a:endParaRPr lang="en-US" sz="2400"/>
          </a:p>
        </p:txBody>
      </p:sp>
      <p:pic>
        <p:nvPicPr>
          <p:cNvPr id="11" name="Image 1" descr="icon"/>
          <p:cNvPicPr>
            <a:picLocks noChangeAspect="1"/>
          </p:cNvPicPr>
          <p:nvPr/>
        </p:nvPicPr>
        <p:blipFill>
          <a:blip r:embed="rId4"/>
          <a:stretch>
            <a:fillRect/>
          </a:stretch>
        </p:blipFill>
        <p:spPr>
          <a:xfrm>
            <a:off x="4736592" y="2237232"/>
            <a:ext cx="280416" cy="280416"/>
          </a:xfrm>
          <a:prstGeom prst="rect">
            <a:avLst/>
          </a:prstGeom>
        </p:spPr>
      </p:pic>
      <p:sp>
        <p:nvSpPr>
          <p:cNvPr id="12" name="Text 8"/>
          <p:cNvSpPr txBox="1"/>
          <p:nvPr/>
        </p:nvSpPr>
        <p:spPr>
          <a:xfrm>
            <a:off x="5364480" y="2072640"/>
            <a:ext cx="2377440" cy="609600"/>
          </a:xfrm>
          <a:prstGeom prst="rect">
            <a:avLst/>
          </a:prstGeom>
          <a:noFill/>
        </p:spPr>
        <p:txBody>
          <a:bodyPr wrap="square" lIns="0" tIns="0" rIns="0" bIns="0" rtlCol="0" anchor="ctr"/>
          <a:lstStyle/>
          <a:p>
            <a:r>
              <a:rPr lang="en-US" sz="2000" b="1" dirty="0"/>
              <a:t>Regression catch rate</a:t>
            </a:r>
            <a:endParaRPr lang="en-US" sz="2000" dirty="0"/>
          </a:p>
        </p:txBody>
      </p:sp>
      <p:sp>
        <p:nvSpPr>
          <p:cNvPr id="13" name="Text 9"/>
          <p:cNvSpPr txBox="1"/>
          <p:nvPr/>
        </p:nvSpPr>
        <p:spPr>
          <a:xfrm>
            <a:off x="4572000" y="2828544"/>
            <a:ext cx="3108960" cy="633984"/>
          </a:xfrm>
          <a:prstGeom prst="rect">
            <a:avLst/>
          </a:prstGeom>
          <a:noFill/>
        </p:spPr>
        <p:txBody>
          <a:bodyPr wrap="square" lIns="0" tIns="0" rIns="0" bIns="0" rtlCol="0" anchor="t"/>
          <a:lstStyle/>
          <a:p>
            <a:r>
              <a:rPr lang="en-US" sz="1865" dirty="0"/>
              <a:t>How often did we catch harmful changes?</a:t>
            </a:r>
          </a:p>
        </p:txBody>
      </p:sp>
      <p:sp>
        <p:nvSpPr>
          <p:cNvPr id="14" name="Card"/>
          <p:cNvSpPr/>
          <p:nvPr/>
        </p:nvSpPr>
        <p:spPr>
          <a:xfrm>
            <a:off x="8046720" y="182880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5" name="Icon circle"/>
          <p:cNvSpPr/>
          <p:nvPr/>
        </p:nvSpPr>
        <p:spPr>
          <a:xfrm>
            <a:off x="8290560" y="2072640"/>
            <a:ext cx="609600" cy="609600"/>
          </a:xfrm>
          <a:prstGeom prst="ellipse">
            <a:avLst/>
          </a:prstGeom>
          <a:solidFill>
            <a:schemeClr val="accent1"/>
          </a:solidFill>
        </p:spPr>
        <p:txBody>
          <a:bodyPr/>
          <a:lstStyle/>
          <a:p>
            <a:endParaRPr lang="en-US" sz="2400"/>
          </a:p>
        </p:txBody>
      </p:sp>
      <p:pic>
        <p:nvPicPr>
          <p:cNvPr id="16" name="Image 2" descr="icon"/>
          <p:cNvPicPr>
            <a:picLocks noChangeAspect="1"/>
          </p:cNvPicPr>
          <p:nvPr/>
        </p:nvPicPr>
        <p:blipFill>
          <a:blip r:embed="rId5"/>
          <a:stretch>
            <a:fillRect/>
          </a:stretch>
        </p:blipFill>
        <p:spPr>
          <a:xfrm>
            <a:off x="8455152" y="2237232"/>
            <a:ext cx="280416" cy="280416"/>
          </a:xfrm>
          <a:prstGeom prst="rect">
            <a:avLst/>
          </a:prstGeom>
        </p:spPr>
      </p:pic>
      <p:sp>
        <p:nvSpPr>
          <p:cNvPr id="17" name="Text 12"/>
          <p:cNvSpPr txBox="1"/>
          <p:nvPr/>
        </p:nvSpPr>
        <p:spPr>
          <a:xfrm>
            <a:off x="9083040" y="2072640"/>
            <a:ext cx="2377440" cy="609600"/>
          </a:xfrm>
          <a:prstGeom prst="rect">
            <a:avLst/>
          </a:prstGeom>
          <a:noFill/>
        </p:spPr>
        <p:txBody>
          <a:bodyPr wrap="square" lIns="0" tIns="0" rIns="0" bIns="0" rtlCol="0" anchor="ctr"/>
          <a:lstStyle/>
          <a:p>
            <a:r>
              <a:rPr lang="en-US" sz="2000" b="1" dirty="0"/>
              <a:t>Trace completeness</a:t>
            </a:r>
            <a:endParaRPr lang="en-US" sz="2000" dirty="0"/>
          </a:p>
        </p:txBody>
      </p:sp>
      <p:sp>
        <p:nvSpPr>
          <p:cNvPr id="18" name="Text 13"/>
          <p:cNvSpPr txBox="1"/>
          <p:nvPr/>
        </p:nvSpPr>
        <p:spPr>
          <a:xfrm>
            <a:off x="8290560" y="2828544"/>
            <a:ext cx="3108960" cy="633984"/>
          </a:xfrm>
          <a:prstGeom prst="rect">
            <a:avLst/>
          </a:prstGeom>
          <a:noFill/>
        </p:spPr>
        <p:txBody>
          <a:bodyPr wrap="square" lIns="0" tIns="0" rIns="0" bIns="0" rtlCol="0" anchor="t"/>
          <a:lstStyle/>
          <a:p>
            <a:r>
              <a:rPr lang="en-US" sz="1865" dirty="0"/>
              <a:t>Did we record every important step?</a:t>
            </a:r>
          </a:p>
        </p:txBody>
      </p:sp>
      <p:sp>
        <p:nvSpPr>
          <p:cNvPr id="19" name="Card"/>
          <p:cNvSpPr/>
          <p:nvPr/>
        </p:nvSpPr>
        <p:spPr>
          <a:xfrm>
            <a:off x="609600" y="371856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0" name="Icon circle"/>
          <p:cNvSpPr/>
          <p:nvPr/>
        </p:nvSpPr>
        <p:spPr>
          <a:xfrm>
            <a:off x="853440" y="3962400"/>
            <a:ext cx="609600" cy="609600"/>
          </a:xfrm>
          <a:prstGeom prst="ellipse">
            <a:avLst/>
          </a:prstGeom>
          <a:solidFill>
            <a:schemeClr val="accent1"/>
          </a:solidFill>
        </p:spPr>
        <p:txBody>
          <a:bodyPr/>
          <a:lstStyle/>
          <a:p>
            <a:endParaRPr lang="en-US" sz="2400"/>
          </a:p>
        </p:txBody>
      </p:sp>
      <p:pic>
        <p:nvPicPr>
          <p:cNvPr id="21" name="Image 3" descr="icon"/>
          <p:cNvPicPr>
            <a:picLocks noChangeAspect="1"/>
          </p:cNvPicPr>
          <p:nvPr/>
        </p:nvPicPr>
        <p:blipFill>
          <a:blip r:embed="rId6"/>
          <a:stretch>
            <a:fillRect/>
          </a:stretch>
        </p:blipFill>
        <p:spPr>
          <a:xfrm>
            <a:off x="1018032" y="4126992"/>
            <a:ext cx="280416" cy="280416"/>
          </a:xfrm>
          <a:prstGeom prst="rect">
            <a:avLst/>
          </a:prstGeom>
        </p:spPr>
      </p:pic>
      <p:sp>
        <p:nvSpPr>
          <p:cNvPr id="22" name="Text 16"/>
          <p:cNvSpPr txBox="1"/>
          <p:nvPr/>
        </p:nvSpPr>
        <p:spPr>
          <a:xfrm>
            <a:off x="1645920" y="3962400"/>
            <a:ext cx="2377440" cy="609600"/>
          </a:xfrm>
          <a:prstGeom prst="rect">
            <a:avLst/>
          </a:prstGeom>
          <a:noFill/>
        </p:spPr>
        <p:txBody>
          <a:bodyPr wrap="square" lIns="0" tIns="0" rIns="0" bIns="0" rtlCol="0" anchor="ctr"/>
          <a:lstStyle/>
          <a:p>
            <a:r>
              <a:rPr lang="en-US" sz="2000" b="1" dirty="0"/>
              <a:t>Find and fix time</a:t>
            </a:r>
            <a:endParaRPr lang="en-US" sz="2000" dirty="0"/>
          </a:p>
        </p:txBody>
      </p:sp>
      <p:sp>
        <p:nvSpPr>
          <p:cNvPr id="23" name="Text 17"/>
          <p:cNvSpPr txBox="1"/>
          <p:nvPr/>
        </p:nvSpPr>
        <p:spPr>
          <a:xfrm>
            <a:off x="853440" y="4718304"/>
            <a:ext cx="3108960" cy="633984"/>
          </a:xfrm>
          <a:prstGeom prst="rect">
            <a:avLst/>
          </a:prstGeom>
          <a:noFill/>
        </p:spPr>
        <p:txBody>
          <a:bodyPr wrap="square" lIns="0" tIns="0" rIns="0" bIns="0" rtlCol="0" anchor="t"/>
          <a:lstStyle/>
          <a:p>
            <a:r>
              <a:rPr lang="en-US" sz="1865" dirty="0"/>
              <a:t>How fast did we find the cause and recover?</a:t>
            </a:r>
          </a:p>
        </p:txBody>
      </p:sp>
      <p:sp>
        <p:nvSpPr>
          <p:cNvPr id="24" name="Card"/>
          <p:cNvSpPr/>
          <p:nvPr/>
        </p:nvSpPr>
        <p:spPr>
          <a:xfrm>
            <a:off x="4328160" y="371856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5" name="Icon circle"/>
          <p:cNvSpPr/>
          <p:nvPr/>
        </p:nvSpPr>
        <p:spPr>
          <a:xfrm>
            <a:off x="4572000" y="3962400"/>
            <a:ext cx="609600" cy="609600"/>
          </a:xfrm>
          <a:prstGeom prst="ellipse">
            <a:avLst/>
          </a:prstGeom>
          <a:solidFill>
            <a:schemeClr val="accent1"/>
          </a:solidFill>
        </p:spPr>
        <p:txBody>
          <a:bodyPr/>
          <a:lstStyle/>
          <a:p>
            <a:endParaRPr lang="en-US" sz="2400"/>
          </a:p>
        </p:txBody>
      </p:sp>
      <p:pic>
        <p:nvPicPr>
          <p:cNvPr id="26" name="Image 4" descr="icon"/>
          <p:cNvPicPr>
            <a:picLocks noChangeAspect="1"/>
          </p:cNvPicPr>
          <p:nvPr/>
        </p:nvPicPr>
        <p:blipFill>
          <a:blip r:embed="rId7"/>
          <a:stretch>
            <a:fillRect/>
          </a:stretch>
        </p:blipFill>
        <p:spPr>
          <a:xfrm>
            <a:off x="4736592" y="4126992"/>
            <a:ext cx="280416" cy="280416"/>
          </a:xfrm>
          <a:prstGeom prst="rect">
            <a:avLst/>
          </a:prstGeom>
        </p:spPr>
      </p:pic>
      <p:sp>
        <p:nvSpPr>
          <p:cNvPr id="27" name="Text 20"/>
          <p:cNvSpPr txBox="1"/>
          <p:nvPr/>
        </p:nvSpPr>
        <p:spPr>
          <a:xfrm>
            <a:off x="5364480" y="3962400"/>
            <a:ext cx="2377440" cy="609600"/>
          </a:xfrm>
          <a:prstGeom prst="rect">
            <a:avLst/>
          </a:prstGeom>
          <a:noFill/>
        </p:spPr>
        <p:txBody>
          <a:bodyPr wrap="square" lIns="0" tIns="0" rIns="0" bIns="0" rtlCol="0" anchor="ctr"/>
          <a:lstStyle/>
          <a:p>
            <a:r>
              <a:rPr lang="en-US" sz="2000" b="1" dirty="0"/>
              <a:t>Speed and cost</a:t>
            </a:r>
            <a:endParaRPr lang="en-US" sz="2000" dirty="0"/>
          </a:p>
        </p:txBody>
      </p:sp>
      <p:sp>
        <p:nvSpPr>
          <p:cNvPr id="28" name="Text 21"/>
          <p:cNvSpPr txBox="1"/>
          <p:nvPr/>
        </p:nvSpPr>
        <p:spPr>
          <a:xfrm>
            <a:off x="4572000" y="4718304"/>
            <a:ext cx="3108960" cy="633984"/>
          </a:xfrm>
          <a:prstGeom prst="rect">
            <a:avLst/>
          </a:prstGeom>
          <a:noFill/>
        </p:spPr>
        <p:txBody>
          <a:bodyPr wrap="square" lIns="0" tIns="0" rIns="0" bIns="0" rtlCol="0" anchor="t"/>
          <a:lstStyle/>
          <a:p>
            <a:r>
              <a:rPr lang="en-US" sz="1865" dirty="0"/>
              <a:t>Time and AI cost for each task.</a:t>
            </a:r>
          </a:p>
        </p:txBody>
      </p:sp>
      <p:sp>
        <p:nvSpPr>
          <p:cNvPr id="29" name="Card"/>
          <p:cNvSpPr/>
          <p:nvPr/>
        </p:nvSpPr>
        <p:spPr>
          <a:xfrm>
            <a:off x="8046720" y="3718560"/>
            <a:ext cx="3535680" cy="17068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30" name="Icon circle"/>
          <p:cNvSpPr/>
          <p:nvPr/>
        </p:nvSpPr>
        <p:spPr>
          <a:xfrm>
            <a:off x="8290560" y="3962400"/>
            <a:ext cx="609600" cy="609600"/>
          </a:xfrm>
          <a:prstGeom prst="ellipse">
            <a:avLst/>
          </a:prstGeom>
          <a:solidFill>
            <a:schemeClr val="accent1"/>
          </a:solidFill>
        </p:spPr>
        <p:txBody>
          <a:bodyPr/>
          <a:lstStyle/>
          <a:p>
            <a:endParaRPr lang="en-US" sz="2400"/>
          </a:p>
        </p:txBody>
      </p:sp>
      <p:pic>
        <p:nvPicPr>
          <p:cNvPr id="31" name="Image 5" descr="icon"/>
          <p:cNvPicPr>
            <a:picLocks noChangeAspect="1"/>
          </p:cNvPicPr>
          <p:nvPr/>
        </p:nvPicPr>
        <p:blipFill>
          <a:blip r:embed="rId8"/>
          <a:stretch>
            <a:fillRect/>
          </a:stretch>
        </p:blipFill>
        <p:spPr>
          <a:xfrm>
            <a:off x="8455152" y="4126992"/>
            <a:ext cx="280416" cy="280416"/>
          </a:xfrm>
          <a:prstGeom prst="rect">
            <a:avLst/>
          </a:prstGeom>
        </p:spPr>
      </p:pic>
      <p:sp>
        <p:nvSpPr>
          <p:cNvPr id="32" name="Text 24"/>
          <p:cNvSpPr txBox="1"/>
          <p:nvPr/>
        </p:nvSpPr>
        <p:spPr>
          <a:xfrm>
            <a:off x="9083040" y="3962400"/>
            <a:ext cx="2377440" cy="609600"/>
          </a:xfrm>
          <a:prstGeom prst="rect">
            <a:avLst/>
          </a:prstGeom>
          <a:noFill/>
        </p:spPr>
        <p:txBody>
          <a:bodyPr wrap="square" lIns="0" tIns="0" rIns="0" bIns="0" rtlCol="0" anchor="ctr"/>
          <a:lstStyle/>
          <a:p>
            <a:r>
              <a:rPr lang="en-US" sz="2000" b="1" dirty="0"/>
              <a:t>Release decisions</a:t>
            </a:r>
            <a:endParaRPr lang="en-US" sz="2000" dirty="0"/>
          </a:p>
        </p:txBody>
      </p:sp>
      <p:sp>
        <p:nvSpPr>
          <p:cNvPr id="33" name="Text 25"/>
          <p:cNvSpPr txBox="1"/>
          <p:nvPr/>
        </p:nvSpPr>
        <p:spPr>
          <a:xfrm>
            <a:off x="8290560" y="4718304"/>
            <a:ext cx="3108960" cy="633984"/>
          </a:xfrm>
          <a:prstGeom prst="rect">
            <a:avLst/>
          </a:prstGeom>
          <a:noFill/>
        </p:spPr>
        <p:txBody>
          <a:bodyPr wrap="square" lIns="0" tIns="0" rIns="0" bIns="0" rtlCol="0" anchor="t"/>
          <a:lstStyle/>
          <a:p>
            <a:r>
              <a:rPr lang="en-US" sz="1865" dirty="0"/>
              <a:t>Did the evidence support pass, block or roll back?</a:t>
            </a:r>
          </a:p>
        </p:txBody>
      </p:sp>
      <p:sp>
        <p:nvSpPr>
          <p:cNvPr id="34" name="Banner"/>
          <p:cNvSpPr/>
          <p:nvPr/>
        </p:nvSpPr>
        <p:spPr>
          <a:xfrm>
            <a:off x="609600" y="5730240"/>
            <a:ext cx="10972800" cy="548640"/>
          </a:xfrm>
          <a:prstGeom prst="roundRect">
            <a:avLst>
              <a:gd name="adj" fmla="val 17778"/>
            </a:avLst>
          </a:prstGeom>
          <a:solidFill>
            <a:schemeClr val="tx2"/>
          </a:solidFill>
          <a:effectLst>
            <a:outerShdw blurRad="88900" dist="25400" dir="5400000" algn="bl" rotWithShape="0">
              <a:srgbClr val="0B1633">
                <a:alpha val="13000"/>
              </a:srgbClr>
            </a:outerShdw>
          </a:effectLst>
        </p:spPr>
        <p:txBody>
          <a:bodyPr/>
          <a:lstStyle/>
          <a:p>
            <a:endParaRPr lang="en-US" sz="2400"/>
          </a:p>
        </p:txBody>
      </p:sp>
      <p:sp>
        <p:nvSpPr>
          <p:cNvPr id="35" name="Text 27"/>
          <p:cNvSpPr txBox="1"/>
          <p:nvPr/>
        </p:nvSpPr>
        <p:spPr>
          <a:xfrm>
            <a:off x="914400" y="5876544"/>
            <a:ext cx="10363200" cy="268224"/>
          </a:xfrm>
          <a:prstGeom prst="rect">
            <a:avLst/>
          </a:prstGeom>
          <a:noFill/>
        </p:spPr>
        <p:txBody>
          <a:bodyPr wrap="square" lIns="0" tIns="0" rIns="0" bIns="0" rtlCol="0" anchor="t"/>
          <a:lstStyle/>
          <a:p>
            <a:endParaRPr lang="en-US" sz="1335" dirty="0"/>
          </a:p>
        </p:txBody>
      </p:sp>
      <p:sp>
        <p:nvSpPr>
          <p:cNvPr id="36" name="Text 28"/>
          <p:cNvSpPr txBox="1"/>
          <p:nvPr/>
        </p:nvSpPr>
        <p:spPr>
          <a:xfrm>
            <a:off x="914400" y="6193536"/>
            <a:ext cx="10363200" cy="12192"/>
          </a:xfrm>
          <a:prstGeom prst="rect">
            <a:avLst/>
          </a:prstGeom>
          <a:noFill/>
        </p:spPr>
        <p:txBody>
          <a:bodyPr wrap="square" lIns="0" tIns="0" rIns="0" bIns="0" rtlCol="0" anchor="t"/>
          <a:lstStyle/>
          <a:p>
            <a:endParaRPr lang="en-US" sz="1865" dirty="0"/>
          </a:p>
        </p:txBody>
      </p:sp>
      <p:sp>
        <p:nvSpPr>
          <p:cNvPr id="37" name="Text 29"/>
          <p:cNvSpPr txBox="1"/>
          <p:nvPr/>
        </p:nvSpPr>
        <p:spPr>
          <a:xfrm>
            <a:off x="914400" y="5730240"/>
            <a:ext cx="10363200" cy="548640"/>
          </a:xfrm>
          <a:prstGeom prst="rect">
            <a:avLst/>
          </a:prstGeom>
          <a:noFill/>
        </p:spPr>
        <p:txBody>
          <a:bodyPr wrap="square" lIns="0" tIns="0" rIns="0" bIns="0" rtlCol="0" anchor="ctr"/>
          <a:lstStyle/>
          <a:p>
            <a:r>
              <a:rPr lang="en-US" sz="1865" dirty="0">
                <a:solidFill>
                  <a:schemeClr val="bg1"/>
                </a:solidFill>
              </a:rPr>
              <a:t>Limits are set after baseline tests and before the experiments, never after seeing results.</a:t>
            </a:r>
            <a:endParaRPr lang="en-US" sz="186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p:spPr>
        <p:txBody>
          <a:bodyPr wrap="square" lIns="0" tIns="0" rIns="0" bIns="0" rtlCol="0" anchor="ctr"/>
          <a:lstStyle/>
          <a:p>
            <a:r>
              <a:rPr lang="en-US" dirty="0"/>
              <a:t>Our 12-week plan</a:t>
            </a:r>
          </a:p>
        </p:txBody>
      </p:sp>
      <p:sp>
        <p:nvSpPr>
          <p:cNvPr id="3" name="Text 0"/>
          <p:cNvSpPr>
            <a:spLocks noGrp="1"/>
          </p:cNvSpPr>
          <p:nvPr>
            <p:ph type="body" idx="101"/>
          </p:nvPr>
        </p:nvSpPr>
        <p:spPr>
          <a:prstGeom prst="rect">
            <a:avLst/>
          </a:prstGeom>
          <a:noFill/>
        </p:spPr>
        <p:txBody>
          <a:bodyPr wrap="square" lIns="0" tIns="0" rIns="0" bIns="0" rtlCol="0" anchor="t"/>
          <a:lstStyle/>
          <a:p>
            <a:r>
              <a:rPr lang="en-US" dirty="0"/>
              <a:t>Six steps, two weeks each, from design to final report.</a:t>
            </a:r>
          </a:p>
        </p:txBody>
      </p:sp>
      <p:sp>
        <p:nvSpPr>
          <p:cNvPr id="35" name="Slide Number Placeholder 0"/>
          <p:cNvSpPr>
            <a:spLocks noGrp="1"/>
          </p:cNvSpPr>
          <p:nvPr>
            <p:ph type="sldNum" sz="quarter" idx="4294967295"/>
          </p:nvPr>
        </p:nvSpPr>
        <p:spPr>
          <a:xfrm>
            <a:off x="10972800" y="6339840"/>
            <a:ext cx="609600" cy="304800"/>
          </a:xfrm>
          <a:prstGeom prst="rect">
            <a:avLst/>
          </a:prstGeom>
        </p:spPr>
        <p:txBody>
          <a:bodyPr/>
          <a:lstStyle>
            <a:lvl1pPr>
              <a:defRPr sz="1335">
                <a:solidFill>
                  <a:schemeClr val="accent6"/>
                </a:solidFill>
              </a:defRPr>
            </a:lvl1pPr>
          </a:lstStyle>
          <a:p>
            <a:pPr algn="r"/>
            <a:fld id="{F7021451-1387-4CA6-816F-3879F97B5CBC}" type="slidenum">
              <a:rPr lang="en-US" b="0"/>
              <a:t>10</a:t>
            </a:fld>
            <a:endParaRPr lang="en-US"/>
          </a:p>
        </p:txBody>
      </p:sp>
      <p:sp>
        <p:nvSpPr>
          <p:cNvPr id="4" name="Connector"/>
          <p:cNvSpPr/>
          <p:nvPr/>
        </p:nvSpPr>
        <p:spPr>
          <a:xfrm>
            <a:off x="1097280" y="2804160"/>
            <a:ext cx="9997440" cy="0"/>
          </a:xfrm>
          <a:prstGeom prst="line">
            <a:avLst/>
          </a:prstGeom>
          <a:noFill/>
          <a:ln w="19050">
            <a:solidFill>
              <a:schemeClr val="accent6"/>
            </a:solidFill>
            <a:prstDash val="solid"/>
          </a:ln>
        </p:spPr>
        <p:txBody>
          <a:bodyPr/>
          <a:lstStyle/>
          <a:p>
            <a:endParaRPr lang="en-US" sz="2400"/>
          </a:p>
        </p:txBody>
      </p:sp>
      <p:sp>
        <p:nvSpPr>
          <p:cNvPr id="5" name="Week chip"/>
          <p:cNvSpPr txBox="1"/>
          <p:nvPr/>
        </p:nvSpPr>
        <p:spPr>
          <a:xfrm>
            <a:off x="609600" y="1889760"/>
            <a:ext cx="1706880" cy="365760"/>
          </a:xfrm>
          <a:prstGeom prst="roundRect">
            <a:avLst>
              <a:gd name="adj" fmla="val 40000"/>
            </a:avLst>
          </a:prstGeom>
          <a:solidFill>
            <a:schemeClr val="accent1"/>
          </a:solidFill>
        </p:spPr>
        <p:txBody>
          <a:bodyPr wrap="square" lIns="0" tIns="0" rIns="0" bIns="0" rtlCol="0" anchor="ctr"/>
          <a:lstStyle/>
          <a:p>
            <a:pPr algn="ctr"/>
            <a:r>
              <a:rPr lang="en-US" sz="1465" b="1" dirty="0">
                <a:solidFill>
                  <a:schemeClr val="bg1"/>
                </a:solidFill>
              </a:rPr>
              <a:t>WEEKS 1-2</a:t>
            </a:r>
            <a:endParaRPr lang="en-US" sz="1465" dirty="0"/>
          </a:p>
        </p:txBody>
      </p:sp>
      <p:sp>
        <p:nvSpPr>
          <p:cNvPr id="6" name="Badge 1"/>
          <p:cNvSpPr txBox="1"/>
          <p:nvPr/>
        </p:nvSpPr>
        <p:spPr>
          <a:xfrm>
            <a:off x="1280160" y="2621280"/>
            <a:ext cx="365760" cy="365760"/>
          </a:xfrm>
          <a:prstGeom prst="ellipse">
            <a:avLst/>
          </a:prstGeom>
          <a:solidFill>
            <a:schemeClr val="accent1"/>
          </a:solidFill>
        </p:spPr>
        <p:txBody>
          <a:bodyPr wrap="square" lIns="0" tIns="0" rIns="0" bIns="0" rtlCol="0" anchor="ctr"/>
          <a:lstStyle/>
          <a:p>
            <a:pPr algn="ctr"/>
            <a:r>
              <a:rPr lang="en-US" sz="1465" b="1" dirty="0">
                <a:solidFill>
                  <a:schemeClr val="bg1"/>
                </a:solidFill>
              </a:rPr>
              <a:t>1</a:t>
            </a:r>
            <a:endParaRPr lang="en-US" sz="1465" dirty="0"/>
          </a:p>
        </p:txBody>
      </p:sp>
      <p:sp>
        <p:nvSpPr>
          <p:cNvPr id="7" name="Card"/>
          <p:cNvSpPr/>
          <p:nvPr/>
        </p:nvSpPr>
        <p:spPr>
          <a:xfrm>
            <a:off x="609600" y="3169920"/>
            <a:ext cx="1706880" cy="29260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8" name="Text 6"/>
          <p:cNvSpPr txBox="1"/>
          <p:nvPr/>
        </p:nvSpPr>
        <p:spPr>
          <a:xfrm>
            <a:off x="755904" y="3316224"/>
            <a:ext cx="1414272" cy="731520"/>
          </a:xfrm>
          <a:prstGeom prst="rect">
            <a:avLst/>
          </a:prstGeom>
          <a:noFill/>
        </p:spPr>
        <p:txBody>
          <a:bodyPr wrap="square" lIns="0" tIns="0" rIns="0" bIns="0" rtlCol="0" anchor="t"/>
          <a:lstStyle/>
          <a:p>
            <a:r>
              <a:rPr lang="en-US" sz="2000" b="1" dirty="0"/>
              <a:t>Design</a:t>
            </a:r>
            <a:endParaRPr lang="en-US" sz="2000" dirty="0"/>
          </a:p>
        </p:txBody>
      </p:sp>
      <p:sp>
        <p:nvSpPr>
          <p:cNvPr id="9" name="Text 7"/>
          <p:cNvSpPr txBox="1"/>
          <p:nvPr/>
        </p:nvSpPr>
        <p:spPr>
          <a:xfrm>
            <a:off x="755904" y="4084320"/>
            <a:ext cx="1414272" cy="1950720"/>
          </a:xfrm>
          <a:prstGeom prst="rect">
            <a:avLst/>
          </a:prstGeom>
          <a:noFill/>
        </p:spPr>
        <p:txBody>
          <a:bodyPr wrap="square" lIns="0" tIns="0" rIns="0" bIns="0" rtlCol="0" anchor="t"/>
          <a:lstStyle/>
          <a:p>
            <a:r>
              <a:rPr lang="en-US" sz="1865" dirty="0"/>
              <a:t>Pick two agents, test cases and metrics. Set the baseline.</a:t>
            </a:r>
          </a:p>
        </p:txBody>
      </p:sp>
      <p:sp>
        <p:nvSpPr>
          <p:cNvPr id="10" name="Week chip"/>
          <p:cNvSpPr txBox="1"/>
          <p:nvPr/>
        </p:nvSpPr>
        <p:spPr>
          <a:xfrm>
            <a:off x="2462784" y="1889760"/>
            <a:ext cx="1706880" cy="365760"/>
          </a:xfrm>
          <a:prstGeom prst="roundRect">
            <a:avLst>
              <a:gd name="adj" fmla="val 40000"/>
            </a:avLst>
          </a:prstGeom>
          <a:solidFill>
            <a:schemeClr val="accent1"/>
          </a:solidFill>
        </p:spPr>
        <p:txBody>
          <a:bodyPr wrap="square" lIns="0" tIns="0" rIns="0" bIns="0" rtlCol="0" anchor="ctr"/>
          <a:lstStyle/>
          <a:p>
            <a:pPr algn="ctr"/>
            <a:r>
              <a:rPr lang="en-US" sz="1465" b="1" dirty="0">
                <a:solidFill>
                  <a:schemeClr val="bg1"/>
                </a:solidFill>
              </a:rPr>
              <a:t>WEEKS 3-4</a:t>
            </a:r>
            <a:endParaRPr lang="en-US" sz="1465" dirty="0"/>
          </a:p>
        </p:txBody>
      </p:sp>
      <p:sp>
        <p:nvSpPr>
          <p:cNvPr id="11" name="Badge 2"/>
          <p:cNvSpPr txBox="1"/>
          <p:nvPr/>
        </p:nvSpPr>
        <p:spPr>
          <a:xfrm>
            <a:off x="3133344" y="2621280"/>
            <a:ext cx="365760" cy="365760"/>
          </a:xfrm>
          <a:prstGeom prst="ellipse">
            <a:avLst/>
          </a:prstGeom>
          <a:solidFill>
            <a:schemeClr val="accent1"/>
          </a:solidFill>
        </p:spPr>
        <p:txBody>
          <a:bodyPr wrap="square" lIns="0" tIns="0" rIns="0" bIns="0" rtlCol="0" anchor="ctr"/>
          <a:lstStyle/>
          <a:p>
            <a:pPr algn="ctr"/>
            <a:r>
              <a:rPr lang="en-US" sz="1465" b="1" dirty="0">
                <a:solidFill>
                  <a:schemeClr val="bg1"/>
                </a:solidFill>
              </a:rPr>
              <a:t>2</a:t>
            </a:r>
            <a:endParaRPr lang="en-US" sz="1465" dirty="0"/>
          </a:p>
        </p:txBody>
      </p:sp>
      <p:sp>
        <p:nvSpPr>
          <p:cNvPr id="12" name="Card"/>
          <p:cNvSpPr/>
          <p:nvPr/>
        </p:nvSpPr>
        <p:spPr>
          <a:xfrm>
            <a:off x="2462784" y="3169920"/>
            <a:ext cx="1706880" cy="29260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3" name="Text 11"/>
          <p:cNvSpPr txBox="1"/>
          <p:nvPr/>
        </p:nvSpPr>
        <p:spPr>
          <a:xfrm>
            <a:off x="2609088" y="3316224"/>
            <a:ext cx="1414272" cy="731520"/>
          </a:xfrm>
          <a:prstGeom prst="rect">
            <a:avLst/>
          </a:prstGeom>
          <a:noFill/>
        </p:spPr>
        <p:txBody>
          <a:bodyPr wrap="square" lIns="0" tIns="0" rIns="0" bIns="0" rtlCol="0" anchor="t"/>
          <a:lstStyle/>
          <a:p>
            <a:r>
              <a:rPr lang="en-US" sz="2000" b="1" dirty="0"/>
              <a:t>Build and record</a:t>
            </a:r>
            <a:endParaRPr lang="en-US" sz="2000" dirty="0"/>
          </a:p>
        </p:txBody>
      </p:sp>
      <p:sp>
        <p:nvSpPr>
          <p:cNvPr id="14" name="Text 12"/>
          <p:cNvSpPr txBox="1"/>
          <p:nvPr/>
        </p:nvSpPr>
        <p:spPr>
          <a:xfrm>
            <a:off x="2609088" y="4084320"/>
            <a:ext cx="1414272" cy="1950720"/>
          </a:xfrm>
          <a:prstGeom prst="rect">
            <a:avLst/>
          </a:prstGeom>
          <a:noFill/>
        </p:spPr>
        <p:txBody>
          <a:bodyPr wrap="square" lIns="0" tIns="0" rIns="0" bIns="0" rtlCol="0" anchor="t"/>
          <a:lstStyle/>
          <a:p>
            <a:r>
              <a:rPr lang="en-US" sz="1865" dirty="0"/>
              <a:t>Build two LangGraph agents. Add tracing.</a:t>
            </a:r>
          </a:p>
        </p:txBody>
      </p:sp>
      <p:sp>
        <p:nvSpPr>
          <p:cNvPr id="15" name="Week chip"/>
          <p:cNvSpPr txBox="1"/>
          <p:nvPr/>
        </p:nvSpPr>
        <p:spPr>
          <a:xfrm>
            <a:off x="4315968" y="1889760"/>
            <a:ext cx="1706880" cy="365760"/>
          </a:xfrm>
          <a:prstGeom prst="roundRect">
            <a:avLst>
              <a:gd name="adj" fmla="val 40000"/>
            </a:avLst>
          </a:prstGeom>
          <a:solidFill>
            <a:schemeClr val="accent1"/>
          </a:solidFill>
        </p:spPr>
        <p:txBody>
          <a:bodyPr wrap="square" lIns="0" tIns="0" rIns="0" bIns="0" rtlCol="0" anchor="ctr"/>
          <a:lstStyle/>
          <a:p>
            <a:pPr algn="ctr"/>
            <a:r>
              <a:rPr lang="en-US" sz="1465" b="1" dirty="0">
                <a:solidFill>
                  <a:schemeClr val="bg1"/>
                </a:solidFill>
              </a:rPr>
              <a:t>WEEKS 5-6</a:t>
            </a:r>
            <a:endParaRPr lang="en-US" sz="1465" dirty="0"/>
          </a:p>
        </p:txBody>
      </p:sp>
      <p:sp>
        <p:nvSpPr>
          <p:cNvPr id="16" name="Badge 3"/>
          <p:cNvSpPr txBox="1"/>
          <p:nvPr/>
        </p:nvSpPr>
        <p:spPr>
          <a:xfrm>
            <a:off x="4986528" y="2621280"/>
            <a:ext cx="365760" cy="365760"/>
          </a:xfrm>
          <a:prstGeom prst="ellipse">
            <a:avLst/>
          </a:prstGeom>
          <a:solidFill>
            <a:schemeClr val="accent1"/>
          </a:solidFill>
        </p:spPr>
        <p:txBody>
          <a:bodyPr wrap="square" lIns="0" tIns="0" rIns="0" bIns="0" rtlCol="0" anchor="ctr"/>
          <a:lstStyle/>
          <a:p>
            <a:pPr algn="ctr"/>
            <a:r>
              <a:rPr lang="en-US" sz="1465" b="1" dirty="0">
                <a:solidFill>
                  <a:schemeClr val="bg1"/>
                </a:solidFill>
              </a:rPr>
              <a:t>3</a:t>
            </a:r>
            <a:endParaRPr lang="en-US" sz="1465" dirty="0"/>
          </a:p>
        </p:txBody>
      </p:sp>
      <p:sp>
        <p:nvSpPr>
          <p:cNvPr id="17" name="Card"/>
          <p:cNvSpPr/>
          <p:nvPr/>
        </p:nvSpPr>
        <p:spPr>
          <a:xfrm>
            <a:off x="4315968" y="3169920"/>
            <a:ext cx="1706880" cy="29260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8" name="Text 16"/>
          <p:cNvSpPr txBox="1"/>
          <p:nvPr/>
        </p:nvSpPr>
        <p:spPr>
          <a:xfrm>
            <a:off x="4462272" y="3316224"/>
            <a:ext cx="1414272" cy="731520"/>
          </a:xfrm>
          <a:prstGeom prst="rect">
            <a:avLst/>
          </a:prstGeom>
          <a:noFill/>
        </p:spPr>
        <p:txBody>
          <a:bodyPr wrap="square" lIns="0" tIns="0" rIns="0" bIns="0" rtlCol="0" anchor="t"/>
          <a:lstStyle/>
          <a:p>
            <a:r>
              <a:rPr lang="en-US" sz="2000" b="1" dirty="0"/>
              <a:t>Test</a:t>
            </a:r>
            <a:endParaRPr lang="en-US" sz="2000" dirty="0"/>
          </a:p>
        </p:txBody>
      </p:sp>
      <p:sp>
        <p:nvSpPr>
          <p:cNvPr id="19" name="Text 17"/>
          <p:cNvSpPr txBox="1"/>
          <p:nvPr/>
        </p:nvSpPr>
        <p:spPr>
          <a:xfrm>
            <a:off x="4462272" y="4084320"/>
            <a:ext cx="1414272" cy="1950720"/>
          </a:xfrm>
          <a:prstGeom prst="rect">
            <a:avLst/>
          </a:prstGeom>
          <a:noFill/>
        </p:spPr>
        <p:txBody>
          <a:bodyPr wrap="square" lIns="0" tIns="0" rIns="0" bIns="0" rtlCol="0" anchor="t"/>
          <a:lstStyle/>
          <a:p>
            <a:r>
              <a:rPr lang="en-US" sz="1865" dirty="0"/>
              <a:t>Create the test dataset and regression checks.</a:t>
            </a:r>
          </a:p>
        </p:txBody>
      </p:sp>
      <p:sp>
        <p:nvSpPr>
          <p:cNvPr id="20" name="Week chip"/>
          <p:cNvSpPr txBox="1"/>
          <p:nvPr/>
        </p:nvSpPr>
        <p:spPr>
          <a:xfrm>
            <a:off x="6169152" y="1889760"/>
            <a:ext cx="1706880" cy="365760"/>
          </a:xfrm>
          <a:prstGeom prst="roundRect">
            <a:avLst>
              <a:gd name="adj" fmla="val 40000"/>
            </a:avLst>
          </a:prstGeom>
          <a:solidFill>
            <a:schemeClr val="accent1"/>
          </a:solidFill>
        </p:spPr>
        <p:txBody>
          <a:bodyPr wrap="square" lIns="0" tIns="0" rIns="0" bIns="0" rtlCol="0" anchor="ctr"/>
          <a:lstStyle/>
          <a:p>
            <a:pPr algn="ctr"/>
            <a:r>
              <a:rPr lang="en-US" sz="1465" b="1" dirty="0">
                <a:solidFill>
                  <a:schemeClr val="bg1"/>
                </a:solidFill>
              </a:rPr>
              <a:t>WEEKS 7-8</a:t>
            </a:r>
            <a:endParaRPr lang="en-US" sz="1465" dirty="0"/>
          </a:p>
        </p:txBody>
      </p:sp>
      <p:sp>
        <p:nvSpPr>
          <p:cNvPr id="21" name="Badge 4"/>
          <p:cNvSpPr txBox="1"/>
          <p:nvPr/>
        </p:nvSpPr>
        <p:spPr>
          <a:xfrm>
            <a:off x="6839712" y="2621280"/>
            <a:ext cx="365760" cy="365760"/>
          </a:xfrm>
          <a:prstGeom prst="ellipse">
            <a:avLst/>
          </a:prstGeom>
          <a:solidFill>
            <a:schemeClr val="accent1"/>
          </a:solidFill>
        </p:spPr>
        <p:txBody>
          <a:bodyPr wrap="square" lIns="0" tIns="0" rIns="0" bIns="0" rtlCol="0" anchor="ctr"/>
          <a:lstStyle/>
          <a:p>
            <a:pPr algn="ctr"/>
            <a:r>
              <a:rPr lang="en-US" sz="1465" b="1" dirty="0">
                <a:solidFill>
                  <a:schemeClr val="bg1"/>
                </a:solidFill>
              </a:rPr>
              <a:t>4</a:t>
            </a:r>
            <a:endParaRPr lang="en-US" sz="1465" dirty="0"/>
          </a:p>
        </p:txBody>
      </p:sp>
      <p:sp>
        <p:nvSpPr>
          <p:cNvPr id="22" name="Card"/>
          <p:cNvSpPr/>
          <p:nvPr/>
        </p:nvSpPr>
        <p:spPr>
          <a:xfrm>
            <a:off x="6169152" y="3169920"/>
            <a:ext cx="1706880" cy="29260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3" name="Text 21"/>
          <p:cNvSpPr txBox="1"/>
          <p:nvPr/>
        </p:nvSpPr>
        <p:spPr>
          <a:xfrm>
            <a:off x="6315456" y="3316224"/>
            <a:ext cx="1414272" cy="731520"/>
          </a:xfrm>
          <a:prstGeom prst="rect">
            <a:avLst/>
          </a:prstGeom>
          <a:noFill/>
        </p:spPr>
        <p:txBody>
          <a:bodyPr wrap="square" lIns="0" tIns="0" rIns="0" bIns="0" rtlCol="0" anchor="t"/>
          <a:lstStyle/>
          <a:p>
            <a:r>
              <a:rPr lang="en-US" sz="2000" b="1" dirty="0"/>
              <a:t>Control and compare</a:t>
            </a:r>
            <a:endParaRPr lang="en-US" sz="2000" dirty="0"/>
          </a:p>
        </p:txBody>
      </p:sp>
      <p:sp>
        <p:nvSpPr>
          <p:cNvPr id="24" name="Text 22"/>
          <p:cNvSpPr txBox="1"/>
          <p:nvPr/>
        </p:nvSpPr>
        <p:spPr>
          <a:xfrm>
            <a:off x="6315456" y="4084320"/>
            <a:ext cx="1414272" cy="1950720"/>
          </a:xfrm>
          <a:prstGeom prst="rect">
            <a:avLst/>
          </a:prstGeom>
          <a:noFill/>
        </p:spPr>
        <p:txBody>
          <a:bodyPr wrap="square" lIns="0" tIns="0" rIns="0" bIns="0" rtlCol="0" anchor="t"/>
          <a:lstStyle/>
          <a:p>
            <a:r>
              <a:rPr lang="en-US" sz="1865" dirty="0"/>
              <a:t>Add safety rules, release gates and error budgets. Compare both tools.</a:t>
            </a:r>
          </a:p>
        </p:txBody>
      </p:sp>
      <p:sp>
        <p:nvSpPr>
          <p:cNvPr id="25" name="Week chip"/>
          <p:cNvSpPr txBox="1"/>
          <p:nvPr/>
        </p:nvSpPr>
        <p:spPr>
          <a:xfrm>
            <a:off x="8022336" y="1889760"/>
            <a:ext cx="1706880" cy="365760"/>
          </a:xfrm>
          <a:prstGeom prst="roundRect">
            <a:avLst>
              <a:gd name="adj" fmla="val 40000"/>
            </a:avLst>
          </a:prstGeom>
          <a:solidFill>
            <a:schemeClr val="accent1"/>
          </a:solidFill>
        </p:spPr>
        <p:txBody>
          <a:bodyPr wrap="square" lIns="0" tIns="0" rIns="0" bIns="0" rtlCol="0" anchor="ctr"/>
          <a:lstStyle/>
          <a:p>
            <a:pPr algn="ctr"/>
            <a:r>
              <a:rPr lang="en-US" sz="1465" b="1" dirty="0">
                <a:solidFill>
                  <a:schemeClr val="bg1"/>
                </a:solidFill>
              </a:rPr>
              <a:t>WEEKS 9-10</a:t>
            </a:r>
            <a:endParaRPr lang="en-US" sz="1465" dirty="0"/>
          </a:p>
        </p:txBody>
      </p:sp>
      <p:sp>
        <p:nvSpPr>
          <p:cNvPr id="26" name="Badge 5"/>
          <p:cNvSpPr txBox="1"/>
          <p:nvPr/>
        </p:nvSpPr>
        <p:spPr>
          <a:xfrm>
            <a:off x="8692896" y="2621280"/>
            <a:ext cx="365760" cy="365760"/>
          </a:xfrm>
          <a:prstGeom prst="ellipse">
            <a:avLst/>
          </a:prstGeom>
          <a:solidFill>
            <a:schemeClr val="accent1"/>
          </a:solidFill>
        </p:spPr>
        <p:txBody>
          <a:bodyPr wrap="square" lIns="0" tIns="0" rIns="0" bIns="0" rtlCol="0" anchor="ctr"/>
          <a:lstStyle/>
          <a:p>
            <a:pPr algn="ctr"/>
            <a:r>
              <a:rPr lang="en-US" sz="1465" b="1" dirty="0">
                <a:solidFill>
                  <a:schemeClr val="bg1"/>
                </a:solidFill>
              </a:rPr>
              <a:t>5</a:t>
            </a:r>
            <a:endParaRPr lang="en-US" sz="1465" dirty="0"/>
          </a:p>
        </p:txBody>
      </p:sp>
      <p:sp>
        <p:nvSpPr>
          <p:cNvPr id="27" name="Card"/>
          <p:cNvSpPr/>
          <p:nvPr/>
        </p:nvSpPr>
        <p:spPr>
          <a:xfrm>
            <a:off x="8022336" y="3169920"/>
            <a:ext cx="1706880" cy="29260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8" name="Text 26"/>
          <p:cNvSpPr txBox="1"/>
          <p:nvPr/>
        </p:nvSpPr>
        <p:spPr>
          <a:xfrm>
            <a:off x="8168640" y="3316224"/>
            <a:ext cx="1414272" cy="731520"/>
          </a:xfrm>
          <a:prstGeom prst="rect">
            <a:avLst/>
          </a:prstGeom>
          <a:noFill/>
        </p:spPr>
        <p:txBody>
          <a:bodyPr wrap="square" lIns="0" tIns="0" rIns="0" bIns="0" rtlCol="0" anchor="t"/>
          <a:lstStyle/>
          <a:p>
            <a:r>
              <a:rPr lang="en-US" sz="2000" b="1" dirty="0"/>
              <a:t>Release and watch</a:t>
            </a:r>
            <a:endParaRPr lang="en-US" sz="2000" dirty="0"/>
          </a:p>
        </p:txBody>
      </p:sp>
      <p:sp>
        <p:nvSpPr>
          <p:cNvPr id="29" name="Text 27"/>
          <p:cNvSpPr txBox="1"/>
          <p:nvPr/>
        </p:nvSpPr>
        <p:spPr>
          <a:xfrm>
            <a:off x="8168640" y="4084320"/>
            <a:ext cx="1414272" cy="1950720"/>
          </a:xfrm>
          <a:prstGeom prst="rect">
            <a:avLst/>
          </a:prstGeom>
          <a:noFill/>
        </p:spPr>
        <p:txBody>
          <a:bodyPr wrap="square" lIns="0" tIns="0" rIns="0" bIns="0" rtlCol="0" anchor="t"/>
          <a:lstStyle/>
          <a:p>
            <a:r>
              <a:rPr lang="en-US" sz="1865" dirty="0"/>
              <a:t>Run controlled changes, canary releases and rollbacks.</a:t>
            </a:r>
          </a:p>
        </p:txBody>
      </p:sp>
      <p:sp>
        <p:nvSpPr>
          <p:cNvPr id="30" name="Week chip"/>
          <p:cNvSpPr txBox="1"/>
          <p:nvPr/>
        </p:nvSpPr>
        <p:spPr>
          <a:xfrm>
            <a:off x="9875520" y="1889760"/>
            <a:ext cx="1706880" cy="365760"/>
          </a:xfrm>
          <a:prstGeom prst="roundRect">
            <a:avLst>
              <a:gd name="adj" fmla="val 40000"/>
            </a:avLst>
          </a:prstGeom>
          <a:solidFill>
            <a:schemeClr val="accent1"/>
          </a:solidFill>
        </p:spPr>
        <p:txBody>
          <a:bodyPr wrap="square" lIns="0" tIns="0" rIns="0" bIns="0" rtlCol="0" anchor="ctr"/>
          <a:lstStyle/>
          <a:p>
            <a:pPr algn="ctr"/>
            <a:r>
              <a:rPr lang="en-US" sz="1465" b="1" dirty="0">
                <a:solidFill>
                  <a:schemeClr val="bg1"/>
                </a:solidFill>
              </a:rPr>
              <a:t>WEEKS 11-12</a:t>
            </a:r>
            <a:endParaRPr lang="en-US" sz="1465" dirty="0"/>
          </a:p>
        </p:txBody>
      </p:sp>
      <p:sp>
        <p:nvSpPr>
          <p:cNvPr id="31" name="Badge 6"/>
          <p:cNvSpPr txBox="1"/>
          <p:nvPr/>
        </p:nvSpPr>
        <p:spPr>
          <a:xfrm>
            <a:off x="10546080" y="2621280"/>
            <a:ext cx="365760" cy="365760"/>
          </a:xfrm>
          <a:prstGeom prst="ellipse">
            <a:avLst/>
          </a:prstGeom>
          <a:solidFill>
            <a:schemeClr val="accent1"/>
          </a:solidFill>
        </p:spPr>
        <p:txBody>
          <a:bodyPr wrap="square" lIns="0" tIns="0" rIns="0" bIns="0" rtlCol="0" anchor="ctr"/>
          <a:lstStyle/>
          <a:p>
            <a:pPr algn="ctr"/>
            <a:r>
              <a:rPr lang="en-US" sz="1465" b="1" dirty="0">
                <a:solidFill>
                  <a:schemeClr val="bg1"/>
                </a:solidFill>
              </a:rPr>
              <a:t>6</a:t>
            </a:r>
            <a:endParaRPr lang="en-US" sz="1465" dirty="0"/>
          </a:p>
        </p:txBody>
      </p:sp>
      <p:sp>
        <p:nvSpPr>
          <p:cNvPr id="32" name="Card"/>
          <p:cNvSpPr/>
          <p:nvPr/>
        </p:nvSpPr>
        <p:spPr>
          <a:xfrm>
            <a:off x="9875520" y="3169920"/>
            <a:ext cx="1706880" cy="2926080"/>
          </a:xfrm>
          <a:prstGeom prst="roundRect">
            <a:avLst>
              <a:gd name="adj" fmla="val 5714"/>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33" name="Text 31"/>
          <p:cNvSpPr txBox="1"/>
          <p:nvPr/>
        </p:nvSpPr>
        <p:spPr>
          <a:xfrm>
            <a:off x="10021824" y="3316224"/>
            <a:ext cx="1414272" cy="731520"/>
          </a:xfrm>
          <a:prstGeom prst="rect">
            <a:avLst/>
          </a:prstGeom>
          <a:noFill/>
        </p:spPr>
        <p:txBody>
          <a:bodyPr wrap="square" lIns="0" tIns="0" rIns="0" bIns="0" rtlCol="0" anchor="t"/>
          <a:lstStyle/>
          <a:p>
            <a:r>
              <a:rPr lang="en-US" sz="2000" b="1" dirty="0"/>
              <a:t>Conclude</a:t>
            </a:r>
            <a:endParaRPr lang="en-US" sz="2000" dirty="0"/>
          </a:p>
        </p:txBody>
      </p:sp>
      <p:sp>
        <p:nvSpPr>
          <p:cNvPr id="34" name="Text 32"/>
          <p:cNvSpPr txBox="1"/>
          <p:nvPr/>
        </p:nvSpPr>
        <p:spPr>
          <a:xfrm>
            <a:off x="10021824" y="4084320"/>
            <a:ext cx="1414272" cy="1950720"/>
          </a:xfrm>
          <a:prstGeom prst="rect">
            <a:avLst/>
          </a:prstGeom>
          <a:noFill/>
        </p:spPr>
        <p:txBody>
          <a:bodyPr wrap="square" lIns="0" tIns="0" rIns="0" bIns="0" rtlCol="0" anchor="t"/>
          <a:lstStyle/>
          <a:p>
            <a:r>
              <a:rPr lang="en-US" sz="1865" dirty="0"/>
              <a:t>Analyse results, note limits, write the report and demo.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p:spPr>
        <p:txBody>
          <a:bodyPr wrap="square" lIns="0" tIns="0" rIns="0" bIns="0" rtlCol="0" anchor="ctr"/>
          <a:lstStyle/>
          <a:p>
            <a:r>
              <a:rPr lang="en-US" dirty="0"/>
              <a:t>What we will deliver</a:t>
            </a:r>
          </a:p>
        </p:txBody>
      </p:sp>
      <p:sp>
        <p:nvSpPr>
          <p:cNvPr id="3" name="Text 0"/>
          <p:cNvSpPr>
            <a:spLocks noGrp="1"/>
          </p:cNvSpPr>
          <p:nvPr>
            <p:ph type="body" idx="101"/>
          </p:nvPr>
        </p:nvSpPr>
        <p:spPr>
          <a:prstGeom prst="rect">
            <a:avLst/>
          </a:prstGeom>
          <a:noFill/>
        </p:spPr>
        <p:txBody>
          <a:bodyPr wrap="square" lIns="0" tIns="0" rIns="0" bIns="0" rtlCol="0" anchor="t"/>
          <a:lstStyle/>
          <a:p>
            <a:r>
              <a:rPr lang="en-US" dirty="0"/>
              <a:t>Three main results, plus a working demo and an evidence pack.</a:t>
            </a:r>
          </a:p>
        </p:txBody>
      </p:sp>
      <p:sp>
        <p:nvSpPr>
          <p:cNvPr id="25" name="Slide Number Placeholder 0"/>
          <p:cNvSpPr>
            <a:spLocks noGrp="1"/>
          </p:cNvSpPr>
          <p:nvPr>
            <p:ph type="sldNum" sz="quarter" idx="4294967295"/>
          </p:nvPr>
        </p:nvSpPr>
        <p:spPr>
          <a:xfrm>
            <a:off x="10972800" y="6339840"/>
            <a:ext cx="609600" cy="304800"/>
          </a:xfrm>
          <a:prstGeom prst="rect">
            <a:avLst/>
          </a:prstGeom>
        </p:spPr>
        <p:txBody>
          <a:bodyPr/>
          <a:lstStyle>
            <a:lvl1pPr>
              <a:defRPr sz="1335">
                <a:solidFill>
                  <a:schemeClr val="accent6"/>
                </a:solidFill>
              </a:defRPr>
            </a:lvl1pPr>
          </a:lstStyle>
          <a:p>
            <a:pPr algn="r"/>
            <a:fld id="{F7021451-1387-4CA6-816F-3879F97B5CBC}" type="slidenum">
              <a:rPr lang="en-US" b="0"/>
              <a:t>11</a:t>
            </a:fld>
            <a:endParaRPr lang="en-US"/>
          </a:p>
        </p:txBody>
      </p:sp>
      <p:sp>
        <p:nvSpPr>
          <p:cNvPr id="4" name="Card"/>
          <p:cNvSpPr/>
          <p:nvPr/>
        </p:nvSpPr>
        <p:spPr>
          <a:xfrm>
            <a:off x="609600" y="1828800"/>
            <a:ext cx="3535680" cy="2438400"/>
          </a:xfrm>
          <a:prstGeom prst="roundRect">
            <a:avLst>
              <a:gd name="adj" fmla="val 4000"/>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5" name="Text 3"/>
          <p:cNvSpPr txBox="1"/>
          <p:nvPr/>
        </p:nvSpPr>
        <p:spPr>
          <a:xfrm>
            <a:off x="914400" y="1950720"/>
            <a:ext cx="2926080" cy="853440"/>
          </a:xfrm>
          <a:prstGeom prst="rect">
            <a:avLst/>
          </a:prstGeom>
          <a:noFill/>
        </p:spPr>
        <p:txBody>
          <a:bodyPr wrap="square" lIns="0" tIns="0" rIns="0" bIns="0" rtlCol="0" anchor="t"/>
          <a:lstStyle/>
          <a:p>
            <a:r>
              <a:rPr lang="en-US" sz="5865" b="1" dirty="0">
                <a:solidFill>
                  <a:schemeClr val="accent1"/>
                </a:solidFill>
                <a:latin typeface="Cambria" panose="02040503050406030204" pitchFamily="34" charset="0"/>
                <a:ea typeface="Cambria" panose="02040503050406030204" pitchFamily="34" charset="-122"/>
                <a:cs typeface="Cambria" panose="02040503050406030204" pitchFamily="34" charset="-120"/>
              </a:rPr>
              <a:t>1</a:t>
            </a:r>
            <a:endParaRPr lang="en-US" sz="5865" dirty="0"/>
          </a:p>
        </p:txBody>
      </p:sp>
      <p:sp>
        <p:nvSpPr>
          <p:cNvPr id="6" name="Text 4"/>
          <p:cNvSpPr txBox="1"/>
          <p:nvPr/>
        </p:nvSpPr>
        <p:spPr>
          <a:xfrm>
            <a:off x="914400" y="2865120"/>
            <a:ext cx="2987040" cy="365760"/>
          </a:xfrm>
          <a:prstGeom prst="rect">
            <a:avLst/>
          </a:prstGeom>
          <a:noFill/>
        </p:spPr>
        <p:txBody>
          <a:bodyPr wrap="square" lIns="0" tIns="0" rIns="0" bIns="0" rtlCol="0" anchor="t"/>
          <a:lstStyle/>
          <a:p>
            <a:r>
              <a:rPr lang="en-US" sz="2000" b="1" dirty="0"/>
              <a:t>Reference architecture</a:t>
            </a:r>
            <a:endParaRPr lang="en-US" sz="2000" dirty="0"/>
          </a:p>
        </p:txBody>
      </p:sp>
      <p:sp>
        <p:nvSpPr>
          <p:cNvPr id="7" name="Text 5"/>
          <p:cNvSpPr txBox="1"/>
          <p:nvPr/>
        </p:nvSpPr>
        <p:spPr>
          <a:xfrm>
            <a:off x="914400" y="3291840"/>
            <a:ext cx="2987040" cy="914400"/>
          </a:xfrm>
          <a:prstGeom prst="rect">
            <a:avLst/>
          </a:prstGeom>
          <a:noFill/>
        </p:spPr>
        <p:txBody>
          <a:bodyPr wrap="square" lIns="0" tIns="0" rIns="0" bIns="0" rtlCol="0" anchor="t"/>
          <a:lstStyle/>
          <a:p>
            <a:r>
              <a:rPr lang="en-US" sz="1865" dirty="0"/>
              <a:t>A working, reusable design that other teams can copy.</a:t>
            </a:r>
          </a:p>
        </p:txBody>
      </p:sp>
      <p:sp>
        <p:nvSpPr>
          <p:cNvPr id="8" name="Card"/>
          <p:cNvSpPr/>
          <p:nvPr/>
        </p:nvSpPr>
        <p:spPr>
          <a:xfrm>
            <a:off x="4328160" y="1828800"/>
            <a:ext cx="3535680" cy="2438400"/>
          </a:xfrm>
          <a:prstGeom prst="roundRect">
            <a:avLst>
              <a:gd name="adj" fmla="val 4000"/>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9" name="Text 7"/>
          <p:cNvSpPr txBox="1"/>
          <p:nvPr/>
        </p:nvSpPr>
        <p:spPr>
          <a:xfrm>
            <a:off x="4632960" y="1950720"/>
            <a:ext cx="2926080" cy="853440"/>
          </a:xfrm>
          <a:prstGeom prst="rect">
            <a:avLst/>
          </a:prstGeom>
          <a:noFill/>
        </p:spPr>
        <p:txBody>
          <a:bodyPr wrap="square" lIns="0" tIns="0" rIns="0" bIns="0" rtlCol="0" anchor="t"/>
          <a:lstStyle/>
          <a:p>
            <a:r>
              <a:rPr lang="en-US" sz="5865" b="1" dirty="0">
                <a:solidFill>
                  <a:schemeClr val="accent1"/>
                </a:solidFill>
                <a:latin typeface="Cambria" panose="02040503050406030204" pitchFamily="34" charset="0"/>
                <a:ea typeface="Cambria" panose="02040503050406030204" pitchFamily="34" charset="-122"/>
                <a:cs typeface="Cambria" panose="02040503050406030204" pitchFamily="34" charset="-120"/>
              </a:rPr>
              <a:t>2</a:t>
            </a:r>
            <a:endParaRPr lang="en-US" sz="5865" dirty="0"/>
          </a:p>
        </p:txBody>
      </p:sp>
      <p:sp>
        <p:nvSpPr>
          <p:cNvPr id="10" name="Text 8"/>
          <p:cNvSpPr txBox="1"/>
          <p:nvPr/>
        </p:nvSpPr>
        <p:spPr>
          <a:xfrm>
            <a:off x="4632960" y="2865120"/>
            <a:ext cx="2987040" cy="365760"/>
          </a:xfrm>
          <a:prstGeom prst="rect">
            <a:avLst/>
          </a:prstGeom>
          <a:noFill/>
        </p:spPr>
        <p:txBody>
          <a:bodyPr wrap="square" lIns="0" tIns="0" rIns="0" bIns="0" rtlCol="0" anchor="t"/>
          <a:lstStyle/>
          <a:p>
            <a:r>
              <a:rPr lang="en-US" sz="2000" b="1" dirty="0"/>
              <a:t>Tools compared</a:t>
            </a:r>
            <a:endParaRPr lang="en-US" sz="2000" dirty="0"/>
          </a:p>
        </p:txBody>
      </p:sp>
      <p:sp>
        <p:nvSpPr>
          <p:cNvPr id="11" name="Text 9"/>
          <p:cNvSpPr txBox="1"/>
          <p:nvPr/>
        </p:nvSpPr>
        <p:spPr>
          <a:xfrm>
            <a:off x="4632960" y="3291840"/>
            <a:ext cx="2987040" cy="914400"/>
          </a:xfrm>
          <a:prstGeom prst="rect">
            <a:avLst/>
          </a:prstGeom>
          <a:noFill/>
        </p:spPr>
        <p:txBody>
          <a:bodyPr wrap="square" lIns="0" tIns="0" rIns="0" bIns="0" rtlCol="0" anchor="t"/>
          <a:lstStyle/>
          <a:p>
            <a:r>
              <a:rPr lang="en-US" sz="1865" dirty="0"/>
              <a:t>Evidence on whether Langfuse or Arize Phoenix records better traces.</a:t>
            </a:r>
          </a:p>
        </p:txBody>
      </p:sp>
      <p:sp>
        <p:nvSpPr>
          <p:cNvPr id="12" name="Card"/>
          <p:cNvSpPr/>
          <p:nvPr/>
        </p:nvSpPr>
        <p:spPr>
          <a:xfrm>
            <a:off x="8046720" y="1828800"/>
            <a:ext cx="3535680" cy="2438400"/>
          </a:xfrm>
          <a:prstGeom prst="roundRect">
            <a:avLst>
              <a:gd name="adj" fmla="val 4000"/>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3" name="Text 11"/>
          <p:cNvSpPr txBox="1"/>
          <p:nvPr/>
        </p:nvSpPr>
        <p:spPr>
          <a:xfrm>
            <a:off x="8351520" y="1950720"/>
            <a:ext cx="2926080" cy="853440"/>
          </a:xfrm>
          <a:prstGeom prst="rect">
            <a:avLst/>
          </a:prstGeom>
          <a:noFill/>
        </p:spPr>
        <p:txBody>
          <a:bodyPr wrap="square" lIns="0" tIns="0" rIns="0" bIns="0" rtlCol="0" anchor="t"/>
          <a:lstStyle/>
          <a:p>
            <a:r>
              <a:rPr lang="en-US" sz="5865" b="1" dirty="0">
                <a:solidFill>
                  <a:schemeClr val="accent1"/>
                </a:solidFill>
                <a:latin typeface="Cambria" panose="02040503050406030204" pitchFamily="34" charset="0"/>
                <a:ea typeface="Cambria" panose="02040503050406030204" pitchFamily="34" charset="-122"/>
                <a:cs typeface="Cambria" panose="02040503050406030204" pitchFamily="34" charset="-120"/>
              </a:rPr>
              <a:t>12</a:t>
            </a:r>
            <a:endParaRPr lang="en-US" sz="5865" dirty="0"/>
          </a:p>
        </p:txBody>
      </p:sp>
      <p:sp>
        <p:nvSpPr>
          <p:cNvPr id="14" name="Text 12"/>
          <p:cNvSpPr txBox="1"/>
          <p:nvPr/>
        </p:nvSpPr>
        <p:spPr>
          <a:xfrm>
            <a:off x="8351520" y="2865120"/>
            <a:ext cx="2987040" cy="365760"/>
          </a:xfrm>
          <a:prstGeom prst="rect">
            <a:avLst/>
          </a:prstGeom>
          <a:noFill/>
        </p:spPr>
        <p:txBody>
          <a:bodyPr wrap="square" lIns="0" tIns="0" rIns="0" bIns="0" rtlCol="0" anchor="t"/>
          <a:lstStyle/>
          <a:p>
            <a:r>
              <a:rPr lang="en-US" sz="2000" b="1" dirty="0"/>
              <a:t>Weeks of evidence</a:t>
            </a:r>
            <a:endParaRPr lang="en-US" sz="2000" dirty="0"/>
          </a:p>
        </p:txBody>
      </p:sp>
      <p:sp>
        <p:nvSpPr>
          <p:cNvPr id="15" name="Text 13"/>
          <p:cNvSpPr txBox="1"/>
          <p:nvPr/>
        </p:nvSpPr>
        <p:spPr>
          <a:xfrm>
            <a:off x="8351520" y="3291840"/>
            <a:ext cx="2987040" cy="914400"/>
          </a:xfrm>
          <a:prstGeom prst="rect">
            <a:avLst/>
          </a:prstGeom>
          <a:noFill/>
        </p:spPr>
        <p:txBody>
          <a:bodyPr wrap="square" lIns="0" tIns="0" rIns="0" bIns="0" rtlCol="0" anchor="t"/>
          <a:lstStyle/>
          <a:p>
            <a:r>
              <a:rPr lang="en-US" sz="1865" dirty="0"/>
              <a:t>On catching regressions, finding causes and making release decisions.</a:t>
            </a:r>
          </a:p>
        </p:txBody>
      </p:sp>
      <p:sp>
        <p:nvSpPr>
          <p:cNvPr id="16" name="Card"/>
          <p:cNvSpPr/>
          <p:nvPr/>
        </p:nvSpPr>
        <p:spPr>
          <a:xfrm>
            <a:off x="609600" y="4450080"/>
            <a:ext cx="5394960" cy="914400"/>
          </a:xfrm>
          <a:prstGeom prst="roundRect">
            <a:avLst>
              <a:gd name="adj" fmla="val 10667"/>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7" name="Text 15"/>
          <p:cNvSpPr txBox="1"/>
          <p:nvPr/>
        </p:nvSpPr>
        <p:spPr>
          <a:xfrm>
            <a:off x="853440" y="4450080"/>
            <a:ext cx="4937760" cy="914400"/>
          </a:xfrm>
          <a:prstGeom prst="rect">
            <a:avLst/>
          </a:prstGeom>
          <a:noFill/>
        </p:spPr>
        <p:txBody>
          <a:bodyPr wrap="square" lIns="0" tIns="0" rIns="0" bIns="0" rtlCol="0" anchor="ctr"/>
          <a:lstStyle/>
          <a:p>
            <a:r>
              <a:rPr lang="en-US" sz="1865" b="1" dirty="0"/>
              <a:t>Prototype and demo: </a:t>
            </a:r>
            <a:r>
              <a:rPr lang="en-US" sz="1865" dirty="0"/>
              <a:t>two agents with tracing, tests, safety rules and monitoring.</a:t>
            </a:r>
          </a:p>
        </p:txBody>
      </p:sp>
      <p:sp>
        <p:nvSpPr>
          <p:cNvPr id="18" name="Card"/>
          <p:cNvSpPr/>
          <p:nvPr/>
        </p:nvSpPr>
        <p:spPr>
          <a:xfrm>
            <a:off x="6187440" y="4450080"/>
            <a:ext cx="5394960" cy="914400"/>
          </a:xfrm>
          <a:prstGeom prst="roundRect">
            <a:avLst>
              <a:gd name="adj" fmla="val 10667"/>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9" name="Text 17"/>
          <p:cNvSpPr txBox="1"/>
          <p:nvPr/>
        </p:nvSpPr>
        <p:spPr>
          <a:xfrm>
            <a:off x="6431280" y="4450080"/>
            <a:ext cx="4937760" cy="914400"/>
          </a:xfrm>
          <a:prstGeom prst="rect">
            <a:avLst/>
          </a:prstGeom>
          <a:noFill/>
        </p:spPr>
        <p:txBody>
          <a:bodyPr wrap="square" lIns="0" tIns="0" rIns="0" bIns="0" rtlCol="0" anchor="ctr"/>
          <a:lstStyle/>
          <a:p>
            <a:r>
              <a:rPr lang="en-US" sz="1865" b="1" dirty="0"/>
              <a:t>Evidence pack: </a:t>
            </a:r>
            <a:r>
              <a:rPr lang="en-US" sz="1865" dirty="0"/>
              <a:t>test dataset, scorecard, dashboard and final report.</a:t>
            </a:r>
          </a:p>
        </p:txBody>
      </p:sp>
      <p:sp>
        <p:nvSpPr>
          <p:cNvPr id="20" name="Honesty note"/>
          <p:cNvSpPr/>
          <p:nvPr/>
        </p:nvSpPr>
        <p:spPr>
          <a:xfrm>
            <a:off x="609600" y="5547360"/>
            <a:ext cx="10972800" cy="609600"/>
          </a:xfrm>
          <a:prstGeom prst="roundRect">
            <a:avLst>
              <a:gd name="adj" fmla="val 16000"/>
            </a:avLst>
          </a:prstGeom>
          <a:solidFill>
            <a:schemeClr val="accent2">
              <a:alpha val="20000"/>
            </a:schemeClr>
          </a:solidFill>
          <a:ln w="19050">
            <a:solidFill>
              <a:schemeClr val="accent2"/>
            </a:solidFill>
            <a:prstDash val="solid"/>
          </a:ln>
        </p:spPr>
        <p:txBody>
          <a:bodyPr/>
          <a:lstStyle/>
          <a:p>
            <a:endParaRPr lang="en-US" sz="2400"/>
          </a:p>
        </p:txBody>
      </p:sp>
      <p:sp>
        <p:nvSpPr>
          <p:cNvPr id="21" name="Text 19"/>
          <p:cNvSpPr txBox="1"/>
          <p:nvPr/>
        </p:nvSpPr>
        <p:spPr>
          <a:xfrm>
            <a:off x="853440" y="5547360"/>
            <a:ext cx="10485120" cy="609600"/>
          </a:xfrm>
          <a:prstGeom prst="rect">
            <a:avLst/>
          </a:prstGeom>
          <a:noFill/>
        </p:spPr>
        <p:txBody>
          <a:bodyPr wrap="square" lIns="0" tIns="0" rIns="0" bIns="0" rtlCol="0" anchor="ctr"/>
          <a:lstStyle/>
          <a:p>
            <a:r>
              <a:rPr lang="en-US" sz="1865" b="1" dirty="0"/>
              <a:t>Proposed outcomes, not proven facts. The 12-week study must prove them.</a:t>
            </a:r>
            <a:endParaRPr lang="en-US" sz="186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p:spPr>
        <p:txBody>
          <a:bodyPr wrap="square" lIns="0" tIns="0" rIns="0" bIns="0" rtlCol="0" anchor="ctr"/>
          <a:lstStyle/>
          <a:p>
            <a:r>
              <a:rPr lang="en-US" dirty="0"/>
              <a:t>Limits and responsible use</a:t>
            </a:r>
          </a:p>
        </p:txBody>
      </p:sp>
      <p:sp>
        <p:nvSpPr>
          <p:cNvPr id="3" name="Text 0"/>
          <p:cNvSpPr>
            <a:spLocks noGrp="1"/>
          </p:cNvSpPr>
          <p:nvPr>
            <p:ph type="body" idx="101"/>
          </p:nvPr>
        </p:nvSpPr>
        <p:spPr>
          <a:prstGeom prst="rect">
            <a:avLst/>
          </a:prstGeom>
          <a:noFill/>
        </p:spPr>
        <p:txBody>
          <a:bodyPr wrap="square" lIns="0" tIns="0" rIns="0" bIns="0" rtlCol="0" anchor="t"/>
          <a:lstStyle/>
          <a:p>
            <a:r>
              <a:rPr lang="en-US" dirty="0"/>
              <a:t>We will report good results and limits equally.</a:t>
            </a:r>
          </a:p>
        </p:txBody>
      </p:sp>
      <p:sp>
        <p:nvSpPr>
          <p:cNvPr id="34" name="Slide Number Placeholder 0"/>
          <p:cNvSpPr>
            <a:spLocks noGrp="1"/>
          </p:cNvSpPr>
          <p:nvPr>
            <p:ph type="sldNum" sz="quarter" idx="4294967295"/>
          </p:nvPr>
        </p:nvSpPr>
        <p:spPr>
          <a:xfrm>
            <a:off x="10972800" y="6339840"/>
            <a:ext cx="609600" cy="304800"/>
          </a:xfrm>
          <a:prstGeom prst="rect">
            <a:avLst/>
          </a:prstGeom>
        </p:spPr>
        <p:txBody>
          <a:bodyPr/>
          <a:lstStyle>
            <a:lvl1pPr>
              <a:defRPr sz="1335">
                <a:solidFill>
                  <a:schemeClr val="accent6"/>
                </a:solidFill>
              </a:defRPr>
            </a:lvl1pPr>
          </a:lstStyle>
          <a:p>
            <a:pPr algn="r"/>
            <a:fld id="{F7021451-1387-4CA6-816F-3879F97B5CBC}" type="slidenum">
              <a:rPr lang="en-US" b="0"/>
              <a:t>12</a:t>
            </a:fld>
            <a:endParaRPr lang="en-US"/>
          </a:p>
        </p:txBody>
      </p:sp>
      <p:sp>
        <p:nvSpPr>
          <p:cNvPr id="4" name="Card"/>
          <p:cNvSpPr/>
          <p:nvPr/>
        </p:nvSpPr>
        <p:spPr>
          <a:xfrm>
            <a:off x="609600" y="1828800"/>
            <a:ext cx="5394960" cy="1243584"/>
          </a:xfrm>
          <a:prstGeom prst="roundRect">
            <a:avLst>
              <a:gd name="adj" fmla="val 784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5" name="Icon circle"/>
          <p:cNvSpPr/>
          <p:nvPr/>
        </p:nvSpPr>
        <p:spPr>
          <a:xfrm>
            <a:off x="853440" y="2145792"/>
            <a:ext cx="609600" cy="609600"/>
          </a:xfrm>
          <a:prstGeom prst="ellipse">
            <a:avLst/>
          </a:prstGeom>
          <a:solidFill>
            <a:schemeClr val="accent2"/>
          </a:solidFill>
        </p:spPr>
        <p:txBody>
          <a:bodyPr/>
          <a:lstStyle/>
          <a:p>
            <a:endParaRPr lang="en-US" sz="2400"/>
          </a:p>
        </p:txBody>
      </p:sp>
      <p:pic>
        <p:nvPicPr>
          <p:cNvPr id="6" name="Image 0" descr="icon"/>
          <p:cNvPicPr>
            <a:picLocks noChangeAspect="1"/>
          </p:cNvPicPr>
          <p:nvPr/>
        </p:nvPicPr>
        <p:blipFill>
          <a:blip r:embed="rId3"/>
          <a:stretch>
            <a:fillRect/>
          </a:stretch>
        </p:blipFill>
        <p:spPr>
          <a:xfrm>
            <a:off x="1018032" y="2310384"/>
            <a:ext cx="280416" cy="280416"/>
          </a:xfrm>
          <a:prstGeom prst="rect">
            <a:avLst/>
          </a:prstGeom>
        </p:spPr>
      </p:pic>
      <p:sp>
        <p:nvSpPr>
          <p:cNvPr id="7" name="Text 4"/>
          <p:cNvSpPr txBox="1"/>
          <p:nvPr/>
        </p:nvSpPr>
        <p:spPr>
          <a:xfrm>
            <a:off x="1622475" y="1950720"/>
            <a:ext cx="4145280" cy="341376"/>
          </a:xfrm>
          <a:prstGeom prst="rect">
            <a:avLst/>
          </a:prstGeom>
          <a:noFill/>
        </p:spPr>
        <p:txBody>
          <a:bodyPr wrap="square" lIns="0" tIns="0" rIns="0" bIns="0" rtlCol="0" anchor="t"/>
          <a:lstStyle/>
          <a:p>
            <a:r>
              <a:rPr lang="en-US" sz="1865" b="1" dirty="0"/>
              <a:t>AI judges can be wrong</a:t>
            </a:r>
            <a:endParaRPr lang="en-US" sz="1865" dirty="0"/>
          </a:p>
        </p:txBody>
      </p:sp>
      <p:sp>
        <p:nvSpPr>
          <p:cNvPr id="8" name="Text 5"/>
          <p:cNvSpPr txBox="1"/>
          <p:nvPr/>
        </p:nvSpPr>
        <p:spPr>
          <a:xfrm>
            <a:off x="1645920" y="2316480"/>
            <a:ext cx="4206240" cy="670560"/>
          </a:xfrm>
          <a:prstGeom prst="rect">
            <a:avLst/>
          </a:prstGeom>
          <a:noFill/>
        </p:spPr>
        <p:txBody>
          <a:bodyPr wrap="square" lIns="0" tIns="0" rIns="0" bIns="0" rtlCol="0" anchor="t"/>
          <a:lstStyle/>
          <a:p>
            <a:r>
              <a:rPr lang="en-US" sz="1865" dirty="0"/>
              <a:t>We also use fixed checks and human-reviewed samples.</a:t>
            </a:r>
          </a:p>
        </p:txBody>
      </p:sp>
      <p:sp>
        <p:nvSpPr>
          <p:cNvPr id="9" name="Card"/>
          <p:cNvSpPr/>
          <p:nvPr/>
        </p:nvSpPr>
        <p:spPr>
          <a:xfrm>
            <a:off x="6187440" y="1828800"/>
            <a:ext cx="5394960" cy="1243584"/>
          </a:xfrm>
          <a:prstGeom prst="roundRect">
            <a:avLst>
              <a:gd name="adj" fmla="val 784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0" name="Icon circle"/>
          <p:cNvSpPr/>
          <p:nvPr/>
        </p:nvSpPr>
        <p:spPr>
          <a:xfrm>
            <a:off x="6431280" y="2145792"/>
            <a:ext cx="609600" cy="609600"/>
          </a:xfrm>
          <a:prstGeom prst="ellipse">
            <a:avLst/>
          </a:prstGeom>
          <a:solidFill>
            <a:schemeClr val="accent2"/>
          </a:solidFill>
        </p:spPr>
        <p:txBody>
          <a:bodyPr/>
          <a:lstStyle/>
          <a:p>
            <a:endParaRPr lang="en-US" sz="2400"/>
          </a:p>
        </p:txBody>
      </p:sp>
      <p:pic>
        <p:nvPicPr>
          <p:cNvPr id="11" name="Image 1" descr="icon"/>
          <p:cNvPicPr>
            <a:picLocks noChangeAspect="1"/>
          </p:cNvPicPr>
          <p:nvPr/>
        </p:nvPicPr>
        <p:blipFill>
          <a:blip r:embed="rId4"/>
          <a:stretch>
            <a:fillRect/>
          </a:stretch>
        </p:blipFill>
        <p:spPr>
          <a:xfrm>
            <a:off x="6595872" y="2310384"/>
            <a:ext cx="280416" cy="280416"/>
          </a:xfrm>
          <a:prstGeom prst="rect">
            <a:avLst/>
          </a:prstGeom>
        </p:spPr>
      </p:pic>
      <p:sp>
        <p:nvSpPr>
          <p:cNvPr id="12" name="Text 8"/>
          <p:cNvSpPr txBox="1"/>
          <p:nvPr/>
        </p:nvSpPr>
        <p:spPr>
          <a:xfrm>
            <a:off x="7223760" y="1950720"/>
            <a:ext cx="4145280" cy="341376"/>
          </a:xfrm>
          <a:prstGeom prst="rect">
            <a:avLst/>
          </a:prstGeom>
          <a:noFill/>
        </p:spPr>
        <p:txBody>
          <a:bodyPr wrap="square" lIns="0" tIns="0" rIns="0" bIns="0" rtlCol="0" anchor="t"/>
          <a:lstStyle/>
          <a:p>
            <a:r>
              <a:rPr lang="en-US" sz="1865" b="1" dirty="0"/>
              <a:t>A trace is not proof</a:t>
            </a:r>
            <a:endParaRPr lang="en-US" sz="1865" dirty="0"/>
          </a:p>
        </p:txBody>
      </p:sp>
      <p:sp>
        <p:nvSpPr>
          <p:cNvPr id="13" name="Text 9"/>
          <p:cNvSpPr txBox="1"/>
          <p:nvPr/>
        </p:nvSpPr>
        <p:spPr>
          <a:xfrm>
            <a:off x="7223760" y="2316480"/>
            <a:ext cx="4206240" cy="670560"/>
          </a:xfrm>
          <a:prstGeom prst="rect">
            <a:avLst/>
          </a:prstGeom>
          <a:noFill/>
        </p:spPr>
        <p:txBody>
          <a:bodyPr wrap="square" lIns="0" tIns="0" rIns="0" bIns="0" rtlCol="0" anchor="t"/>
          <a:lstStyle/>
          <a:p>
            <a:r>
              <a:rPr lang="en-US" sz="1865" dirty="0"/>
              <a:t>A full record explains what happened, not whether it was right.</a:t>
            </a:r>
          </a:p>
        </p:txBody>
      </p:sp>
      <p:sp>
        <p:nvSpPr>
          <p:cNvPr id="14" name="Card"/>
          <p:cNvSpPr/>
          <p:nvPr/>
        </p:nvSpPr>
        <p:spPr>
          <a:xfrm>
            <a:off x="609600" y="3255264"/>
            <a:ext cx="5394960" cy="1243584"/>
          </a:xfrm>
          <a:prstGeom prst="roundRect">
            <a:avLst>
              <a:gd name="adj" fmla="val 784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5" name="Icon circle"/>
          <p:cNvSpPr/>
          <p:nvPr/>
        </p:nvSpPr>
        <p:spPr>
          <a:xfrm>
            <a:off x="853440" y="3572256"/>
            <a:ext cx="609600" cy="609600"/>
          </a:xfrm>
          <a:prstGeom prst="ellipse">
            <a:avLst/>
          </a:prstGeom>
          <a:solidFill>
            <a:schemeClr val="accent2"/>
          </a:solidFill>
        </p:spPr>
        <p:txBody>
          <a:bodyPr/>
          <a:lstStyle/>
          <a:p>
            <a:endParaRPr lang="en-US" sz="2400"/>
          </a:p>
        </p:txBody>
      </p:sp>
      <p:pic>
        <p:nvPicPr>
          <p:cNvPr id="16" name="Image 2" descr="icon"/>
          <p:cNvPicPr>
            <a:picLocks noChangeAspect="1"/>
          </p:cNvPicPr>
          <p:nvPr/>
        </p:nvPicPr>
        <p:blipFill>
          <a:blip r:embed="rId5"/>
          <a:stretch>
            <a:fillRect/>
          </a:stretch>
        </p:blipFill>
        <p:spPr>
          <a:xfrm>
            <a:off x="1018032" y="3736848"/>
            <a:ext cx="280416" cy="280416"/>
          </a:xfrm>
          <a:prstGeom prst="rect">
            <a:avLst/>
          </a:prstGeom>
        </p:spPr>
      </p:pic>
      <p:sp>
        <p:nvSpPr>
          <p:cNvPr id="17" name="Text 12"/>
          <p:cNvSpPr txBox="1"/>
          <p:nvPr/>
        </p:nvSpPr>
        <p:spPr>
          <a:xfrm>
            <a:off x="1645920" y="3377184"/>
            <a:ext cx="4145280" cy="341376"/>
          </a:xfrm>
          <a:prstGeom prst="rect">
            <a:avLst/>
          </a:prstGeom>
          <a:noFill/>
        </p:spPr>
        <p:txBody>
          <a:bodyPr wrap="square" lIns="0" tIns="0" rIns="0" bIns="0" rtlCol="0" anchor="t"/>
          <a:lstStyle/>
          <a:p>
            <a:r>
              <a:rPr lang="en-US" sz="1865" b="1" dirty="0"/>
              <a:t>Two agents are not everything</a:t>
            </a:r>
            <a:endParaRPr lang="en-US" sz="1865" dirty="0"/>
          </a:p>
        </p:txBody>
      </p:sp>
      <p:sp>
        <p:nvSpPr>
          <p:cNvPr id="18" name="Text 13"/>
          <p:cNvSpPr txBox="1"/>
          <p:nvPr/>
        </p:nvSpPr>
        <p:spPr>
          <a:xfrm>
            <a:off x="1645920" y="3742944"/>
            <a:ext cx="4206240" cy="670560"/>
          </a:xfrm>
          <a:prstGeom prst="rect">
            <a:avLst/>
          </a:prstGeom>
          <a:noFill/>
        </p:spPr>
        <p:txBody>
          <a:bodyPr wrap="square" lIns="0" tIns="0" rIns="0" bIns="0" rtlCol="0" anchor="t"/>
          <a:lstStyle/>
          <a:p>
            <a:r>
              <a:rPr lang="en-US" sz="1865" dirty="0"/>
              <a:t>Results may not apply to every agent or business area.</a:t>
            </a:r>
          </a:p>
        </p:txBody>
      </p:sp>
      <p:sp>
        <p:nvSpPr>
          <p:cNvPr id="19" name="Card"/>
          <p:cNvSpPr/>
          <p:nvPr/>
        </p:nvSpPr>
        <p:spPr>
          <a:xfrm>
            <a:off x="6187440" y="3255264"/>
            <a:ext cx="5394960" cy="1243584"/>
          </a:xfrm>
          <a:prstGeom prst="roundRect">
            <a:avLst>
              <a:gd name="adj" fmla="val 784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0" name="Icon circle"/>
          <p:cNvSpPr/>
          <p:nvPr/>
        </p:nvSpPr>
        <p:spPr>
          <a:xfrm>
            <a:off x="6431280" y="3572256"/>
            <a:ext cx="609600" cy="609600"/>
          </a:xfrm>
          <a:prstGeom prst="ellipse">
            <a:avLst/>
          </a:prstGeom>
          <a:solidFill>
            <a:schemeClr val="accent2"/>
          </a:solidFill>
        </p:spPr>
        <p:txBody>
          <a:bodyPr/>
          <a:lstStyle/>
          <a:p>
            <a:endParaRPr lang="en-US" sz="2400"/>
          </a:p>
        </p:txBody>
      </p:sp>
      <p:pic>
        <p:nvPicPr>
          <p:cNvPr id="21" name="Image 3" descr="icon"/>
          <p:cNvPicPr>
            <a:picLocks noChangeAspect="1"/>
          </p:cNvPicPr>
          <p:nvPr/>
        </p:nvPicPr>
        <p:blipFill>
          <a:blip r:embed="rId6"/>
          <a:stretch>
            <a:fillRect/>
          </a:stretch>
        </p:blipFill>
        <p:spPr>
          <a:xfrm>
            <a:off x="6595872" y="3736848"/>
            <a:ext cx="280416" cy="280416"/>
          </a:xfrm>
          <a:prstGeom prst="rect">
            <a:avLst/>
          </a:prstGeom>
        </p:spPr>
      </p:pic>
      <p:sp>
        <p:nvSpPr>
          <p:cNvPr id="22" name="Text 16"/>
          <p:cNvSpPr txBox="1"/>
          <p:nvPr/>
        </p:nvSpPr>
        <p:spPr>
          <a:xfrm>
            <a:off x="7223760" y="3377184"/>
            <a:ext cx="4145280" cy="341376"/>
          </a:xfrm>
          <a:prstGeom prst="rect">
            <a:avLst/>
          </a:prstGeom>
          <a:noFill/>
        </p:spPr>
        <p:txBody>
          <a:bodyPr wrap="square" lIns="0" tIns="0" rIns="0" bIns="0" rtlCol="0" anchor="t"/>
          <a:lstStyle/>
          <a:p>
            <a:r>
              <a:rPr lang="en-US" sz="1865" b="1" dirty="0"/>
              <a:t>Tool comparison has limits</a:t>
            </a:r>
            <a:endParaRPr lang="en-US" sz="1865" dirty="0"/>
          </a:p>
        </p:txBody>
      </p:sp>
      <p:sp>
        <p:nvSpPr>
          <p:cNvPr id="23" name="Text 17"/>
          <p:cNvSpPr txBox="1"/>
          <p:nvPr/>
        </p:nvSpPr>
        <p:spPr>
          <a:xfrm>
            <a:off x="7223760" y="3742944"/>
            <a:ext cx="4206240" cy="670560"/>
          </a:xfrm>
          <a:prstGeom prst="rect">
            <a:avLst/>
          </a:prstGeom>
          <a:noFill/>
        </p:spPr>
        <p:txBody>
          <a:bodyPr wrap="square" lIns="0" tIns="0" rIns="0" bIns="0" rtlCol="0" anchor="t"/>
          <a:lstStyle/>
          <a:p>
            <a:r>
              <a:rPr lang="en-US" sz="1865" dirty="0"/>
              <a:t>Results depend on our workload, setup and configuration.</a:t>
            </a:r>
          </a:p>
        </p:txBody>
      </p:sp>
      <p:sp>
        <p:nvSpPr>
          <p:cNvPr id="24" name="Card"/>
          <p:cNvSpPr/>
          <p:nvPr/>
        </p:nvSpPr>
        <p:spPr>
          <a:xfrm>
            <a:off x="609600" y="4681728"/>
            <a:ext cx="5394960" cy="1243584"/>
          </a:xfrm>
          <a:prstGeom prst="roundRect">
            <a:avLst>
              <a:gd name="adj" fmla="val 784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5" name="Icon circle"/>
          <p:cNvSpPr/>
          <p:nvPr/>
        </p:nvSpPr>
        <p:spPr>
          <a:xfrm>
            <a:off x="853440" y="4998720"/>
            <a:ext cx="609600" cy="609600"/>
          </a:xfrm>
          <a:prstGeom prst="ellipse">
            <a:avLst/>
          </a:prstGeom>
          <a:solidFill>
            <a:schemeClr val="accent3"/>
          </a:solidFill>
        </p:spPr>
        <p:txBody>
          <a:bodyPr/>
          <a:lstStyle/>
          <a:p>
            <a:endParaRPr lang="en-US" sz="2400"/>
          </a:p>
        </p:txBody>
      </p:sp>
      <p:pic>
        <p:nvPicPr>
          <p:cNvPr id="26" name="Image 4" descr="icon"/>
          <p:cNvPicPr>
            <a:picLocks noChangeAspect="1"/>
          </p:cNvPicPr>
          <p:nvPr/>
        </p:nvPicPr>
        <p:blipFill>
          <a:blip r:embed="rId7"/>
          <a:stretch>
            <a:fillRect/>
          </a:stretch>
        </p:blipFill>
        <p:spPr>
          <a:xfrm>
            <a:off x="1018032" y="5163312"/>
            <a:ext cx="280416" cy="280416"/>
          </a:xfrm>
          <a:prstGeom prst="rect">
            <a:avLst/>
          </a:prstGeom>
        </p:spPr>
      </p:pic>
      <p:sp>
        <p:nvSpPr>
          <p:cNvPr id="27" name="Text 20"/>
          <p:cNvSpPr txBox="1"/>
          <p:nvPr/>
        </p:nvSpPr>
        <p:spPr>
          <a:xfrm>
            <a:off x="1645920" y="4803648"/>
            <a:ext cx="4145280" cy="341376"/>
          </a:xfrm>
          <a:prstGeom prst="rect">
            <a:avLst/>
          </a:prstGeom>
          <a:noFill/>
        </p:spPr>
        <p:txBody>
          <a:bodyPr wrap="square" lIns="0" tIns="0" rIns="0" bIns="0" rtlCol="0" anchor="t"/>
          <a:lstStyle/>
          <a:p>
            <a:r>
              <a:rPr lang="en-US" sz="1865" b="1" dirty="0"/>
              <a:t>Private data needs care</a:t>
            </a:r>
            <a:endParaRPr lang="en-US" sz="1865" dirty="0"/>
          </a:p>
        </p:txBody>
      </p:sp>
      <p:sp>
        <p:nvSpPr>
          <p:cNvPr id="28" name="Text 21"/>
          <p:cNvSpPr txBox="1"/>
          <p:nvPr/>
        </p:nvSpPr>
        <p:spPr>
          <a:xfrm>
            <a:off x="1645920" y="5169408"/>
            <a:ext cx="4206240" cy="670560"/>
          </a:xfrm>
          <a:prstGeom prst="rect">
            <a:avLst/>
          </a:prstGeom>
          <a:noFill/>
        </p:spPr>
        <p:txBody>
          <a:bodyPr wrap="square" lIns="0" tIns="0" rIns="0" bIns="0" rtlCol="0" anchor="t"/>
          <a:lstStyle/>
          <a:p>
            <a:r>
              <a:rPr lang="en-US" sz="1865" dirty="0"/>
              <a:t>Sensitive data is filtered before it is stored in traces.</a:t>
            </a:r>
          </a:p>
        </p:txBody>
      </p:sp>
      <p:sp>
        <p:nvSpPr>
          <p:cNvPr id="29" name="Card"/>
          <p:cNvSpPr/>
          <p:nvPr/>
        </p:nvSpPr>
        <p:spPr>
          <a:xfrm>
            <a:off x="6187440" y="4681728"/>
            <a:ext cx="5394960" cy="1243584"/>
          </a:xfrm>
          <a:prstGeom prst="roundRect">
            <a:avLst>
              <a:gd name="adj" fmla="val 7843"/>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30" name="Icon circle"/>
          <p:cNvSpPr/>
          <p:nvPr/>
        </p:nvSpPr>
        <p:spPr>
          <a:xfrm>
            <a:off x="6431280" y="4998720"/>
            <a:ext cx="609600" cy="609600"/>
          </a:xfrm>
          <a:prstGeom prst="ellipse">
            <a:avLst/>
          </a:prstGeom>
          <a:solidFill>
            <a:schemeClr val="accent3"/>
          </a:solidFill>
        </p:spPr>
        <p:txBody>
          <a:bodyPr/>
          <a:lstStyle/>
          <a:p>
            <a:endParaRPr lang="en-US" sz="2400"/>
          </a:p>
        </p:txBody>
      </p:sp>
      <p:pic>
        <p:nvPicPr>
          <p:cNvPr id="31" name="Image 5" descr="icon"/>
          <p:cNvPicPr>
            <a:picLocks noChangeAspect="1"/>
          </p:cNvPicPr>
          <p:nvPr/>
        </p:nvPicPr>
        <p:blipFill>
          <a:blip r:embed="rId8"/>
          <a:stretch>
            <a:fillRect/>
          </a:stretch>
        </p:blipFill>
        <p:spPr>
          <a:xfrm>
            <a:off x="6595872" y="5163312"/>
            <a:ext cx="280416" cy="280416"/>
          </a:xfrm>
          <a:prstGeom prst="rect">
            <a:avLst/>
          </a:prstGeom>
        </p:spPr>
      </p:pic>
      <p:sp>
        <p:nvSpPr>
          <p:cNvPr id="32" name="Text 24"/>
          <p:cNvSpPr txBox="1"/>
          <p:nvPr/>
        </p:nvSpPr>
        <p:spPr>
          <a:xfrm>
            <a:off x="7223760" y="4803648"/>
            <a:ext cx="4145280" cy="341376"/>
          </a:xfrm>
          <a:prstGeom prst="rect">
            <a:avLst/>
          </a:prstGeom>
          <a:noFill/>
        </p:spPr>
        <p:txBody>
          <a:bodyPr wrap="square" lIns="0" tIns="0" rIns="0" bIns="0" rtlCol="0" anchor="t"/>
          <a:lstStyle/>
          <a:p>
            <a:r>
              <a:rPr lang="en-US" sz="1865" b="1" dirty="0"/>
              <a:t>People stay in control</a:t>
            </a:r>
            <a:endParaRPr lang="en-US" sz="1865" dirty="0"/>
          </a:p>
        </p:txBody>
      </p:sp>
      <p:sp>
        <p:nvSpPr>
          <p:cNvPr id="33" name="Text 25"/>
          <p:cNvSpPr txBox="1"/>
          <p:nvPr/>
        </p:nvSpPr>
        <p:spPr>
          <a:xfrm>
            <a:off x="7223760" y="5169408"/>
            <a:ext cx="4206240" cy="670560"/>
          </a:xfrm>
          <a:prstGeom prst="rect">
            <a:avLst/>
          </a:prstGeom>
          <a:noFill/>
        </p:spPr>
        <p:txBody>
          <a:bodyPr wrap="square" lIns="0" tIns="0" rIns="0" bIns="0" rtlCol="0" anchor="t"/>
          <a:lstStyle/>
          <a:p>
            <a:r>
              <a:rPr lang="en-US" sz="1865" dirty="0"/>
              <a:t>Rollbacks follow agreed rules, with human escalation.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p:spPr>
        <p:txBody>
          <a:bodyPr wrap="square" lIns="0" tIns="0" rIns="0" bIns="0" rtlCol="0" anchor="ctr"/>
          <a:lstStyle/>
          <a:p>
            <a:r>
              <a:rPr lang="en-US" dirty="0"/>
              <a:t>One system, many business uses</a:t>
            </a:r>
          </a:p>
        </p:txBody>
      </p:sp>
      <p:sp>
        <p:nvSpPr>
          <p:cNvPr id="3" name="Text 0"/>
          <p:cNvSpPr>
            <a:spLocks noGrp="1"/>
          </p:cNvSpPr>
          <p:nvPr>
            <p:ph type="body" idx="101"/>
          </p:nvPr>
        </p:nvSpPr>
        <p:spPr>
          <a:prstGeom prst="rect">
            <a:avLst/>
          </a:prstGeom>
          <a:noFill/>
        </p:spPr>
        <p:txBody>
          <a:bodyPr wrap="square" lIns="0" tIns="0" rIns="0" bIns="0" rtlCol="0" anchor="t"/>
          <a:lstStyle/>
          <a:p>
            <a:r>
              <a:rPr lang="en-US" dirty="0"/>
              <a:t>Same pipeline, different business. These are example use cases.</a:t>
            </a:r>
          </a:p>
        </p:txBody>
      </p:sp>
      <p:sp>
        <p:nvSpPr>
          <p:cNvPr id="47" name="Slide Number Placeholder 0"/>
          <p:cNvSpPr>
            <a:spLocks noGrp="1"/>
          </p:cNvSpPr>
          <p:nvPr>
            <p:ph type="sldNum" sz="quarter" idx="4294967295"/>
          </p:nvPr>
        </p:nvSpPr>
        <p:spPr>
          <a:xfrm>
            <a:off x="10972800" y="6339840"/>
            <a:ext cx="609600" cy="304800"/>
          </a:xfrm>
          <a:prstGeom prst="rect">
            <a:avLst/>
          </a:prstGeom>
        </p:spPr>
        <p:txBody>
          <a:bodyPr/>
          <a:lstStyle>
            <a:lvl1pPr>
              <a:defRPr sz="1335">
                <a:solidFill>
                  <a:schemeClr val="accent6"/>
                </a:solidFill>
              </a:defRPr>
            </a:lvl1pPr>
          </a:lstStyle>
          <a:p>
            <a:pPr algn="r"/>
            <a:fld id="{F7021451-1387-4CA6-816F-3879F97B5CBC}" type="slidenum">
              <a:rPr lang="en-US" b="0"/>
              <a:t>13</a:t>
            </a:fld>
            <a:endParaRPr lang="en-US"/>
          </a:p>
        </p:txBody>
      </p:sp>
      <p:sp>
        <p:nvSpPr>
          <p:cNvPr id="4" name="Pipeline card"/>
          <p:cNvSpPr/>
          <p:nvPr/>
        </p:nvSpPr>
        <p:spPr>
          <a:xfrm>
            <a:off x="609600" y="1828800"/>
            <a:ext cx="2926080" cy="4206240"/>
          </a:xfrm>
          <a:prstGeom prst="roundRect">
            <a:avLst>
              <a:gd name="adj" fmla="val 3333"/>
            </a:avLst>
          </a:prstGeom>
          <a:solidFill>
            <a:schemeClr val="tx2"/>
          </a:solidFill>
          <a:effectLst>
            <a:outerShdw blurRad="88900" dist="25400" dir="5400000" algn="bl" rotWithShape="0">
              <a:srgbClr val="0B1633">
                <a:alpha val="13000"/>
              </a:srgbClr>
            </a:outerShdw>
          </a:effectLst>
        </p:spPr>
        <p:txBody>
          <a:bodyPr/>
          <a:lstStyle/>
          <a:p>
            <a:endParaRPr lang="en-US" sz="2400"/>
          </a:p>
        </p:txBody>
      </p:sp>
      <p:sp>
        <p:nvSpPr>
          <p:cNvPr id="5" name="Text 3"/>
          <p:cNvSpPr txBox="1"/>
          <p:nvPr/>
        </p:nvSpPr>
        <p:spPr>
          <a:xfrm>
            <a:off x="914400" y="2097024"/>
            <a:ext cx="2438400" cy="268224"/>
          </a:xfrm>
          <a:prstGeom prst="rect">
            <a:avLst/>
          </a:prstGeom>
          <a:noFill/>
        </p:spPr>
        <p:txBody>
          <a:bodyPr wrap="square" lIns="0" tIns="0" rIns="0" bIns="0" rtlCol="0" anchor="t"/>
          <a:lstStyle/>
          <a:p>
            <a:r>
              <a:rPr lang="en-US" sz="1465" b="1" dirty="0">
                <a:solidFill>
                  <a:schemeClr val="accent2"/>
                </a:solidFill>
              </a:rPr>
              <a:t>ONE PIPELINE</a:t>
            </a:r>
            <a:endParaRPr lang="en-US" sz="1465" dirty="0"/>
          </a:p>
        </p:txBody>
      </p:sp>
      <p:sp>
        <p:nvSpPr>
          <p:cNvPr id="6" name="Badge 1"/>
          <p:cNvSpPr txBox="1"/>
          <p:nvPr/>
        </p:nvSpPr>
        <p:spPr>
          <a:xfrm>
            <a:off x="914400" y="2621280"/>
            <a:ext cx="414528" cy="414528"/>
          </a:xfrm>
          <a:prstGeom prst="ellipse">
            <a:avLst/>
          </a:prstGeom>
          <a:solidFill>
            <a:schemeClr val="accent1"/>
          </a:solidFill>
        </p:spPr>
        <p:txBody>
          <a:bodyPr wrap="square" lIns="0" tIns="0" rIns="0" bIns="0" rtlCol="0" anchor="ctr"/>
          <a:lstStyle/>
          <a:p>
            <a:pPr algn="ctr"/>
            <a:r>
              <a:rPr lang="en-US" sz="1465" b="1" dirty="0">
                <a:solidFill>
                  <a:schemeClr val="bg1"/>
                </a:solidFill>
              </a:rPr>
              <a:t>1</a:t>
            </a:r>
            <a:endParaRPr lang="en-US" sz="1465" dirty="0"/>
          </a:p>
        </p:txBody>
      </p:sp>
      <p:sp>
        <p:nvSpPr>
          <p:cNvPr id="7" name="Text 5"/>
          <p:cNvSpPr txBox="1"/>
          <p:nvPr/>
        </p:nvSpPr>
        <p:spPr>
          <a:xfrm>
            <a:off x="1524000" y="2621280"/>
            <a:ext cx="1828800" cy="414528"/>
          </a:xfrm>
          <a:prstGeom prst="rect">
            <a:avLst/>
          </a:prstGeom>
          <a:noFill/>
        </p:spPr>
        <p:txBody>
          <a:bodyPr wrap="square" lIns="0" tIns="0" rIns="0" bIns="0" rtlCol="0" anchor="ctr"/>
          <a:lstStyle/>
          <a:p>
            <a:r>
              <a:rPr lang="en-US" sz="2135" b="1" dirty="0">
                <a:solidFill>
                  <a:schemeClr val="bg1"/>
                </a:solidFill>
              </a:rPr>
              <a:t>Trace</a:t>
            </a:r>
            <a:endParaRPr lang="en-US" sz="2135" dirty="0"/>
          </a:p>
        </p:txBody>
      </p:sp>
      <p:sp>
        <p:nvSpPr>
          <p:cNvPr id="8" name="Badge 2"/>
          <p:cNvSpPr txBox="1"/>
          <p:nvPr/>
        </p:nvSpPr>
        <p:spPr>
          <a:xfrm>
            <a:off x="914400" y="3291840"/>
            <a:ext cx="414528" cy="414528"/>
          </a:xfrm>
          <a:prstGeom prst="ellipse">
            <a:avLst/>
          </a:prstGeom>
          <a:solidFill>
            <a:schemeClr val="accent1"/>
          </a:solidFill>
        </p:spPr>
        <p:txBody>
          <a:bodyPr wrap="square" lIns="0" tIns="0" rIns="0" bIns="0" rtlCol="0" anchor="ctr"/>
          <a:lstStyle/>
          <a:p>
            <a:pPr algn="ctr"/>
            <a:r>
              <a:rPr lang="en-US" sz="1465" b="1" dirty="0">
                <a:solidFill>
                  <a:schemeClr val="bg1"/>
                </a:solidFill>
              </a:rPr>
              <a:t>2</a:t>
            </a:r>
            <a:endParaRPr lang="en-US" sz="1465" dirty="0"/>
          </a:p>
        </p:txBody>
      </p:sp>
      <p:sp>
        <p:nvSpPr>
          <p:cNvPr id="9" name="Text 7"/>
          <p:cNvSpPr txBox="1"/>
          <p:nvPr/>
        </p:nvSpPr>
        <p:spPr>
          <a:xfrm>
            <a:off x="1524000" y="3291840"/>
            <a:ext cx="1828800" cy="414528"/>
          </a:xfrm>
          <a:prstGeom prst="rect">
            <a:avLst/>
          </a:prstGeom>
          <a:noFill/>
        </p:spPr>
        <p:txBody>
          <a:bodyPr wrap="square" lIns="0" tIns="0" rIns="0" bIns="0" rtlCol="0" anchor="ctr"/>
          <a:lstStyle/>
          <a:p>
            <a:r>
              <a:rPr lang="en-US" sz="2135" b="1" dirty="0">
                <a:solidFill>
                  <a:schemeClr val="bg1"/>
                </a:solidFill>
              </a:rPr>
              <a:t>Test</a:t>
            </a:r>
            <a:endParaRPr lang="en-US" sz="2135" dirty="0"/>
          </a:p>
        </p:txBody>
      </p:sp>
      <p:sp>
        <p:nvSpPr>
          <p:cNvPr id="10" name="Badge 3"/>
          <p:cNvSpPr txBox="1"/>
          <p:nvPr/>
        </p:nvSpPr>
        <p:spPr>
          <a:xfrm>
            <a:off x="914400" y="3962400"/>
            <a:ext cx="414528" cy="414528"/>
          </a:xfrm>
          <a:prstGeom prst="ellipse">
            <a:avLst/>
          </a:prstGeom>
          <a:solidFill>
            <a:schemeClr val="accent1"/>
          </a:solidFill>
        </p:spPr>
        <p:txBody>
          <a:bodyPr wrap="square" lIns="0" tIns="0" rIns="0" bIns="0" rtlCol="0" anchor="ctr"/>
          <a:lstStyle/>
          <a:p>
            <a:pPr algn="ctr"/>
            <a:r>
              <a:rPr lang="en-US" sz="1465" b="1" dirty="0">
                <a:solidFill>
                  <a:schemeClr val="bg1"/>
                </a:solidFill>
              </a:rPr>
              <a:t>3</a:t>
            </a:r>
            <a:endParaRPr lang="en-US" sz="1465" dirty="0"/>
          </a:p>
        </p:txBody>
      </p:sp>
      <p:sp>
        <p:nvSpPr>
          <p:cNvPr id="11" name="Text 9"/>
          <p:cNvSpPr txBox="1"/>
          <p:nvPr/>
        </p:nvSpPr>
        <p:spPr>
          <a:xfrm>
            <a:off x="1524000" y="3962400"/>
            <a:ext cx="1828800" cy="414528"/>
          </a:xfrm>
          <a:prstGeom prst="rect">
            <a:avLst/>
          </a:prstGeom>
          <a:noFill/>
        </p:spPr>
        <p:txBody>
          <a:bodyPr wrap="square" lIns="0" tIns="0" rIns="0" bIns="0" rtlCol="0" anchor="ctr"/>
          <a:lstStyle/>
          <a:p>
            <a:r>
              <a:rPr lang="en-US" sz="2135" b="1" dirty="0">
                <a:solidFill>
                  <a:schemeClr val="bg1"/>
                </a:solidFill>
              </a:rPr>
              <a:t>Gate</a:t>
            </a:r>
            <a:endParaRPr lang="en-US" sz="2135" dirty="0"/>
          </a:p>
        </p:txBody>
      </p:sp>
      <p:sp>
        <p:nvSpPr>
          <p:cNvPr id="12" name="Badge 4"/>
          <p:cNvSpPr txBox="1"/>
          <p:nvPr/>
        </p:nvSpPr>
        <p:spPr>
          <a:xfrm>
            <a:off x="914400" y="4632960"/>
            <a:ext cx="414528" cy="414528"/>
          </a:xfrm>
          <a:prstGeom prst="ellipse">
            <a:avLst/>
          </a:prstGeom>
          <a:solidFill>
            <a:schemeClr val="accent1"/>
          </a:solidFill>
        </p:spPr>
        <p:txBody>
          <a:bodyPr wrap="square" lIns="0" tIns="0" rIns="0" bIns="0" rtlCol="0" anchor="ctr"/>
          <a:lstStyle/>
          <a:p>
            <a:pPr algn="ctr"/>
            <a:r>
              <a:rPr lang="en-US" sz="1465" b="1" dirty="0">
                <a:solidFill>
                  <a:schemeClr val="bg1"/>
                </a:solidFill>
              </a:rPr>
              <a:t>4</a:t>
            </a:r>
            <a:endParaRPr lang="en-US" sz="1465" dirty="0"/>
          </a:p>
        </p:txBody>
      </p:sp>
      <p:sp>
        <p:nvSpPr>
          <p:cNvPr id="13" name="Text 11"/>
          <p:cNvSpPr txBox="1"/>
          <p:nvPr/>
        </p:nvSpPr>
        <p:spPr>
          <a:xfrm>
            <a:off x="1524000" y="4632960"/>
            <a:ext cx="1828800" cy="414528"/>
          </a:xfrm>
          <a:prstGeom prst="rect">
            <a:avLst/>
          </a:prstGeom>
          <a:noFill/>
        </p:spPr>
        <p:txBody>
          <a:bodyPr wrap="square" lIns="0" tIns="0" rIns="0" bIns="0" rtlCol="0" anchor="ctr"/>
          <a:lstStyle/>
          <a:p>
            <a:r>
              <a:rPr lang="en-US" sz="2135" b="1" dirty="0">
                <a:solidFill>
                  <a:schemeClr val="bg1"/>
                </a:solidFill>
              </a:rPr>
              <a:t>Monitor</a:t>
            </a:r>
            <a:endParaRPr lang="en-US" sz="2135" dirty="0"/>
          </a:p>
        </p:txBody>
      </p:sp>
      <p:sp>
        <p:nvSpPr>
          <p:cNvPr id="14" name="Badge 5"/>
          <p:cNvSpPr txBox="1"/>
          <p:nvPr/>
        </p:nvSpPr>
        <p:spPr>
          <a:xfrm>
            <a:off x="914400" y="5303520"/>
            <a:ext cx="414528" cy="414528"/>
          </a:xfrm>
          <a:prstGeom prst="ellipse">
            <a:avLst/>
          </a:prstGeom>
          <a:solidFill>
            <a:schemeClr val="accent1"/>
          </a:solidFill>
        </p:spPr>
        <p:txBody>
          <a:bodyPr wrap="square" lIns="0" tIns="0" rIns="0" bIns="0" rtlCol="0" anchor="ctr"/>
          <a:lstStyle/>
          <a:p>
            <a:pPr algn="ctr"/>
            <a:r>
              <a:rPr lang="en-US" sz="1465" b="1" dirty="0">
                <a:solidFill>
                  <a:schemeClr val="bg1"/>
                </a:solidFill>
              </a:rPr>
              <a:t>5</a:t>
            </a:r>
            <a:endParaRPr lang="en-US" sz="1465" dirty="0"/>
          </a:p>
        </p:txBody>
      </p:sp>
      <p:sp>
        <p:nvSpPr>
          <p:cNvPr id="15" name="Text 13"/>
          <p:cNvSpPr txBox="1"/>
          <p:nvPr/>
        </p:nvSpPr>
        <p:spPr>
          <a:xfrm>
            <a:off x="1524000" y="5303520"/>
            <a:ext cx="1828800" cy="414528"/>
          </a:xfrm>
          <a:prstGeom prst="rect">
            <a:avLst/>
          </a:prstGeom>
          <a:noFill/>
        </p:spPr>
        <p:txBody>
          <a:bodyPr wrap="square" lIns="0" tIns="0" rIns="0" bIns="0" rtlCol="0" anchor="ctr"/>
          <a:lstStyle/>
          <a:p>
            <a:r>
              <a:rPr lang="en-US" sz="2135" b="1" dirty="0">
                <a:solidFill>
                  <a:schemeClr val="bg1"/>
                </a:solidFill>
              </a:rPr>
              <a:t>Learn</a:t>
            </a:r>
            <a:endParaRPr lang="en-US" sz="2135" dirty="0"/>
          </a:p>
        </p:txBody>
      </p:sp>
      <p:sp>
        <p:nvSpPr>
          <p:cNvPr id="16" name="Arrow"/>
          <p:cNvSpPr/>
          <p:nvPr/>
        </p:nvSpPr>
        <p:spPr>
          <a:xfrm>
            <a:off x="3621024" y="3718560"/>
            <a:ext cx="341376" cy="365760"/>
          </a:xfrm>
          <a:prstGeom prst="rightArrow">
            <a:avLst/>
          </a:prstGeom>
          <a:solidFill>
            <a:schemeClr val="accent6"/>
          </a:solidFill>
        </p:spPr>
        <p:txBody>
          <a:bodyPr/>
          <a:lstStyle/>
          <a:p>
            <a:endParaRPr lang="en-US" sz="2400"/>
          </a:p>
        </p:txBody>
      </p:sp>
      <p:sp>
        <p:nvSpPr>
          <p:cNvPr id="17" name="Card"/>
          <p:cNvSpPr/>
          <p:nvPr/>
        </p:nvSpPr>
        <p:spPr>
          <a:xfrm>
            <a:off x="4084320" y="1828800"/>
            <a:ext cx="3718560" cy="1280160"/>
          </a:xfrm>
          <a:prstGeom prst="roundRect">
            <a:avLst>
              <a:gd name="adj" fmla="val 7619"/>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18" name="Icon circle"/>
          <p:cNvSpPr/>
          <p:nvPr/>
        </p:nvSpPr>
        <p:spPr>
          <a:xfrm>
            <a:off x="4303776" y="2157984"/>
            <a:ext cx="609600" cy="609600"/>
          </a:xfrm>
          <a:prstGeom prst="ellipse">
            <a:avLst/>
          </a:prstGeom>
          <a:solidFill>
            <a:schemeClr val="accent1"/>
          </a:solidFill>
        </p:spPr>
        <p:txBody>
          <a:bodyPr/>
          <a:lstStyle/>
          <a:p>
            <a:endParaRPr lang="en-US" sz="2400"/>
          </a:p>
        </p:txBody>
      </p:sp>
      <p:pic>
        <p:nvPicPr>
          <p:cNvPr id="19" name="Image 0" descr="icon"/>
          <p:cNvPicPr>
            <a:picLocks noChangeAspect="1"/>
          </p:cNvPicPr>
          <p:nvPr/>
        </p:nvPicPr>
        <p:blipFill>
          <a:blip r:embed="rId3"/>
          <a:stretch>
            <a:fillRect/>
          </a:stretch>
        </p:blipFill>
        <p:spPr>
          <a:xfrm>
            <a:off x="4468368" y="2322576"/>
            <a:ext cx="280416" cy="280416"/>
          </a:xfrm>
          <a:prstGeom prst="rect">
            <a:avLst/>
          </a:prstGeom>
        </p:spPr>
      </p:pic>
      <p:sp>
        <p:nvSpPr>
          <p:cNvPr id="20" name="Text 17"/>
          <p:cNvSpPr txBox="1"/>
          <p:nvPr/>
        </p:nvSpPr>
        <p:spPr>
          <a:xfrm>
            <a:off x="5120640" y="1975104"/>
            <a:ext cx="2560320" cy="341376"/>
          </a:xfrm>
          <a:prstGeom prst="rect">
            <a:avLst/>
          </a:prstGeom>
          <a:noFill/>
        </p:spPr>
        <p:txBody>
          <a:bodyPr wrap="square" lIns="0" tIns="0" rIns="0" bIns="0" rtlCol="0" anchor="t"/>
          <a:lstStyle/>
          <a:p>
            <a:r>
              <a:rPr lang="en-US" sz="1865" b="1" dirty="0"/>
              <a:t>Finance</a:t>
            </a:r>
            <a:endParaRPr lang="en-US" sz="1865" dirty="0"/>
          </a:p>
        </p:txBody>
      </p:sp>
      <p:sp>
        <p:nvSpPr>
          <p:cNvPr id="21" name="Text 18"/>
          <p:cNvSpPr txBox="1"/>
          <p:nvPr/>
        </p:nvSpPr>
        <p:spPr>
          <a:xfrm>
            <a:off x="5120640" y="2340864"/>
            <a:ext cx="2560320" cy="670560"/>
          </a:xfrm>
          <a:prstGeom prst="rect">
            <a:avLst/>
          </a:prstGeom>
          <a:noFill/>
        </p:spPr>
        <p:txBody>
          <a:bodyPr wrap="square" lIns="0" tIns="0" rIns="0" bIns="0" rtlCol="0" anchor="t"/>
          <a:lstStyle/>
          <a:p>
            <a:r>
              <a:rPr lang="en-US" sz="1865" dirty="0"/>
              <a:t>Stop a wrong tax decision early.</a:t>
            </a:r>
          </a:p>
        </p:txBody>
      </p:sp>
      <p:sp>
        <p:nvSpPr>
          <p:cNvPr id="22" name="Card"/>
          <p:cNvSpPr/>
          <p:nvPr/>
        </p:nvSpPr>
        <p:spPr>
          <a:xfrm>
            <a:off x="7863840" y="1828800"/>
            <a:ext cx="3718560" cy="1280160"/>
          </a:xfrm>
          <a:prstGeom prst="roundRect">
            <a:avLst>
              <a:gd name="adj" fmla="val 7619"/>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3" name="Icon circle"/>
          <p:cNvSpPr/>
          <p:nvPr/>
        </p:nvSpPr>
        <p:spPr>
          <a:xfrm>
            <a:off x="8083296" y="2157984"/>
            <a:ext cx="609600" cy="609600"/>
          </a:xfrm>
          <a:prstGeom prst="ellipse">
            <a:avLst/>
          </a:prstGeom>
          <a:solidFill>
            <a:schemeClr val="accent4"/>
          </a:solidFill>
        </p:spPr>
        <p:txBody>
          <a:bodyPr/>
          <a:lstStyle/>
          <a:p>
            <a:endParaRPr lang="en-US" sz="2400"/>
          </a:p>
        </p:txBody>
      </p:sp>
      <p:pic>
        <p:nvPicPr>
          <p:cNvPr id="24" name="Image 1" descr="icon"/>
          <p:cNvPicPr>
            <a:picLocks noChangeAspect="1"/>
          </p:cNvPicPr>
          <p:nvPr/>
        </p:nvPicPr>
        <p:blipFill>
          <a:blip r:embed="rId4"/>
          <a:stretch>
            <a:fillRect/>
          </a:stretch>
        </p:blipFill>
        <p:spPr>
          <a:xfrm>
            <a:off x="8247888" y="2322576"/>
            <a:ext cx="280416" cy="280416"/>
          </a:xfrm>
          <a:prstGeom prst="rect">
            <a:avLst/>
          </a:prstGeom>
        </p:spPr>
      </p:pic>
      <p:sp>
        <p:nvSpPr>
          <p:cNvPr id="25" name="Text 21"/>
          <p:cNvSpPr txBox="1"/>
          <p:nvPr/>
        </p:nvSpPr>
        <p:spPr>
          <a:xfrm>
            <a:off x="8900160" y="1975104"/>
            <a:ext cx="2560320" cy="341376"/>
          </a:xfrm>
          <a:prstGeom prst="rect">
            <a:avLst/>
          </a:prstGeom>
          <a:noFill/>
        </p:spPr>
        <p:txBody>
          <a:bodyPr wrap="square" lIns="0" tIns="0" rIns="0" bIns="0" rtlCol="0" anchor="t"/>
          <a:lstStyle/>
          <a:p>
            <a:r>
              <a:rPr lang="en-US" sz="1865" b="1" dirty="0"/>
              <a:t>Customer support</a:t>
            </a:r>
            <a:endParaRPr lang="en-US" sz="1865" dirty="0"/>
          </a:p>
        </p:txBody>
      </p:sp>
      <p:sp>
        <p:nvSpPr>
          <p:cNvPr id="26" name="Text 22"/>
          <p:cNvSpPr txBox="1"/>
          <p:nvPr/>
        </p:nvSpPr>
        <p:spPr>
          <a:xfrm>
            <a:off x="8900160" y="2340864"/>
            <a:ext cx="2560320" cy="670560"/>
          </a:xfrm>
          <a:prstGeom prst="rect">
            <a:avLst/>
          </a:prstGeom>
          <a:noFill/>
        </p:spPr>
        <p:txBody>
          <a:bodyPr wrap="square" lIns="0" tIns="0" rIns="0" bIns="0" rtlCol="0" anchor="t"/>
          <a:lstStyle/>
          <a:p>
            <a:r>
              <a:rPr lang="en-US" sz="1865" dirty="0"/>
              <a:t>Catch unsafe replies after an update.</a:t>
            </a:r>
          </a:p>
        </p:txBody>
      </p:sp>
      <p:sp>
        <p:nvSpPr>
          <p:cNvPr id="27" name="Card"/>
          <p:cNvSpPr/>
          <p:nvPr/>
        </p:nvSpPr>
        <p:spPr>
          <a:xfrm>
            <a:off x="4084320" y="3291840"/>
            <a:ext cx="3718560" cy="1280160"/>
          </a:xfrm>
          <a:prstGeom prst="roundRect">
            <a:avLst>
              <a:gd name="adj" fmla="val 7619"/>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28" name="Icon circle"/>
          <p:cNvSpPr/>
          <p:nvPr/>
        </p:nvSpPr>
        <p:spPr>
          <a:xfrm>
            <a:off x="4303776" y="3621024"/>
            <a:ext cx="609600" cy="609600"/>
          </a:xfrm>
          <a:prstGeom prst="ellipse">
            <a:avLst/>
          </a:prstGeom>
          <a:solidFill>
            <a:schemeClr val="accent1"/>
          </a:solidFill>
        </p:spPr>
        <p:txBody>
          <a:bodyPr/>
          <a:lstStyle/>
          <a:p>
            <a:endParaRPr lang="en-US" sz="2400"/>
          </a:p>
        </p:txBody>
      </p:sp>
      <p:pic>
        <p:nvPicPr>
          <p:cNvPr id="29" name="Image 2" descr="icon"/>
          <p:cNvPicPr>
            <a:picLocks noChangeAspect="1"/>
          </p:cNvPicPr>
          <p:nvPr/>
        </p:nvPicPr>
        <p:blipFill>
          <a:blip r:embed="rId5"/>
          <a:stretch>
            <a:fillRect/>
          </a:stretch>
        </p:blipFill>
        <p:spPr>
          <a:xfrm>
            <a:off x="4468368" y="3785616"/>
            <a:ext cx="280416" cy="280416"/>
          </a:xfrm>
          <a:prstGeom prst="rect">
            <a:avLst/>
          </a:prstGeom>
        </p:spPr>
      </p:pic>
      <p:sp>
        <p:nvSpPr>
          <p:cNvPr id="30" name="Text 25"/>
          <p:cNvSpPr txBox="1"/>
          <p:nvPr/>
        </p:nvSpPr>
        <p:spPr>
          <a:xfrm>
            <a:off x="5120640" y="3438144"/>
            <a:ext cx="2560320" cy="341376"/>
          </a:xfrm>
          <a:prstGeom prst="rect">
            <a:avLst/>
          </a:prstGeom>
          <a:noFill/>
        </p:spPr>
        <p:txBody>
          <a:bodyPr wrap="square" lIns="0" tIns="0" rIns="0" bIns="0" rtlCol="0" anchor="t"/>
          <a:lstStyle/>
          <a:p>
            <a:r>
              <a:rPr lang="en-US" sz="1865" b="1" dirty="0"/>
              <a:t>HR and hiring</a:t>
            </a:r>
            <a:endParaRPr lang="en-US" sz="1865" dirty="0"/>
          </a:p>
        </p:txBody>
      </p:sp>
      <p:sp>
        <p:nvSpPr>
          <p:cNvPr id="31" name="Text 26"/>
          <p:cNvSpPr txBox="1"/>
          <p:nvPr/>
        </p:nvSpPr>
        <p:spPr>
          <a:xfrm>
            <a:off x="5120640" y="3803904"/>
            <a:ext cx="2560320" cy="670560"/>
          </a:xfrm>
          <a:prstGeom prst="rect">
            <a:avLst/>
          </a:prstGeom>
          <a:noFill/>
        </p:spPr>
        <p:txBody>
          <a:bodyPr wrap="square" lIns="0" tIns="0" rIns="0" bIns="0" rtlCol="0" anchor="t"/>
          <a:lstStyle/>
          <a:p>
            <a:r>
              <a:rPr lang="en-US" sz="1865" dirty="0"/>
              <a:t>Keep policy answers correct and fair.</a:t>
            </a:r>
          </a:p>
        </p:txBody>
      </p:sp>
      <p:sp>
        <p:nvSpPr>
          <p:cNvPr id="32" name="Card"/>
          <p:cNvSpPr/>
          <p:nvPr/>
        </p:nvSpPr>
        <p:spPr>
          <a:xfrm>
            <a:off x="7863840" y="3291840"/>
            <a:ext cx="3718560" cy="1280160"/>
          </a:xfrm>
          <a:prstGeom prst="roundRect">
            <a:avLst>
              <a:gd name="adj" fmla="val 7619"/>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33" name="Icon circle"/>
          <p:cNvSpPr/>
          <p:nvPr/>
        </p:nvSpPr>
        <p:spPr>
          <a:xfrm>
            <a:off x="8083296" y="3621024"/>
            <a:ext cx="609600" cy="609600"/>
          </a:xfrm>
          <a:prstGeom prst="ellipse">
            <a:avLst/>
          </a:prstGeom>
          <a:solidFill>
            <a:schemeClr val="accent4"/>
          </a:solidFill>
        </p:spPr>
        <p:txBody>
          <a:bodyPr/>
          <a:lstStyle/>
          <a:p>
            <a:endParaRPr lang="en-US" sz="2400"/>
          </a:p>
        </p:txBody>
      </p:sp>
      <p:pic>
        <p:nvPicPr>
          <p:cNvPr id="34" name="Image 3" descr="icon"/>
          <p:cNvPicPr>
            <a:picLocks noChangeAspect="1"/>
          </p:cNvPicPr>
          <p:nvPr/>
        </p:nvPicPr>
        <p:blipFill>
          <a:blip r:embed="rId6"/>
          <a:stretch>
            <a:fillRect/>
          </a:stretch>
        </p:blipFill>
        <p:spPr>
          <a:xfrm>
            <a:off x="8247888" y="3785616"/>
            <a:ext cx="280416" cy="280416"/>
          </a:xfrm>
          <a:prstGeom prst="rect">
            <a:avLst/>
          </a:prstGeom>
        </p:spPr>
      </p:pic>
      <p:sp>
        <p:nvSpPr>
          <p:cNvPr id="35" name="Text 29"/>
          <p:cNvSpPr txBox="1"/>
          <p:nvPr/>
        </p:nvSpPr>
        <p:spPr>
          <a:xfrm>
            <a:off x="8900160" y="3438144"/>
            <a:ext cx="2560320" cy="341376"/>
          </a:xfrm>
          <a:prstGeom prst="rect">
            <a:avLst/>
          </a:prstGeom>
          <a:noFill/>
        </p:spPr>
        <p:txBody>
          <a:bodyPr wrap="square" lIns="0" tIns="0" rIns="0" bIns="0" rtlCol="0" anchor="t"/>
          <a:lstStyle/>
          <a:p>
            <a:r>
              <a:rPr lang="en-US" sz="1865" b="1" dirty="0"/>
              <a:t>Supply chain</a:t>
            </a:r>
            <a:endParaRPr lang="en-US" sz="1865" dirty="0"/>
          </a:p>
        </p:txBody>
      </p:sp>
      <p:sp>
        <p:nvSpPr>
          <p:cNvPr id="36" name="Text 30"/>
          <p:cNvSpPr txBox="1"/>
          <p:nvPr/>
        </p:nvSpPr>
        <p:spPr>
          <a:xfrm>
            <a:off x="8900160" y="3803904"/>
            <a:ext cx="2560320" cy="670560"/>
          </a:xfrm>
          <a:prstGeom prst="rect">
            <a:avLst/>
          </a:prstGeom>
          <a:noFill/>
        </p:spPr>
        <p:txBody>
          <a:bodyPr wrap="square" lIns="0" tIns="0" rIns="0" bIns="0" rtlCol="0" anchor="t"/>
          <a:lstStyle/>
          <a:p>
            <a:r>
              <a:rPr lang="en-US" sz="1865" dirty="0"/>
              <a:t>Find the failing step in an order flow.</a:t>
            </a:r>
          </a:p>
        </p:txBody>
      </p:sp>
      <p:sp>
        <p:nvSpPr>
          <p:cNvPr id="37" name="Card"/>
          <p:cNvSpPr/>
          <p:nvPr/>
        </p:nvSpPr>
        <p:spPr>
          <a:xfrm>
            <a:off x="4084320" y="4754880"/>
            <a:ext cx="3718560" cy="1280160"/>
          </a:xfrm>
          <a:prstGeom prst="roundRect">
            <a:avLst>
              <a:gd name="adj" fmla="val 7619"/>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38" name="Icon circle"/>
          <p:cNvSpPr/>
          <p:nvPr/>
        </p:nvSpPr>
        <p:spPr>
          <a:xfrm>
            <a:off x="4303776" y="5084064"/>
            <a:ext cx="609600" cy="609600"/>
          </a:xfrm>
          <a:prstGeom prst="ellipse">
            <a:avLst/>
          </a:prstGeom>
          <a:solidFill>
            <a:schemeClr val="accent1"/>
          </a:solidFill>
        </p:spPr>
        <p:txBody>
          <a:bodyPr/>
          <a:lstStyle/>
          <a:p>
            <a:endParaRPr lang="en-US" sz="2400"/>
          </a:p>
        </p:txBody>
      </p:sp>
      <p:pic>
        <p:nvPicPr>
          <p:cNvPr id="39" name="Image 4" descr="icon"/>
          <p:cNvPicPr>
            <a:picLocks noChangeAspect="1"/>
          </p:cNvPicPr>
          <p:nvPr/>
        </p:nvPicPr>
        <p:blipFill>
          <a:blip r:embed="rId7"/>
          <a:stretch>
            <a:fillRect/>
          </a:stretch>
        </p:blipFill>
        <p:spPr>
          <a:xfrm>
            <a:off x="4468368" y="5248656"/>
            <a:ext cx="280416" cy="280416"/>
          </a:xfrm>
          <a:prstGeom prst="rect">
            <a:avLst/>
          </a:prstGeom>
        </p:spPr>
      </p:pic>
      <p:sp>
        <p:nvSpPr>
          <p:cNvPr id="40" name="Text 33"/>
          <p:cNvSpPr txBox="1"/>
          <p:nvPr/>
        </p:nvSpPr>
        <p:spPr>
          <a:xfrm>
            <a:off x="5120640" y="4901184"/>
            <a:ext cx="2560320" cy="341376"/>
          </a:xfrm>
          <a:prstGeom prst="rect">
            <a:avLst/>
          </a:prstGeom>
          <a:noFill/>
        </p:spPr>
        <p:txBody>
          <a:bodyPr wrap="square" lIns="0" tIns="0" rIns="0" bIns="0" rtlCol="0" anchor="t"/>
          <a:lstStyle/>
          <a:p>
            <a:r>
              <a:rPr lang="en-US" sz="1865" b="1" dirty="0"/>
              <a:t>Healthcare, insurance</a:t>
            </a:r>
            <a:endParaRPr lang="en-US" sz="1865" dirty="0"/>
          </a:p>
        </p:txBody>
      </p:sp>
      <p:sp>
        <p:nvSpPr>
          <p:cNvPr id="41" name="Text 34"/>
          <p:cNvSpPr txBox="1"/>
          <p:nvPr/>
        </p:nvSpPr>
        <p:spPr>
          <a:xfrm>
            <a:off x="5120640" y="5266944"/>
            <a:ext cx="2560320" cy="670560"/>
          </a:xfrm>
          <a:prstGeom prst="rect">
            <a:avLst/>
          </a:prstGeom>
          <a:noFill/>
        </p:spPr>
        <p:txBody>
          <a:bodyPr wrap="square" lIns="0" tIns="0" rIns="0" bIns="0" rtlCol="0" anchor="t"/>
          <a:lstStyle/>
          <a:p>
            <a:r>
              <a:rPr lang="en-US" sz="1865" dirty="0"/>
              <a:t>Protect private data in claims work.</a:t>
            </a:r>
          </a:p>
        </p:txBody>
      </p:sp>
      <p:sp>
        <p:nvSpPr>
          <p:cNvPr id="42" name="Card"/>
          <p:cNvSpPr/>
          <p:nvPr/>
        </p:nvSpPr>
        <p:spPr>
          <a:xfrm>
            <a:off x="7863840" y="4754880"/>
            <a:ext cx="3718560" cy="1280160"/>
          </a:xfrm>
          <a:prstGeom prst="roundRect">
            <a:avLst>
              <a:gd name="adj" fmla="val 7619"/>
            </a:avLst>
          </a:prstGeom>
          <a:solidFill>
            <a:schemeClr val="bg1"/>
          </a:solidFill>
          <a:effectLst>
            <a:outerShdw blurRad="88900" dist="25400" dir="5400000" algn="bl" rotWithShape="0">
              <a:srgbClr val="0B1633">
                <a:alpha val="13000"/>
              </a:srgbClr>
            </a:outerShdw>
          </a:effectLst>
        </p:spPr>
        <p:txBody>
          <a:bodyPr/>
          <a:lstStyle/>
          <a:p>
            <a:endParaRPr lang="en-US" sz="2400"/>
          </a:p>
        </p:txBody>
      </p:sp>
      <p:sp>
        <p:nvSpPr>
          <p:cNvPr id="43" name="Icon circle"/>
          <p:cNvSpPr/>
          <p:nvPr/>
        </p:nvSpPr>
        <p:spPr>
          <a:xfrm>
            <a:off x="8083296" y="5084064"/>
            <a:ext cx="609600" cy="609600"/>
          </a:xfrm>
          <a:prstGeom prst="ellipse">
            <a:avLst/>
          </a:prstGeom>
          <a:solidFill>
            <a:schemeClr val="accent4"/>
          </a:solidFill>
        </p:spPr>
        <p:txBody>
          <a:bodyPr/>
          <a:lstStyle/>
          <a:p>
            <a:endParaRPr lang="en-US" sz="2400"/>
          </a:p>
        </p:txBody>
      </p:sp>
      <p:pic>
        <p:nvPicPr>
          <p:cNvPr id="44" name="Image 5" descr="icon"/>
          <p:cNvPicPr>
            <a:picLocks noChangeAspect="1"/>
          </p:cNvPicPr>
          <p:nvPr/>
        </p:nvPicPr>
        <p:blipFill>
          <a:blip r:embed="rId8"/>
          <a:stretch>
            <a:fillRect/>
          </a:stretch>
        </p:blipFill>
        <p:spPr>
          <a:xfrm>
            <a:off x="8247888" y="5248656"/>
            <a:ext cx="280416" cy="280416"/>
          </a:xfrm>
          <a:prstGeom prst="rect">
            <a:avLst/>
          </a:prstGeom>
        </p:spPr>
      </p:pic>
      <p:sp>
        <p:nvSpPr>
          <p:cNvPr id="45" name="Text 37"/>
          <p:cNvSpPr txBox="1"/>
          <p:nvPr/>
        </p:nvSpPr>
        <p:spPr>
          <a:xfrm>
            <a:off x="8900160" y="4901184"/>
            <a:ext cx="2560320" cy="341376"/>
          </a:xfrm>
          <a:prstGeom prst="rect">
            <a:avLst/>
          </a:prstGeom>
          <a:noFill/>
        </p:spPr>
        <p:txBody>
          <a:bodyPr wrap="square" lIns="0" tIns="0" rIns="0" bIns="0" rtlCol="0" anchor="t"/>
          <a:lstStyle/>
          <a:p>
            <a:r>
              <a:rPr lang="en-US" sz="1865" b="1" dirty="0"/>
              <a:t>IT operations</a:t>
            </a:r>
            <a:endParaRPr lang="en-US" sz="1865" dirty="0"/>
          </a:p>
        </p:txBody>
      </p:sp>
      <p:sp>
        <p:nvSpPr>
          <p:cNvPr id="46" name="Text 38"/>
          <p:cNvSpPr txBox="1"/>
          <p:nvPr/>
        </p:nvSpPr>
        <p:spPr>
          <a:xfrm>
            <a:off x="8900160" y="5266944"/>
            <a:ext cx="2560320" cy="670560"/>
          </a:xfrm>
          <a:prstGeom prst="rect">
            <a:avLst/>
          </a:prstGeom>
          <a:noFill/>
        </p:spPr>
        <p:txBody>
          <a:bodyPr wrap="square" lIns="0" tIns="0" rIns="0" bIns="0" rtlCol="0" anchor="t"/>
          <a:lstStyle/>
          <a:p>
            <a:r>
              <a:rPr lang="en-US" sz="1865" dirty="0"/>
              <a:t>Watch agents that fix tickets or deploy.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48640" y="640080"/>
            <a:ext cx="11064240" cy="457200"/>
          </a:xfrm>
          <a:prstGeom prst="rect">
            <a:avLst/>
          </a:prstGeom>
          <a:noFill/>
        </p:spPr>
        <p:txBody>
          <a:bodyPr wrap="square" lIns="0" tIns="0" rIns="0" bIns="0" rtlCol="0" anchor="ctr">
            <a:normAutofit/>
          </a:bodyPr>
          <a:lstStyle/>
          <a:p>
            <a:pPr marL="0" indent="0">
              <a:buNone/>
            </a:pPr>
            <a:r>
              <a:rPr lang="en-US" sz="2600" b="1" dirty="0">
                <a:solidFill>
                  <a:srgbClr val="0F2742"/>
                </a:solidFill>
              </a:rPr>
              <a:t>Conclusion</a:t>
            </a:r>
            <a:endParaRPr lang="en-US" sz="2600" dirty="0"/>
          </a:p>
        </p:txBody>
      </p:sp>
      <p:sp>
        <p:nvSpPr>
          <p:cNvPr id="3" name="Text 1"/>
          <p:cNvSpPr/>
          <p:nvPr/>
        </p:nvSpPr>
        <p:spPr>
          <a:xfrm>
            <a:off x="548640" y="1143000"/>
            <a:ext cx="10972800" cy="310896"/>
          </a:xfrm>
          <a:prstGeom prst="rect">
            <a:avLst/>
          </a:prstGeom>
          <a:noFill/>
        </p:spPr>
        <p:txBody>
          <a:bodyPr wrap="square" lIns="0" tIns="0" rIns="0" bIns="0" rtlCol="0" anchor="ctr">
            <a:normAutofit/>
          </a:bodyPr>
          <a:lstStyle/>
          <a:p>
            <a:pPr marL="0" indent="0">
              <a:buNone/>
            </a:pPr>
            <a:r>
              <a:rPr lang="en-US" sz="1250" dirty="0">
                <a:solidFill>
                  <a:srgbClr val="5B677A"/>
                </a:solidFill>
              </a:rPr>
              <a:t>A connected AgenticOps loop can be tested as both a quality system and a scalable roadmap.</a:t>
            </a:r>
            <a:endParaRPr lang="en-US" sz="1250" dirty="0"/>
          </a:p>
        </p:txBody>
      </p:sp>
      <p:sp>
        <p:nvSpPr>
          <p:cNvPr id="4" name="Shape 2"/>
          <p:cNvSpPr/>
          <p:nvPr/>
        </p:nvSpPr>
        <p:spPr>
          <a:xfrm>
            <a:off x="731520" y="1645920"/>
            <a:ext cx="3429000" cy="2194560"/>
          </a:xfrm>
          <a:prstGeom prst="roundRect">
            <a:avLst>
              <a:gd name="adj" fmla="val 3333"/>
            </a:avLst>
          </a:prstGeom>
          <a:solidFill>
            <a:srgbClr val="FFFFFF"/>
          </a:solidFill>
          <a:ln w="12700">
            <a:solidFill>
              <a:srgbClr val="D8E1EA"/>
            </a:solidFill>
            <a:prstDash val="solid"/>
          </a:ln>
        </p:spPr>
        <p:txBody>
          <a:bodyPr/>
          <a:lstStyle/>
          <a:p>
            <a:endParaRPr lang="en-US"/>
          </a:p>
        </p:txBody>
      </p:sp>
      <p:sp>
        <p:nvSpPr>
          <p:cNvPr id="5" name="Shape 3"/>
          <p:cNvSpPr/>
          <p:nvPr/>
        </p:nvSpPr>
        <p:spPr>
          <a:xfrm>
            <a:off x="731520" y="1645920"/>
            <a:ext cx="73152" cy="2194560"/>
          </a:xfrm>
          <a:prstGeom prst="rect">
            <a:avLst/>
          </a:prstGeom>
          <a:solidFill>
            <a:srgbClr val="DC2626"/>
          </a:solidFill>
          <a:ln w="12700">
            <a:solidFill>
              <a:srgbClr val="DC2626"/>
            </a:solidFill>
            <a:prstDash val="solid"/>
          </a:ln>
        </p:spPr>
        <p:txBody>
          <a:bodyPr/>
          <a:lstStyle/>
          <a:p>
            <a:endParaRPr lang="en-US"/>
          </a:p>
        </p:txBody>
      </p:sp>
      <p:sp>
        <p:nvSpPr>
          <p:cNvPr id="6" name="Text 4"/>
          <p:cNvSpPr/>
          <p:nvPr/>
        </p:nvSpPr>
        <p:spPr>
          <a:xfrm>
            <a:off x="960120" y="1810512"/>
            <a:ext cx="301752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Agents can get worse quietly</a:t>
            </a:r>
            <a:endParaRPr lang="en-US" sz="1500" dirty="0"/>
          </a:p>
        </p:txBody>
      </p:sp>
      <p:sp>
        <p:nvSpPr>
          <p:cNvPr id="7" name="Text 5"/>
          <p:cNvSpPr/>
          <p:nvPr/>
        </p:nvSpPr>
        <p:spPr>
          <a:xfrm>
            <a:off x="960120" y="2249424"/>
            <a:ext cx="3017520" cy="1444752"/>
          </a:xfrm>
          <a:prstGeom prst="rect">
            <a:avLst/>
          </a:prstGeom>
          <a:noFill/>
        </p:spPr>
        <p:txBody>
          <a:bodyPr wrap="square" lIns="254" tIns="254" rIns="254" bIns="254" rtlCol="0" anchor="t">
            <a:normAutofit/>
          </a:bodyPr>
          <a:lstStyle/>
          <a:p>
            <a:pPr marL="0" indent="0">
              <a:buNone/>
            </a:pPr>
            <a:r>
              <a:rPr lang="en-US" sz="1400" dirty="0">
                <a:solidFill>
                  <a:srgbClr val="5B677A"/>
                </a:solidFill>
                <a:latin typeface="Calibri" panose="020F0502020204030204" pitchFamily="34" charset="0"/>
                <a:ea typeface="Calibri" panose="020F0502020204030204" pitchFamily="34" charset="0"/>
                <a:cs typeface="Calibri" panose="020F0502020204030204" pitchFamily="34" charset="0"/>
              </a:rPr>
              <a:t>A small change can lower quality, so testing once is not enough.</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8" name="Shape 6"/>
          <p:cNvSpPr/>
          <p:nvPr/>
        </p:nvSpPr>
        <p:spPr>
          <a:xfrm>
            <a:off x="4389120" y="1645920"/>
            <a:ext cx="3429000" cy="2194560"/>
          </a:xfrm>
          <a:prstGeom prst="roundRect">
            <a:avLst>
              <a:gd name="adj" fmla="val 3333"/>
            </a:avLst>
          </a:prstGeom>
          <a:solidFill>
            <a:srgbClr val="FFFFFF"/>
          </a:solidFill>
          <a:ln w="12700">
            <a:solidFill>
              <a:srgbClr val="D8E1EA"/>
            </a:solidFill>
            <a:prstDash val="solid"/>
          </a:ln>
        </p:spPr>
        <p:txBody>
          <a:bodyPr/>
          <a:lstStyle/>
          <a:p>
            <a:endParaRPr lang="en-US"/>
          </a:p>
        </p:txBody>
      </p:sp>
      <p:sp>
        <p:nvSpPr>
          <p:cNvPr id="9" name="Shape 7"/>
          <p:cNvSpPr/>
          <p:nvPr/>
        </p:nvSpPr>
        <p:spPr>
          <a:xfrm>
            <a:off x="4389120" y="1645920"/>
            <a:ext cx="73152" cy="2194560"/>
          </a:xfrm>
          <a:prstGeom prst="rect">
            <a:avLst/>
          </a:prstGeom>
          <a:solidFill>
            <a:srgbClr val="01A982"/>
          </a:solidFill>
          <a:ln w="12700">
            <a:solidFill>
              <a:srgbClr val="01A982"/>
            </a:solidFill>
            <a:prstDash val="solid"/>
          </a:ln>
        </p:spPr>
        <p:txBody>
          <a:bodyPr/>
          <a:lstStyle/>
          <a:p>
            <a:endParaRPr lang="en-US"/>
          </a:p>
        </p:txBody>
      </p:sp>
      <p:sp>
        <p:nvSpPr>
          <p:cNvPr id="10" name="Text 8"/>
          <p:cNvSpPr/>
          <p:nvPr/>
        </p:nvSpPr>
        <p:spPr>
          <a:xfrm>
            <a:off x="4617720" y="1810512"/>
            <a:ext cx="301752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One loop keeps learning</a:t>
            </a:r>
            <a:endParaRPr lang="en-US" sz="1500" dirty="0"/>
          </a:p>
        </p:txBody>
      </p:sp>
      <p:sp>
        <p:nvSpPr>
          <p:cNvPr id="11" name="Text 9"/>
          <p:cNvSpPr/>
          <p:nvPr/>
        </p:nvSpPr>
        <p:spPr>
          <a:xfrm>
            <a:off x="4617720" y="2249424"/>
            <a:ext cx="3017520" cy="1444752"/>
          </a:xfrm>
          <a:prstGeom prst="rect">
            <a:avLst/>
          </a:prstGeom>
          <a:noFill/>
        </p:spPr>
        <p:txBody>
          <a:bodyPr wrap="square" lIns="254" tIns="254" rIns="254" bIns="254" rtlCol="0" anchor="t">
            <a:normAutofit/>
          </a:bodyPr>
          <a:lstStyle/>
          <a:p>
            <a:r>
              <a:rPr lang="en-US" sz="1400" dirty="0">
                <a:solidFill>
                  <a:srgbClr val="5B677A"/>
                </a:solidFill>
                <a:latin typeface="Calibri" panose="020F0502020204030204" pitchFamily="34" charset="0"/>
                <a:ea typeface="Calibri" panose="020F0502020204030204" pitchFamily="34" charset="0"/>
                <a:cs typeface="Calibri" panose="020F0502020204030204" pitchFamily="34" charset="0"/>
              </a:rPr>
              <a:t>Continuous regression testing turns every failure into a stronger test.</a:t>
            </a:r>
          </a:p>
        </p:txBody>
      </p:sp>
      <p:sp>
        <p:nvSpPr>
          <p:cNvPr id="12" name="Shape 10"/>
          <p:cNvSpPr/>
          <p:nvPr/>
        </p:nvSpPr>
        <p:spPr>
          <a:xfrm>
            <a:off x="8046720" y="1645920"/>
            <a:ext cx="3429000" cy="2194560"/>
          </a:xfrm>
          <a:prstGeom prst="roundRect">
            <a:avLst>
              <a:gd name="adj" fmla="val 3333"/>
            </a:avLst>
          </a:prstGeom>
          <a:solidFill>
            <a:srgbClr val="FFFFFF"/>
          </a:solidFill>
          <a:ln w="12700">
            <a:solidFill>
              <a:srgbClr val="D8E1EA"/>
            </a:solidFill>
            <a:prstDash val="solid"/>
          </a:ln>
        </p:spPr>
        <p:txBody>
          <a:bodyPr/>
          <a:lstStyle/>
          <a:p>
            <a:endParaRPr lang="en-US"/>
          </a:p>
        </p:txBody>
      </p:sp>
      <p:sp>
        <p:nvSpPr>
          <p:cNvPr id="13" name="Shape 11"/>
          <p:cNvSpPr/>
          <p:nvPr/>
        </p:nvSpPr>
        <p:spPr>
          <a:xfrm>
            <a:off x="8046720" y="1645920"/>
            <a:ext cx="73152" cy="2194560"/>
          </a:xfrm>
          <a:prstGeom prst="rect">
            <a:avLst/>
          </a:prstGeom>
          <a:solidFill>
            <a:srgbClr val="2563EB"/>
          </a:solidFill>
          <a:ln w="12700">
            <a:solidFill>
              <a:srgbClr val="2563EB"/>
            </a:solidFill>
            <a:prstDash val="solid"/>
          </a:ln>
        </p:spPr>
        <p:txBody>
          <a:bodyPr/>
          <a:lstStyle/>
          <a:p>
            <a:endParaRPr lang="en-US"/>
          </a:p>
        </p:txBody>
      </p:sp>
      <p:sp>
        <p:nvSpPr>
          <p:cNvPr id="14" name="Text 12"/>
          <p:cNvSpPr/>
          <p:nvPr/>
        </p:nvSpPr>
        <p:spPr>
          <a:xfrm>
            <a:off x="8275320" y="1810512"/>
            <a:ext cx="3017520" cy="320040"/>
          </a:xfrm>
          <a:prstGeom prst="rect">
            <a:avLst/>
          </a:prstGeom>
          <a:noFill/>
        </p:spPr>
        <p:txBody>
          <a:bodyPr wrap="square" lIns="0" tIns="0" rIns="0" bIns="0" rtlCol="0" anchor="ctr">
            <a:normAutofit/>
          </a:bodyPr>
          <a:lstStyle/>
          <a:p>
            <a:pPr marL="0" indent="0">
              <a:buNone/>
            </a:pPr>
            <a:r>
              <a:rPr lang="en-US" sz="1500" b="1" dirty="0">
                <a:solidFill>
                  <a:srgbClr val="0F2742"/>
                </a:solidFill>
              </a:rPr>
              <a:t>Ready to scale</a:t>
            </a:r>
            <a:endParaRPr lang="en-US" sz="1500" dirty="0"/>
          </a:p>
        </p:txBody>
      </p:sp>
      <p:sp>
        <p:nvSpPr>
          <p:cNvPr id="15" name="Text 13"/>
          <p:cNvSpPr/>
          <p:nvPr/>
        </p:nvSpPr>
        <p:spPr>
          <a:xfrm>
            <a:off x="8275320" y="2249424"/>
            <a:ext cx="3017520" cy="1444752"/>
          </a:xfrm>
          <a:prstGeom prst="rect">
            <a:avLst/>
          </a:prstGeom>
          <a:noFill/>
        </p:spPr>
        <p:txBody>
          <a:bodyPr wrap="square" lIns="254" tIns="254" rIns="254" bIns="254" rtlCol="0" anchor="t">
            <a:normAutofit/>
          </a:bodyPr>
          <a:lstStyle/>
          <a:p>
            <a:pPr indent="0">
              <a:buNone/>
            </a:pPr>
            <a:r>
              <a:rPr lang="en-US" sz="1400" dirty="0">
                <a:solidFill>
                  <a:srgbClr val="5B677A"/>
                </a:solidFill>
                <a:latin typeface="Calibri" panose="020F0502020204030204" pitchFamily="34" charset="0"/>
                <a:ea typeface="Calibri" panose="020F0502020204030204" pitchFamily="34" charset="0"/>
                <a:cs typeface="Calibri" panose="020F0502020204030204" pitchFamily="34" charset="0"/>
              </a:rPr>
              <a:t>Start with two agents, then expand through orchestration, specialist agents into a multi-agentic solution.</a:t>
            </a:r>
          </a:p>
        </p:txBody>
      </p:sp>
      <p:sp>
        <p:nvSpPr>
          <p:cNvPr id="17" name="Text 15"/>
          <p:cNvSpPr/>
          <p:nvPr/>
        </p:nvSpPr>
        <p:spPr>
          <a:xfrm>
            <a:off x="1600200" y="4681728"/>
            <a:ext cx="8915400" cy="347472"/>
          </a:xfrm>
          <a:prstGeom prst="rect">
            <a:avLst/>
          </a:prstGeom>
          <a:noFill/>
        </p:spPr>
        <p:txBody>
          <a:bodyPr wrap="square" lIns="0" tIns="0" rIns="0" bIns="0" rtlCol="0" anchor="ctr">
            <a:normAutofit fontScale="85000" lnSpcReduction="10000"/>
          </a:bodyPr>
          <a:lstStyle/>
          <a:p>
            <a:pPr marL="0" indent="0" algn="ctr">
              <a:buNone/>
            </a:pPr>
            <a:r>
              <a:rPr lang="en-US" sz="1700" b="1" dirty="0">
                <a:solidFill>
                  <a:srgbClr val="FFFFFF"/>
                </a:solidFill>
              </a:rPr>
              <a:t>Can one connected AgenticOps pipeline detect and contain agent regressions before and after release?</a:t>
            </a:r>
            <a:endParaRPr lang="en-US" sz="1700" dirty="0"/>
          </a:p>
        </p:txBody>
      </p:sp>
      <p:sp>
        <p:nvSpPr>
          <p:cNvPr id="25" name="Slide Number Placeholder 0"/>
          <p:cNvSpPr>
            <a:spLocks noGrp="1"/>
          </p:cNvSpPr>
          <p:nvPr>
            <p:ph type="sldNum" sz="quarter" idx="4294967295"/>
          </p:nvPr>
        </p:nvSpPr>
        <p:spPr>
          <a:xfrm>
            <a:off x="11384280" y="6556248"/>
            <a:ext cx="274320" cy="182880"/>
          </a:xfrm>
          <a:prstGeom prst="rect">
            <a:avLst/>
          </a:prstGeom>
        </p:spPr>
        <p:txBody>
          <a:bodyPr>
            <a:normAutofit fontScale="70000" lnSpcReduction="20000"/>
          </a:bodyPr>
          <a:lstStyle>
            <a:lvl1pPr>
              <a:defRPr sz="900">
                <a:solidFill>
                  <a:srgbClr val="64748B"/>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48640" y="640080"/>
            <a:ext cx="11064240" cy="457200"/>
          </a:xfrm>
          <a:prstGeom prst="rect">
            <a:avLst/>
          </a:prstGeom>
          <a:noFill/>
        </p:spPr>
        <p:txBody>
          <a:bodyPr wrap="square" lIns="0" tIns="0" rIns="0" bIns="0" rtlCol="0" anchor="ctr">
            <a:normAutofit/>
          </a:bodyPr>
          <a:lstStyle/>
          <a:p>
            <a:pPr marL="0" indent="0">
              <a:buNone/>
            </a:pPr>
            <a:r>
              <a:rPr lang="en-US" sz="2600" b="1" dirty="0">
                <a:solidFill>
                  <a:srgbClr val="0F2742"/>
                </a:solidFill>
              </a:rPr>
              <a:t>Thank you</a:t>
            </a:r>
            <a:endParaRPr lang="en-US" sz="2600" dirty="0"/>
          </a:p>
        </p:txBody>
      </p:sp>
      <p:sp>
        <p:nvSpPr>
          <p:cNvPr id="3" name="Text 1"/>
          <p:cNvSpPr/>
          <p:nvPr/>
        </p:nvSpPr>
        <p:spPr>
          <a:xfrm>
            <a:off x="548640" y="1143000"/>
            <a:ext cx="10972800" cy="310896"/>
          </a:xfrm>
          <a:prstGeom prst="rect">
            <a:avLst/>
          </a:prstGeom>
          <a:noFill/>
        </p:spPr>
        <p:txBody>
          <a:bodyPr wrap="square" lIns="0" tIns="0" rIns="0" bIns="0" rtlCol="0" anchor="ctr">
            <a:normAutofit/>
          </a:bodyPr>
          <a:lstStyle/>
          <a:p>
            <a:pPr marL="0" indent="0">
              <a:buNone/>
            </a:pPr>
            <a:r>
              <a:rPr lang="en-US" sz="1250" dirty="0">
                <a:solidFill>
                  <a:srgbClr val="5B677A"/>
                </a:solidFill>
              </a:rPr>
              <a:t>Questions and discussion</a:t>
            </a:r>
            <a:endParaRPr lang="en-US" sz="1250" dirty="0"/>
          </a:p>
        </p:txBody>
      </p:sp>
      <p:sp>
        <p:nvSpPr>
          <p:cNvPr id="4" name="Shape 2"/>
          <p:cNvSpPr/>
          <p:nvPr/>
        </p:nvSpPr>
        <p:spPr>
          <a:xfrm>
            <a:off x="914400" y="1508760"/>
            <a:ext cx="347472" cy="347472"/>
          </a:xfrm>
          <a:prstGeom prst="ellipse">
            <a:avLst/>
          </a:prstGeom>
          <a:solidFill>
            <a:srgbClr val="01A982"/>
          </a:solidFill>
          <a:ln w="12700">
            <a:solidFill>
              <a:srgbClr val="01A982"/>
            </a:solidFill>
            <a:prstDash val="solid"/>
          </a:ln>
        </p:spPr>
        <p:txBody>
          <a:bodyPr/>
          <a:lstStyle/>
          <a:p>
            <a:endParaRPr lang="en-US"/>
          </a:p>
        </p:txBody>
      </p:sp>
      <p:sp>
        <p:nvSpPr>
          <p:cNvPr id="5" name="Text 3"/>
          <p:cNvSpPr/>
          <p:nvPr/>
        </p:nvSpPr>
        <p:spPr>
          <a:xfrm>
            <a:off x="914400" y="1536192"/>
            <a:ext cx="347472" cy="228600"/>
          </a:xfrm>
          <a:prstGeom prst="rect">
            <a:avLst/>
          </a:prstGeom>
          <a:noFill/>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6" name="Text 4"/>
          <p:cNvSpPr/>
          <p:nvPr/>
        </p:nvSpPr>
        <p:spPr>
          <a:xfrm>
            <a:off x="1371600" y="1499616"/>
            <a:ext cx="1828800" cy="365760"/>
          </a:xfrm>
          <a:prstGeom prst="rect">
            <a:avLst/>
          </a:prstGeom>
          <a:noFill/>
        </p:spPr>
        <p:txBody>
          <a:bodyPr wrap="square" lIns="0" tIns="0" rIns="0" bIns="0" rtlCol="0" anchor="ctr">
            <a:normAutofit lnSpcReduction="10000"/>
          </a:bodyPr>
          <a:lstStyle/>
          <a:p>
            <a:pPr marL="0" indent="0">
              <a:buNone/>
            </a:pPr>
            <a:r>
              <a:rPr lang="en-US" sz="1300" b="1" dirty="0">
                <a:solidFill>
                  <a:srgbClr val="172033"/>
                </a:solidFill>
              </a:rPr>
              <a:t>Trace every important action</a:t>
            </a:r>
            <a:endParaRPr lang="en-US" sz="1300" dirty="0"/>
          </a:p>
        </p:txBody>
      </p:sp>
      <p:sp>
        <p:nvSpPr>
          <p:cNvPr id="7" name="Shape 5"/>
          <p:cNvSpPr/>
          <p:nvPr/>
        </p:nvSpPr>
        <p:spPr>
          <a:xfrm>
            <a:off x="914400" y="2286000"/>
            <a:ext cx="347472" cy="347472"/>
          </a:xfrm>
          <a:prstGeom prst="ellipse">
            <a:avLst/>
          </a:prstGeom>
          <a:solidFill>
            <a:srgbClr val="2563EB"/>
          </a:solidFill>
          <a:ln w="12700">
            <a:solidFill>
              <a:srgbClr val="2563EB"/>
            </a:solidFill>
            <a:prstDash val="solid"/>
          </a:ln>
        </p:spPr>
        <p:txBody>
          <a:bodyPr/>
          <a:lstStyle/>
          <a:p>
            <a:endParaRPr lang="en-US"/>
          </a:p>
        </p:txBody>
      </p:sp>
      <p:sp>
        <p:nvSpPr>
          <p:cNvPr id="8" name="Text 6"/>
          <p:cNvSpPr/>
          <p:nvPr/>
        </p:nvSpPr>
        <p:spPr>
          <a:xfrm>
            <a:off x="914400" y="2313432"/>
            <a:ext cx="347472" cy="228600"/>
          </a:xfrm>
          <a:prstGeom prst="rect">
            <a:avLst/>
          </a:prstGeom>
          <a:noFill/>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9" name="Text 7"/>
          <p:cNvSpPr/>
          <p:nvPr/>
        </p:nvSpPr>
        <p:spPr>
          <a:xfrm>
            <a:off x="1371600" y="2276856"/>
            <a:ext cx="1828800" cy="365760"/>
          </a:xfrm>
          <a:prstGeom prst="rect">
            <a:avLst/>
          </a:prstGeom>
          <a:noFill/>
        </p:spPr>
        <p:txBody>
          <a:bodyPr wrap="square" lIns="0" tIns="0" rIns="0" bIns="0" rtlCol="0" anchor="ctr">
            <a:normAutofit lnSpcReduction="10000"/>
          </a:bodyPr>
          <a:lstStyle/>
          <a:p>
            <a:pPr marL="0" indent="0">
              <a:buNone/>
            </a:pPr>
            <a:r>
              <a:rPr lang="en-US" sz="1300" b="1" dirty="0">
                <a:solidFill>
                  <a:srgbClr val="172033"/>
                </a:solidFill>
              </a:rPr>
              <a:t>Compare with a known baseline</a:t>
            </a:r>
            <a:endParaRPr lang="en-US" sz="1300" dirty="0"/>
          </a:p>
        </p:txBody>
      </p:sp>
      <p:sp>
        <p:nvSpPr>
          <p:cNvPr id="10" name="Shape 8"/>
          <p:cNvSpPr/>
          <p:nvPr/>
        </p:nvSpPr>
        <p:spPr>
          <a:xfrm>
            <a:off x="914400" y="3063240"/>
            <a:ext cx="347472" cy="347472"/>
          </a:xfrm>
          <a:prstGeom prst="ellipse">
            <a:avLst/>
          </a:prstGeom>
          <a:solidFill>
            <a:srgbClr val="EA580C"/>
          </a:solidFill>
          <a:ln w="12700">
            <a:solidFill>
              <a:srgbClr val="EA580C"/>
            </a:solidFill>
            <a:prstDash val="solid"/>
          </a:ln>
        </p:spPr>
        <p:txBody>
          <a:bodyPr/>
          <a:lstStyle/>
          <a:p>
            <a:endParaRPr lang="en-US"/>
          </a:p>
        </p:txBody>
      </p:sp>
      <p:sp>
        <p:nvSpPr>
          <p:cNvPr id="11" name="Text 9"/>
          <p:cNvSpPr/>
          <p:nvPr/>
        </p:nvSpPr>
        <p:spPr>
          <a:xfrm>
            <a:off x="914400" y="3090672"/>
            <a:ext cx="347472" cy="228600"/>
          </a:xfrm>
          <a:prstGeom prst="rect">
            <a:avLst/>
          </a:prstGeom>
          <a:noFill/>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2" name="Text 10"/>
          <p:cNvSpPr/>
          <p:nvPr/>
        </p:nvSpPr>
        <p:spPr>
          <a:xfrm>
            <a:off x="1371600" y="3054096"/>
            <a:ext cx="1828800" cy="365760"/>
          </a:xfrm>
          <a:prstGeom prst="rect">
            <a:avLst/>
          </a:prstGeom>
          <a:noFill/>
        </p:spPr>
        <p:txBody>
          <a:bodyPr wrap="square" lIns="0" tIns="0" rIns="0" bIns="0" rtlCol="0" anchor="ctr">
            <a:normAutofit lnSpcReduction="10000"/>
          </a:bodyPr>
          <a:lstStyle/>
          <a:p>
            <a:pPr marL="0" indent="0">
              <a:buNone/>
            </a:pPr>
            <a:r>
              <a:rPr lang="en-US" sz="1300" b="1" dirty="0">
                <a:solidFill>
                  <a:srgbClr val="172033"/>
                </a:solidFill>
              </a:rPr>
              <a:t>Block unsafe or low-quality releases</a:t>
            </a:r>
            <a:endParaRPr lang="en-US" sz="1300" dirty="0"/>
          </a:p>
        </p:txBody>
      </p:sp>
      <p:sp>
        <p:nvSpPr>
          <p:cNvPr id="13" name="Shape 11"/>
          <p:cNvSpPr/>
          <p:nvPr/>
        </p:nvSpPr>
        <p:spPr>
          <a:xfrm>
            <a:off x="914400" y="3840480"/>
            <a:ext cx="347472" cy="347472"/>
          </a:xfrm>
          <a:prstGeom prst="ellipse">
            <a:avLst/>
          </a:prstGeom>
          <a:solidFill>
            <a:srgbClr val="DC2626"/>
          </a:solidFill>
          <a:ln w="12700">
            <a:solidFill>
              <a:srgbClr val="DC2626"/>
            </a:solidFill>
            <a:prstDash val="solid"/>
          </a:ln>
        </p:spPr>
        <p:txBody>
          <a:bodyPr/>
          <a:lstStyle/>
          <a:p>
            <a:endParaRPr lang="en-US"/>
          </a:p>
        </p:txBody>
      </p:sp>
      <p:sp>
        <p:nvSpPr>
          <p:cNvPr id="14" name="Text 12"/>
          <p:cNvSpPr/>
          <p:nvPr/>
        </p:nvSpPr>
        <p:spPr>
          <a:xfrm>
            <a:off x="914400" y="3867912"/>
            <a:ext cx="347472" cy="228600"/>
          </a:xfrm>
          <a:prstGeom prst="rect">
            <a:avLst/>
          </a:prstGeom>
          <a:noFill/>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15" name="Text 13"/>
          <p:cNvSpPr/>
          <p:nvPr/>
        </p:nvSpPr>
        <p:spPr>
          <a:xfrm>
            <a:off x="1371600" y="3831336"/>
            <a:ext cx="1828800" cy="365760"/>
          </a:xfrm>
          <a:prstGeom prst="rect">
            <a:avLst/>
          </a:prstGeom>
          <a:noFill/>
        </p:spPr>
        <p:txBody>
          <a:bodyPr wrap="square" lIns="0" tIns="0" rIns="0" bIns="0" rtlCol="0" anchor="ctr">
            <a:normAutofit/>
          </a:bodyPr>
          <a:lstStyle/>
          <a:p>
            <a:pPr marL="0" indent="0">
              <a:buNone/>
            </a:pPr>
            <a:r>
              <a:rPr lang="en-US" sz="1300" b="1" dirty="0">
                <a:solidFill>
                  <a:srgbClr val="172033"/>
                </a:solidFill>
              </a:rPr>
              <a:t>Monitor after release</a:t>
            </a:r>
            <a:endParaRPr lang="en-US" sz="1300" dirty="0"/>
          </a:p>
        </p:txBody>
      </p:sp>
      <p:sp>
        <p:nvSpPr>
          <p:cNvPr id="16" name="Shape 14"/>
          <p:cNvSpPr/>
          <p:nvPr/>
        </p:nvSpPr>
        <p:spPr>
          <a:xfrm>
            <a:off x="914400" y="4617720"/>
            <a:ext cx="347472" cy="347472"/>
          </a:xfrm>
          <a:prstGeom prst="ellipse">
            <a:avLst/>
          </a:prstGeom>
          <a:solidFill>
            <a:srgbClr val="0F766E"/>
          </a:solidFill>
          <a:ln w="12700">
            <a:solidFill>
              <a:srgbClr val="0F766E"/>
            </a:solidFill>
            <a:prstDash val="solid"/>
          </a:ln>
        </p:spPr>
        <p:txBody>
          <a:bodyPr/>
          <a:lstStyle/>
          <a:p>
            <a:endParaRPr lang="en-US"/>
          </a:p>
        </p:txBody>
      </p:sp>
      <p:sp>
        <p:nvSpPr>
          <p:cNvPr id="17" name="Text 15"/>
          <p:cNvSpPr/>
          <p:nvPr/>
        </p:nvSpPr>
        <p:spPr>
          <a:xfrm>
            <a:off x="914400" y="4645152"/>
            <a:ext cx="347472" cy="228600"/>
          </a:xfrm>
          <a:prstGeom prst="rect">
            <a:avLst/>
          </a:prstGeom>
          <a:noFill/>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18" name="Text 16"/>
          <p:cNvSpPr/>
          <p:nvPr/>
        </p:nvSpPr>
        <p:spPr>
          <a:xfrm>
            <a:off x="1371600" y="4608576"/>
            <a:ext cx="1828800" cy="365760"/>
          </a:xfrm>
          <a:prstGeom prst="rect">
            <a:avLst/>
          </a:prstGeom>
          <a:noFill/>
        </p:spPr>
        <p:txBody>
          <a:bodyPr wrap="square" lIns="0" tIns="0" rIns="0" bIns="0" rtlCol="0" anchor="ctr">
            <a:normAutofit lnSpcReduction="10000"/>
          </a:bodyPr>
          <a:lstStyle/>
          <a:p>
            <a:pPr marL="0" indent="0">
              <a:buNone/>
            </a:pPr>
            <a:r>
              <a:rPr lang="en-US" sz="1300" b="1" dirty="0">
                <a:solidFill>
                  <a:srgbClr val="172033"/>
                </a:solidFill>
              </a:rPr>
              <a:t>Turn every failure into a new test</a:t>
            </a:r>
            <a:endParaRPr lang="en-US" sz="1300" dirty="0"/>
          </a:p>
        </p:txBody>
      </p:sp>
      <p:sp>
        <p:nvSpPr>
          <p:cNvPr id="19" name="Text 17"/>
          <p:cNvSpPr/>
          <p:nvPr/>
        </p:nvSpPr>
        <p:spPr>
          <a:xfrm>
            <a:off x="5486400" y="2057400"/>
            <a:ext cx="5166360" cy="1417320"/>
          </a:xfrm>
          <a:prstGeom prst="rect">
            <a:avLst/>
          </a:prstGeom>
          <a:solidFill>
            <a:srgbClr val="E8F5F1"/>
          </a:solidFill>
        </p:spPr>
        <p:txBody>
          <a:bodyPr wrap="square" lIns="1778" tIns="1778" rIns="1778" bIns="1778" rtlCol="0" anchor="ctr">
            <a:normAutofit/>
          </a:bodyPr>
          <a:lstStyle/>
          <a:p>
            <a:pPr marL="0" indent="0" algn="ctr">
              <a:buNone/>
            </a:pPr>
            <a:r>
              <a:rPr lang="en-US" sz="2600" b="1" dirty="0">
                <a:solidFill>
                  <a:srgbClr val="0F2742"/>
                </a:solidFill>
              </a:rPr>
              <a:t>AgenticOps: test continuously, release safely, monitor live and keep learning.</a:t>
            </a:r>
            <a:endParaRPr lang="en-US" sz="2600" dirty="0"/>
          </a:p>
        </p:txBody>
      </p:sp>
      <p:sp>
        <p:nvSpPr>
          <p:cNvPr id="25" name="Slide Number Placeholder 0"/>
          <p:cNvSpPr>
            <a:spLocks noGrp="1"/>
          </p:cNvSpPr>
          <p:nvPr>
            <p:ph type="sldNum" sz="quarter" idx="4294967295"/>
          </p:nvPr>
        </p:nvSpPr>
        <p:spPr>
          <a:xfrm>
            <a:off x="11384280" y="6556248"/>
            <a:ext cx="274320" cy="182880"/>
          </a:xfrm>
          <a:prstGeom prst="rect">
            <a:avLst/>
          </a:prstGeom>
        </p:spPr>
        <p:txBody>
          <a:bodyPr>
            <a:normAutofit fontScale="70000" lnSpcReduction="20000"/>
          </a:bodyPr>
          <a:lstStyle>
            <a:lvl1pPr>
              <a:defRPr sz="900">
                <a:solidFill>
                  <a:srgbClr val="64748B"/>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48640" y="640080"/>
            <a:ext cx="11064240" cy="457200"/>
          </a:xfrm>
          <a:prstGeom prst="rect">
            <a:avLst/>
          </a:prstGeom>
          <a:noFill/>
        </p:spPr>
        <p:txBody>
          <a:bodyPr wrap="square" lIns="0" tIns="0" rIns="0" bIns="0" rtlCol="0" anchor="ctr">
            <a:normAutofit/>
          </a:bodyPr>
          <a:lstStyle/>
          <a:p>
            <a:pPr marL="0" indent="0">
              <a:buNone/>
            </a:pPr>
            <a:r>
              <a:rPr lang="en-US" sz="2600" b="1" dirty="0">
                <a:solidFill>
                  <a:srgbClr val="0F2742"/>
                </a:solidFill>
              </a:rPr>
              <a:t>Appendix: key references</a:t>
            </a:r>
            <a:endParaRPr lang="en-US" sz="2600" dirty="0"/>
          </a:p>
        </p:txBody>
      </p:sp>
      <p:sp>
        <p:nvSpPr>
          <p:cNvPr id="3" name="Text 1"/>
          <p:cNvSpPr/>
          <p:nvPr/>
        </p:nvSpPr>
        <p:spPr>
          <a:xfrm>
            <a:off x="548640" y="1143000"/>
            <a:ext cx="10972800" cy="310896"/>
          </a:xfrm>
          <a:prstGeom prst="rect">
            <a:avLst/>
          </a:prstGeom>
          <a:noFill/>
        </p:spPr>
        <p:txBody>
          <a:bodyPr wrap="square" lIns="0" tIns="0" rIns="0" bIns="0" rtlCol="0" anchor="ctr">
            <a:normAutofit/>
          </a:bodyPr>
          <a:lstStyle/>
          <a:p>
            <a:pPr marL="0" indent="0">
              <a:buNone/>
            </a:pPr>
            <a:r>
              <a:rPr lang="en-US" sz="1250" dirty="0">
                <a:solidFill>
                  <a:srgbClr val="5B677A"/>
                </a:solidFill>
              </a:rPr>
              <a:t>Selected sources behind the project.</a:t>
            </a:r>
            <a:endParaRPr lang="en-US" sz="1250" dirty="0"/>
          </a:p>
        </p:txBody>
      </p:sp>
      <p:sp>
        <p:nvSpPr>
          <p:cNvPr id="4" name="Text 2"/>
          <p:cNvSpPr/>
          <p:nvPr/>
        </p:nvSpPr>
        <p:spPr>
          <a:xfrm>
            <a:off x="685800" y="1417320"/>
            <a:ext cx="10972800" cy="4892040"/>
          </a:xfrm>
          <a:prstGeom prst="rect">
            <a:avLst/>
          </a:prstGeom>
          <a:noFill/>
        </p:spPr>
        <p:txBody>
          <a:bodyPr wrap="square" lIns="1016" tIns="1016" rIns="1016" bIns="1016" rtlCol="0" anchor="ctr">
            <a:normAutofit/>
          </a:bodyPr>
          <a:lstStyle/>
          <a:p>
            <a:pPr marL="177800" indent="-177800">
              <a:buSzPct val="100000"/>
              <a:buChar char="•"/>
            </a:pPr>
            <a:r>
              <a:rPr lang="en-US" sz="1800" dirty="0">
                <a:solidFill>
                  <a:srgbClr val="172033"/>
                </a:solidFill>
              </a:rPr>
              <a:t>Yao et al. (2023), ReAct: Synergizing Reasoning and Acting in Language Models.</a:t>
            </a:r>
            <a:endParaRPr lang="en-US" sz="1800" dirty="0"/>
          </a:p>
          <a:p>
            <a:pPr marL="177800" indent="-177800">
              <a:buSzPct val="100000"/>
              <a:buChar char="•"/>
            </a:pPr>
            <a:r>
              <a:rPr lang="en-US" sz="1800" dirty="0">
                <a:solidFill>
                  <a:srgbClr val="172033"/>
                </a:solidFill>
              </a:rPr>
              <a:t>Liu et al. (2023), AgentBench: Evaluating LLMs as Agents.</a:t>
            </a:r>
            <a:endParaRPr lang="en-US" sz="1800" dirty="0"/>
          </a:p>
          <a:p>
            <a:pPr marL="177800" indent="-177800">
              <a:buSzPct val="100000"/>
              <a:buChar char="•"/>
            </a:pPr>
            <a:r>
              <a:rPr lang="en-US" sz="1800" dirty="0">
                <a:solidFill>
                  <a:srgbClr val="172033"/>
                </a:solidFill>
              </a:rPr>
              <a:t>Schick et al. (2023), Toolformer.</a:t>
            </a:r>
            <a:endParaRPr lang="en-US" sz="1800" dirty="0"/>
          </a:p>
          <a:p>
            <a:pPr marL="177800" indent="-177800">
              <a:buSzPct val="100000"/>
              <a:buChar char="•"/>
            </a:pPr>
            <a:r>
              <a:rPr lang="en-US" sz="1800" dirty="0">
                <a:solidFill>
                  <a:srgbClr val="172033"/>
                </a:solidFill>
              </a:rPr>
              <a:t>Zheng et al. (2023), Judging LLM-as-a-Judge.</a:t>
            </a:r>
            <a:endParaRPr lang="en-US" sz="1800" dirty="0"/>
          </a:p>
          <a:p>
            <a:pPr marL="177800" indent="-177800">
              <a:buSzPct val="100000"/>
              <a:buChar char="•"/>
            </a:pPr>
            <a:r>
              <a:rPr lang="en-US" sz="1800" dirty="0">
                <a:solidFill>
                  <a:srgbClr val="172033"/>
                </a:solidFill>
              </a:rPr>
              <a:t>Beyer et al. (2016), Site Reliability Engineering.</a:t>
            </a:r>
            <a:endParaRPr lang="en-US" sz="1800" dirty="0"/>
          </a:p>
          <a:p>
            <a:pPr marL="177800" indent="-177800">
              <a:buSzPct val="100000"/>
              <a:buChar char="•"/>
            </a:pPr>
            <a:r>
              <a:rPr lang="en-US" sz="1800" dirty="0">
                <a:solidFill>
                  <a:srgbClr val="172033"/>
                </a:solidFill>
              </a:rPr>
              <a:t>Dong, Lu and Zhu (2024), AgentOps.</a:t>
            </a:r>
            <a:endParaRPr lang="en-US" sz="1800" dirty="0"/>
          </a:p>
          <a:p>
            <a:pPr marL="177800" indent="-177800">
              <a:buSzPct val="100000"/>
              <a:buChar char="•"/>
            </a:pPr>
            <a:r>
              <a:rPr lang="en-US" sz="1800" dirty="0">
                <a:solidFill>
                  <a:srgbClr val="172033"/>
                </a:solidFill>
              </a:rPr>
              <a:t>Ma et al. (2024), AgentBoard.</a:t>
            </a:r>
            <a:endParaRPr lang="en-US" sz="1800" dirty="0"/>
          </a:p>
          <a:p>
            <a:pPr marL="177800" indent="-177800">
              <a:buSzPct val="100000"/>
              <a:buChar char="•"/>
            </a:pPr>
            <a:r>
              <a:rPr lang="en-US" sz="1800" dirty="0">
                <a:solidFill>
                  <a:srgbClr val="172033"/>
                </a:solidFill>
              </a:rPr>
              <a:t>Documentation: OpenTelemetry, LangGraph, Langfuse, Arize Phoenix and Model Context Protocol.</a:t>
            </a:r>
            <a:endParaRPr lang="en-US" sz="1800" dirty="0"/>
          </a:p>
        </p:txBody>
      </p:sp>
      <p:sp>
        <p:nvSpPr>
          <p:cNvPr id="25" name="Slide Number Placeholder 0"/>
          <p:cNvSpPr>
            <a:spLocks noGrp="1"/>
          </p:cNvSpPr>
          <p:nvPr>
            <p:ph type="sldNum" sz="quarter" idx="4294967295"/>
          </p:nvPr>
        </p:nvSpPr>
        <p:spPr>
          <a:xfrm>
            <a:off x="11384280" y="6556248"/>
            <a:ext cx="274320" cy="182880"/>
          </a:xfrm>
          <a:prstGeom prst="rect">
            <a:avLst/>
          </a:prstGeom>
        </p:spPr>
        <p:txBody>
          <a:bodyPr>
            <a:normAutofit fontScale="70000" lnSpcReduction="20000"/>
          </a:bodyPr>
          <a:lstStyle>
            <a:lvl1pPr>
              <a:defRPr sz="900">
                <a:solidFill>
                  <a:srgbClr val="64748B"/>
                </a:solidFill>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2709</Words>
  <Application>Microsoft Office PowerPoint</Application>
  <PresentationFormat>Widescreen</PresentationFormat>
  <Paragraphs>336</Paragraphs>
  <Slides>16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Cambria</vt:lpstr>
      <vt:lpstr>Office Theme</vt:lpstr>
      <vt:lpstr>PowerPoint Presentation</vt:lpstr>
      <vt:lpstr>PowerPoint Presentation</vt:lpstr>
      <vt:lpstr>Our goal: one safety system</vt:lpstr>
      <vt:lpstr>PowerPoint Presentation</vt:lpstr>
      <vt:lpstr>PowerPoint Presentation</vt:lpstr>
      <vt:lpstr>Workflow 1: before release</vt:lpstr>
      <vt:lpstr>Workflow 2: after release</vt:lpstr>
      <vt:lpstr>Tools we use, and why</vt:lpstr>
      <vt:lpstr>How we measure success</vt:lpstr>
      <vt:lpstr>Our 12-week plan</vt:lpstr>
      <vt:lpstr>What we will deliver</vt:lpstr>
      <vt:lpstr>Limits and responsible use</vt:lpstr>
      <vt:lpstr>One system, many business uses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AgenticOps Reference Architecture</dc:title>
  <dc:subject>AgenticOps Viva</dc:subject>
  <dc:creator>Velusamy, Pradeep</dc:creator>
  <cp:lastModifiedBy>Velusamy, Pradeep</cp:lastModifiedBy>
  <cp:revision>10</cp:revision>
  <dcterms:created xsi:type="dcterms:W3CDTF">2026-10-10T05:43:00Z</dcterms:created>
  <dcterms:modified xsi:type="dcterms:W3CDTF">2026-10-10T09:06:09Z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E2B3A609DEC247A59DEEFC12F77DDA4E_12</vt:lpwstr>
  </property>
  <property fmtid="{D5CDD505-2E9C-101B-9397-08002B2CF9AE}" pid="3" name="KSOProductBuildVer">
    <vt:lpwstr>1033-12.1.0.28485</vt:lpwstr>
  </property>
</Properties>
</file>