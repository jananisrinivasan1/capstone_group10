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3D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74320"/>
            <a:ext cx="9144000" cy="228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23D2B7"/>
                </a:solidFill>
                <a:latin typeface="Aptos"/>
              </a:defRPr>
            </a:pPr>
            <a:r>
              <a:t>M.TECH CAPSTONE  |  INITIAL PROOF OF 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04088"/>
            <a:ext cx="10972800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F5F8FC"/>
                </a:solidFill>
                <a:latin typeface="Aptos"/>
              </a:defRPr>
            </a:pPr>
            <a:r>
              <a:t>Evaluation-Driven AgenticOps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92240"/>
            <a:ext cx="10972800" cy="10972"/>
          </a:xfrm>
          <a:prstGeom prst="rect">
            <a:avLst/>
          </a:prstGeom>
          <a:solidFill>
            <a:srgbClr val="1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74536"/>
            <a:ext cx="9144000" cy="20116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A8BBCC"/>
                </a:solidFill>
                <a:latin typeface="Aptos"/>
              </a:defRPr>
            </a:pPr>
            <a:r>
              <a:t>AgenticOps Reference Architecture  •  24 October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74536"/>
            <a:ext cx="914400" cy="182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A8BBCC"/>
                </a:solidFill>
                <a:latin typeface="Aptos"/>
              </a:defRPr>
            </a:pPr>
            <a:r>
              <a:t>01 / 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600200"/>
            <a:ext cx="10058400" cy="10058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2700" b="0">
                <a:solidFill>
                  <a:srgbClr val="F5F8FC"/>
                </a:solidFill>
                <a:latin typeface="Aptos"/>
              </a:defRPr>
            </a:pPr>
            <a:r>
              <a:t>Tracing, regression detection and release safety for automated workflows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063240"/>
            <a:ext cx="10607040" cy="1417320"/>
          </a:xfrm>
          <a:prstGeom prst="roundRect">
            <a:avLst/>
          </a:prstGeom>
          <a:solidFill>
            <a:srgbClr val="1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337560"/>
            <a:ext cx="457200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23D2B7"/>
                </a:solidFill>
                <a:latin typeface="Aptos"/>
              </a:defRPr>
            </a:pPr>
            <a:r>
              <a:t>PROGRESS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749039"/>
            <a:ext cx="978408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F5F8FC"/>
                </a:solidFill>
                <a:latin typeface="Aptos"/>
              </a:defRPr>
            </a:pPr>
            <a:r>
              <a:t>Working LangGraph baseline  •  Controlled regression  •  OpenTelemetry spans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074920"/>
            <a:ext cx="1005840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A8BBCC"/>
                </a:solidFill>
                <a:latin typeface="Aptos"/>
              </a:defRPr>
            </a:pPr>
            <a:r>
              <a:t>Scope: rule-based prototype; advanced workflow experiments are planned.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3D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74320"/>
            <a:ext cx="9144000" cy="228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23D2B7"/>
                </a:solidFill>
                <a:latin typeface="Aptos"/>
              </a:defRPr>
            </a:pPr>
            <a:r>
              <a:t>CAPSTONE PROGRESS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04088"/>
            <a:ext cx="10972800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F5F8FC"/>
                </a:solidFill>
                <a:latin typeface="Aptos"/>
              </a:defRPr>
            </a:pPr>
            <a:r>
              <a:t>Research problem and 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92240"/>
            <a:ext cx="10972800" cy="10972"/>
          </a:xfrm>
          <a:prstGeom prst="rect">
            <a:avLst/>
          </a:prstGeom>
          <a:solidFill>
            <a:srgbClr val="1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74536"/>
            <a:ext cx="9144000" cy="20116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A8BBCC"/>
                </a:solidFill>
                <a:latin typeface="Aptos"/>
              </a:defRPr>
            </a:pPr>
            <a:r>
              <a:t>AgenticOps Reference Architecture  •  24 October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74536"/>
            <a:ext cx="914400" cy="182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A8BBCC"/>
                </a:solidFill>
                <a:latin typeface="Aptos"/>
              </a:defRPr>
            </a:pPr>
            <a:r>
              <a:t>02 / 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764792"/>
            <a:ext cx="100584" cy="100584"/>
          </a:xfrm>
          <a:prstGeom prst="roundRect">
            <a:avLst/>
          </a:prstGeom>
          <a:solidFill>
            <a:srgbClr val="23D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1" y="1645920"/>
            <a:ext cx="9784080" cy="9418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F5F8FC"/>
                </a:solidFill>
                <a:latin typeface="Aptos"/>
              </a:defRPr>
            </a:pPr>
            <a:r>
              <a:t>Production agents can regress after changes to prompts, tools or workflows.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752344"/>
            <a:ext cx="100584" cy="100584"/>
          </a:xfrm>
          <a:prstGeom prst="roundRect">
            <a:avLst/>
          </a:prstGeom>
          <a:solidFill>
            <a:srgbClr val="23D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1" y="2633472"/>
            <a:ext cx="9784080" cy="9418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F5F8FC"/>
                </a:solidFill>
                <a:latin typeface="Aptos"/>
              </a:defRPr>
            </a:pPr>
            <a:r>
              <a:t>Execution visibility alone does not establish answer correctness.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739896"/>
            <a:ext cx="100584" cy="100584"/>
          </a:xfrm>
          <a:prstGeom prst="roundRect">
            <a:avLst/>
          </a:prstGeom>
          <a:solidFill>
            <a:srgbClr val="23D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1" y="3621024"/>
            <a:ext cx="9784080" cy="9418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F5F8FC"/>
                </a:solidFill>
                <a:latin typeface="Aptos"/>
              </a:defRPr>
            </a:pPr>
            <a:r>
              <a:t>Research objective: combine tracing, evaluation and release decisions.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727448"/>
            <a:ext cx="100584" cy="100584"/>
          </a:xfrm>
          <a:prstGeom prst="roundRect">
            <a:avLst/>
          </a:prstGeom>
          <a:solidFill>
            <a:srgbClr val="23D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3271" y="4608576"/>
            <a:ext cx="9784080" cy="9418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F5F8FC"/>
                </a:solidFill>
                <a:latin typeface="Aptos"/>
              </a:defRPr>
            </a:pPr>
            <a:r>
              <a:t>Evaluate whether automated gates detect and contain controlled regressions.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3D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74320"/>
            <a:ext cx="9144000" cy="228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23D2B7"/>
                </a:solidFill>
                <a:latin typeface="Aptos"/>
              </a:defRPr>
            </a:pPr>
            <a:r>
              <a:t>CAPSTONE PROGRESS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04088"/>
            <a:ext cx="10972800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F5F8FC"/>
                </a:solidFill>
                <a:latin typeface="Aptos"/>
              </a:defRPr>
            </a:pPr>
            <a:r>
              <a:t>Proposed AgenticOps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92240"/>
            <a:ext cx="10972800" cy="10972"/>
          </a:xfrm>
          <a:prstGeom prst="rect">
            <a:avLst/>
          </a:prstGeom>
          <a:solidFill>
            <a:srgbClr val="1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74536"/>
            <a:ext cx="9144000" cy="20116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A8BBCC"/>
                </a:solidFill>
                <a:latin typeface="Aptos"/>
              </a:defRPr>
            </a:pPr>
            <a:r>
              <a:t>AgenticOps Reference Architecture  •  24 October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74536"/>
            <a:ext cx="914400" cy="182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A8BBCC"/>
                </a:solidFill>
                <a:latin typeface="Aptos"/>
              </a:defRPr>
            </a:pPr>
            <a:r>
              <a:t>03 / 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1536192"/>
            <a:ext cx="7040880" cy="758952"/>
          </a:xfrm>
          <a:prstGeom prst="roundRect">
            <a:avLst/>
          </a:prstGeom>
          <a:solidFill>
            <a:srgbClr val="1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1627632"/>
            <a:ext cx="2743200" cy="228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23D2B7"/>
                </a:solidFill>
                <a:latin typeface="Aptos"/>
              </a:defRPr>
            </a:pPr>
            <a:r>
              <a:t>INPUT TASK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1636776"/>
            <a:ext cx="393192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F5F8FC"/>
                </a:solidFill>
                <a:latin typeface="Aptos"/>
              </a:defRPr>
            </a:pPr>
            <a:r>
              <a:t>User request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70248" y="2258568"/>
            <a:ext cx="54864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23D2B7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2587752"/>
            <a:ext cx="7040880" cy="758952"/>
          </a:xfrm>
          <a:prstGeom prst="roundRect">
            <a:avLst/>
          </a:prstGeom>
          <a:solidFill>
            <a:srgbClr val="1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2679192"/>
            <a:ext cx="2743200" cy="228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23D2B7"/>
                </a:solidFill>
                <a:latin typeface="Aptos"/>
              </a:defRPr>
            </a:pPr>
            <a:r>
              <a:t>LANGGRAPH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2688336"/>
            <a:ext cx="393192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F5F8FC"/>
                </a:solidFill>
                <a:latin typeface="Aptos"/>
              </a:defRPr>
            </a:pPr>
            <a:r>
              <a:t>Classify → respond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70248" y="3310128"/>
            <a:ext cx="54864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23D2B7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" y="3639311"/>
            <a:ext cx="7040880" cy="758952"/>
          </a:xfrm>
          <a:prstGeom prst="roundRect">
            <a:avLst/>
          </a:prstGeom>
          <a:solidFill>
            <a:srgbClr val="1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4440" y="3730751"/>
            <a:ext cx="2743200" cy="228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23D2B7"/>
                </a:solidFill>
                <a:latin typeface="Aptos"/>
              </a:defRPr>
            </a:pPr>
            <a:r>
              <a:t>EVALUATION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3739896"/>
            <a:ext cx="393192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F5F8FC"/>
                </a:solidFill>
                <a:latin typeface="Aptos"/>
              </a:defRPr>
            </a:pPr>
            <a:r>
              <a:t>Accuracy • latency • failures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70248" y="4361688"/>
            <a:ext cx="54864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23D2B7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" y="4690872"/>
            <a:ext cx="7040880" cy="758952"/>
          </a:xfrm>
          <a:prstGeom prst="roundRect">
            <a:avLst/>
          </a:prstGeom>
          <a:solidFill>
            <a:srgbClr val="1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34440" y="4782312"/>
            <a:ext cx="2743200" cy="228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23D2B7"/>
                </a:solidFill>
                <a:latin typeface="Aptos"/>
              </a:defRPr>
            </a:pPr>
            <a:r>
              <a:t>RELEASE GATE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39" y="4791456"/>
            <a:ext cx="393192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F5F8FC"/>
                </a:solidFill>
                <a:latin typeface="Aptos"/>
              </a:defRPr>
            </a:pPr>
            <a:r>
              <a:t>Pass / block candidate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21040" y="2148840"/>
            <a:ext cx="2971800" cy="2194560"/>
          </a:xfrm>
          <a:prstGeom prst="roundRect">
            <a:avLst/>
          </a:prstGeom>
          <a:solidFill>
            <a:srgbClr val="1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41080" y="2423160"/>
            <a:ext cx="22860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3D2B7"/>
                </a:solidFill>
                <a:latin typeface="Aptos"/>
              </a:defRPr>
            </a:pPr>
            <a:r>
              <a:t>OBSERVABILITY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41080" y="2871216"/>
            <a:ext cx="2286000" cy="11887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F5F8FC"/>
                </a:solidFill>
                <a:latin typeface="Aptos"/>
              </a:defRPr>
            </a:pPr>
            <a:r>
              <a:t>OpenTelemetry</a:t>
            </a:r>
          </a:p>
          <a:p>
            <a:pPr>
              <a:spcAft>
                <a:spcPts val="1000"/>
              </a:spcAft>
              <a:defRPr sz="1800" b="0">
                <a:solidFill>
                  <a:srgbClr val="F5F8FC"/>
                </a:solidFill>
                <a:latin typeface="Aptos"/>
              </a:defRPr>
            </a:pPr>
            <a:r>
              <a:t>Parent + node spans</a:t>
            </a:r>
          </a:p>
          <a:p>
            <a:pPr>
              <a:spcAft>
                <a:spcPts val="1000"/>
              </a:spcAft>
              <a:defRPr sz="1800" b="0">
                <a:solidFill>
                  <a:srgbClr val="F5F8FC"/>
                </a:solidFill>
                <a:latin typeface="Aptos"/>
              </a:defRPr>
            </a:pPr>
            <a:r>
              <a:t>Timing and attributes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5925312"/>
            <a:ext cx="105156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A8BBCC"/>
                </a:solidFill>
                <a:latin typeface="Aptos"/>
              </a:defRPr>
            </a:pPr>
            <a:r>
              <a:t>Planned: Phoenix/Langfuse, advanced workflows, CI evaluation and longitudinal study.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3D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74320"/>
            <a:ext cx="9144000" cy="228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23D2B7"/>
                </a:solidFill>
                <a:latin typeface="Aptos"/>
              </a:defRPr>
            </a:pPr>
            <a:r>
              <a:t>CAPSTONE PROGRESS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04088"/>
            <a:ext cx="10972800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F5F8FC"/>
                </a:solidFill>
                <a:latin typeface="Aptos"/>
              </a:defRPr>
            </a:pPr>
            <a:r>
              <a:t>Implemented baseline and evaluation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92240"/>
            <a:ext cx="10972800" cy="10972"/>
          </a:xfrm>
          <a:prstGeom prst="rect">
            <a:avLst/>
          </a:prstGeom>
          <a:solidFill>
            <a:srgbClr val="1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74536"/>
            <a:ext cx="9144000" cy="20116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A8BBCC"/>
                </a:solidFill>
                <a:latin typeface="Aptos"/>
              </a:defRPr>
            </a:pPr>
            <a:r>
              <a:t>AgenticOps Reference Architecture  •  24 October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74536"/>
            <a:ext cx="914400" cy="182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A8BBCC"/>
                </a:solidFill>
                <a:latin typeface="Aptos"/>
              </a:defRPr>
            </a:pPr>
            <a:r>
              <a:t>04 / 08</a:t>
            </a:r>
          </a:p>
        </p:txBody>
      </p:sp>
      <p:pic>
        <p:nvPicPr>
          <p:cNvPr id="9" name="Picture 8" descr="AdobeExpressPhotos_5c97b1f9d67544c2a913dad07c8b7729_CopyEdi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2870" y="1417320"/>
            <a:ext cx="8510058" cy="38862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77240" y="5468112"/>
            <a:ext cx="10515600" cy="685800"/>
          </a:xfrm>
          <a:prstGeom prst="roundRect">
            <a:avLst/>
          </a:prstGeom>
          <a:solidFill>
            <a:srgbClr val="1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632704"/>
            <a:ext cx="100584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23D2B7"/>
                </a:solidFill>
                <a:latin typeface="Aptos"/>
              </a:defRPr>
            </a:pPr>
            <a:r>
              <a:t>10/10 correct    |    100% accuracy    |    7.57 ms mean latency    |    PASS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3D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74320"/>
            <a:ext cx="9144000" cy="228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23D2B7"/>
                </a:solidFill>
                <a:latin typeface="Aptos"/>
              </a:defRPr>
            </a:pPr>
            <a:r>
              <a:t>CAPSTONE PROGRESS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04088"/>
            <a:ext cx="10972800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F5F8FC"/>
                </a:solidFill>
                <a:latin typeface="Aptos"/>
              </a:defRPr>
            </a:pPr>
            <a:r>
              <a:t>Controlled regression experiment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92240"/>
            <a:ext cx="10972800" cy="10972"/>
          </a:xfrm>
          <a:prstGeom prst="rect">
            <a:avLst/>
          </a:prstGeom>
          <a:solidFill>
            <a:srgbClr val="1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74536"/>
            <a:ext cx="9144000" cy="20116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A8BBCC"/>
                </a:solidFill>
                <a:latin typeface="Aptos"/>
              </a:defRPr>
            </a:pPr>
            <a:r>
              <a:t>AgenticOps Reference Architecture  •  24 October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74536"/>
            <a:ext cx="914400" cy="182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A8BBCC"/>
                </a:solidFill>
                <a:latin typeface="Aptos"/>
              </a:defRPr>
            </a:pPr>
            <a:r>
              <a:t>05 / 08</a:t>
            </a:r>
          </a:p>
        </p:txBody>
      </p:sp>
      <p:pic>
        <p:nvPicPr>
          <p:cNvPr id="9" name="Picture 8" descr="AdobeExpressPhotos_e078f97d47804db396b6f92c24cb864f_CopyEdi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0932" y="1417320"/>
            <a:ext cx="8373934" cy="402336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77240" y="5532120"/>
            <a:ext cx="10515600" cy="621792"/>
          </a:xfrm>
          <a:prstGeom prst="roundRect">
            <a:avLst/>
          </a:prstGeom>
          <a:solidFill>
            <a:srgbClr val="1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" y="5696712"/>
            <a:ext cx="1005840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B6D75"/>
                </a:solidFill>
                <a:latin typeface="Aptos"/>
              </a:defRPr>
            </a:pPr>
            <a:r>
              <a:t>Baseline 100%  →  Candidate 70%   |   −30 percentage points   |   BLOCKED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3D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74320"/>
            <a:ext cx="9144000" cy="228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23D2B7"/>
                </a:solidFill>
                <a:latin typeface="Aptos"/>
              </a:defRPr>
            </a:pPr>
            <a:r>
              <a:t>CAPSTONE PROGRESS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04088"/>
            <a:ext cx="10972800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F5F8FC"/>
                </a:solidFill>
                <a:latin typeface="Aptos"/>
              </a:defRPr>
            </a:pPr>
            <a:r>
              <a:t>OpenTelemetry trace verification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92240"/>
            <a:ext cx="10972800" cy="10972"/>
          </a:xfrm>
          <a:prstGeom prst="rect">
            <a:avLst/>
          </a:prstGeom>
          <a:solidFill>
            <a:srgbClr val="1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74536"/>
            <a:ext cx="9144000" cy="20116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A8BBCC"/>
                </a:solidFill>
                <a:latin typeface="Aptos"/>
              </a:defRPr>
            </a:pPr>
            <a:r>
              <a:t>AgenticOps Reference Architecture  •  24 October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74536"/>
            <a:ext cx="914400" cy="182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A8BBCC"/>
                </a:solidFill>
                <a:latin typeface="Aptos"/>
              </a:defRPr>
            </a:pPr>
            <a:r>
              <a:t>06 / 08</a:t>
            </a:r>
          </a:p>
        </p:txBody>
      </p:sp>
      <p:pic>
        <p:nvPicPr>
          <p:cNvPr id="9" name="Picture 8" descr="AdobeExpressPhotos_4a1da798511a4465b11534daf3eed54f_CopyEdi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7774" y="1417320"/>
            <a:ext cx="8020250" cy="402336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77240" y="5532120"/>
            <a:ext cx="10515600" cy="621792"/>
          </a:xfrm>
          <a:prstGeom prst="roundRect">
            <a:avLst/>
          </a:prstGeom>
          <a:solidFill>
            <a:srgbClr val="1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5696712"/>
            <a:ext cx="1005840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23D2B7"/>
                </a:solidFill>
                <a:latin typeface="Aptos"/>
              </a:defRPr>
            </a:pPr>
            <a:r>
              <a:t>3 spans: agent_execution (2.41 ms), classify (0.06 ms), respond (0.02 ms)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3D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74320"/>
            <a:ext cx="9144000" cy="228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23D2B7"/>
                </a:solidFill>
                <a:latin typeface="Aptos"/>
              </a:defRPr>
            </a:pPr>
            <a:r>
              <a:t>CAPSTONE PROGRESS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04088"/>
            <a:ext cx="10972800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F5F8FC"/>
                </a:solidFill>
                <a:latin typeface="Aptos"/>
              </a:defRPr>
            </a:pPr>
            <a:r>
              <a:t>What these results establish — and do not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92240"/>
            <a:ext cx="10972800" cy="10972"/>
          </a:xfrm>
          <a:prstGeom prst="rect">
            <a:avLst/>
          </a:prstGeom>
          <a:solidFill>
            <a:srgbClr val="1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74536"/>
            <a:ext cx="9144000" cy="20116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A8BBCC"/>
                </a:solidFill>
                <a:latin typeface="Aptos"/>
              </a:defRPr>
            </a:pPr>
            <a:r>
              <a:t>AgenticOps Reference Architecture  •  24 October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74536"/>
            <a:ext cx="914400" cy="182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A8BBCC"/>
                </a:solidFill>
                <a:latin typeface="Aptos"/>
              </a:defRPr>
            </a:pPr>
            <a:r>
              <a:t>07 / 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508760"/>
            <a:ext cx="5303520" cy="4343400"/>
          </a:xfrm>
          <a:prstGeom prst="roundRect">
            <a:avLst/>
          </a:prstGeom>
          <a:solidFill>
            <a:srgbClr val="1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99632" y="1508760"/>
            <a:ext cx="5303520" cy="4343400"/>
          </a:xfrm>
          <a:prstGeom prst="roundRect">
            <a:avLst/>
          </a:prstGeom>
          <a:solidFill>
            <a:srgbClr val="1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1856231"/>
            <a:ext cx="45720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23D2B7"/>
                </a:solidFill>
                <a:latin typeface="Aptos"/>
              </a:defRPr>
            </a:pPr>
            <a:r>
              <a:t>VERIFIED TODAY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2542032"/>
            <a:ext cx="100584" cy="100584"/>
          </a:xfrm>
          <a:prstGeom prst="roundRect">
            <a:avLst/>
          </a:prstGeom>
          <a:solidFill>
            <a:srgbClr val="23D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16152" y="2423160"/>
            <a:ext cx="429768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F5F8FC"/>
                </a:solidFill>
                <a:latin typeface="Aptos"/>
              </a:defRPr>
            </a:pPr>
            <a:r>
              <a:t>Executable rule-based LangGraph workflow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" y="3136391"/>
            <a:ext cx="100584" cy="100584"/>
          </a:xfrm>
          <a:prstGeom prst="roundRect">
            <a:avLst/>
          </a:prstGeom>
          <a:solidFill>
            <a:srgbClr val="23D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16152" y="3017520"/>
            <a:ext cx="429768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F5F8FC"/>
                </a:solidFill>
                <a:latin typeface="Aptos"/>
              </a:defRPr>
            </a:pPr>
            <a:r>
              <a:t>10-case baseline evaluation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" y="3730752"/>
            <a:ext cx="100584" cy="100584"/>
          </a:xfrm>
          <a:prstGeom prst="roundRect">
            <a:avLst/>
          </a:prstGeom>
          <a:solidFill>
            <a:srgbClr val="23D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16152" y="3611880"/>
            <a:ext cx="429768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F5F8FC"/>
                </a:solidFill>
                <a:latin typeface="Aptos"/>
              </a:defRPr>
            </a:pPr>
            <a:r>
              <a:t>Intentional regression detected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" y="4325112"/>
            <a:ext cx="100584" cy="100584"/>
          </a:xfrm>
          <a:prstGeom prst="roundRect">
            <a:avLst/>
          </a:prstGeom>
          <a:solidFill>
            <a:srgbClr val="23D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16152" y="4206240"/>
            <a:ext cx="429768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F5F8FC"/>
                </a:solidFill>
                <a:latin typeface="Aptos"/>
              </a:defRPr>
            </a:pPr>
            <a:r>
              <a:t>Threshold-based release block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" y="4919472"/>
            <a:ext cx="100584" cy="100584"/>
          </a:xfrm>
          <a:prstGeom prst="roundRect">
            <a:avLst/>
          </a:prstGeom>
          <a:solidFill>
            <a:srgbClr val="23D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16152" y="4800600"/>
            <a:ext cx="429768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F5F8FC"/>
                </a:solidFill>
                <a:latin typeface="Aptos"/>
              </a:defRPr>
            </a:pPr>
            <a:r>
              <a:t>Parent/child OpenTelemetry spans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8" y="1856231"/>
            <a:ext cx="45720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B6D75"/>
                </a:solidFill>
                <a:latin typeface="Aptos"/>
              </a:defRPr>
            </a:pPr>
            <a:r>
              <a:t>NOT YET CLAIMED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92240" y="2542032"/>
            <a:ext cx="100584" cy="100584"/>
          </a:xfrm>
          <a:prstGeom prst="roundRect">
            <a:avLst/>
          </a:prstGeom>
          <a:solidFill>
            <a:srgbClr val="23D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48272" y="2423160"/>
            <a:ext cx="429768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F5F8FC"/>
                </a:solidFill>
                <a:latin typeface="Aptos"/>
              </a:defRPr>
            </a:pPr>
            <a:r>
              <a:t>Advanced workflow evaluation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92240" y="3136391"/>
            <a:ext cx="100584" cy="100584"/>
          </a:xfrm>
          <a:prstGeom prst="roundRect">
            <a:avLst/>
          </a:prstGeom>
          <a:solidFill>
            <a:srgbClr val="23D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48272" y="3017520"/>
            <a:ext cx="429768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F5F8FC"/>
                </a:solidFill>
                <a:latin typeface="Aptos"/>
              </a:defRPr>
            </a:pPr>
            <a:r>
              <a:t>Real-world accuracy or robustness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92240" y="3730752"/>
            <a:ext cx="100584" cy="100584"/>
          </a:xfrm>
          <a:prstGeom prst="roundRect">
            <a:avLst/>
          </a:prstGeom>
          <a:solidFill>
            <a:srgbClr val="23D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48272" y="3611880"/>
            <a:ext cx="429768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F5F8FC"/>
                </a:solidFill>
                <a:latin typeface="Aptos"/>
              </a:defRPr>
            </a:pPr>
            <a:r>
              <a:t>Phoenix/Langfuse dashboard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92240" y="4325112"/>
            <a:ext cx="100584" cy="100584"/>
          </a:xfrm>
          <a:prstGeom prst="roundRect">
            <a:avLst/>
          </a:prstGeom>
          <a:solidFill>
            <a:srgbClr val="23D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48272" y="4206240"/>
            <a:ext cx="429768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F5F8FC"/>
                </a:solidFill>
                <a:latin typeface="Aptos"/>
              </a:defRPr>
            </a:pPr>
            <a:r>
              <a:t>Automated CI/CD deployment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92240" y="4919472"/>
            <a:ext cx="100584" cy="100584"/>
          </a:xfrm>
          <a:prstGeom prst="roundRect">
            <a:avLst/>
          </a:prstGeom>
          <a:solidFill>
            <a:srgbClr val="23D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48272" y="4800600"/>
            <a:ext cx="429768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F5F8FC"/>
                </a:solidFill>
                <a:latin typeface="Aptos"/>
              </a:defRPr>
            </a:pPr>
            <a:r>
              <a:t>Longitudinal 12-week results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3D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74320"/>
            <a:ext cx="9144000" cy="228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23D2B7"/>
                </a:solidFill>
                <a:latin typeface="Aptos"/>
              </a:defRPr>
            </a:pPr>
            <a:r>
              <a:t>CAPSTONE PROGRESS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04088"/>
            <a:ext cx="10972800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F5F8FC"/>
                </a:solidFill>
                <a:latin typeface="Aptos"/>
              </a:defRPr>
            </a:pPr>
            <a:r>
              <a:t>Next milestones and discussion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92240"/>
            <a:ext cx="10972800" cy="10972"/>
          </a:xfrm>
          <a:prstGeom prst="rect">
            <a:avLst/>
          </a:prstGeom>
          <a:solidFill>
            <a:srgbClr val="1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74536"/>
            <a:ext cx="9144000" cy="20116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A8BBCC"/>
                </a:solidFill>
                <a:latin typeface="Aptos"/>
              </a:defRPr>
            </a:pPr>
            <a:r>
              <a:t>AgenticOps Reference Architecture  •  24 October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74536"/>
            <a:ext cx="914400" cy="182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A8BBCC"/>
                </a:solidFill>
                <a:latin typeface="Aptos"/>
              </a:defRPr>
            </a:pPr>
            <a:r>
              <a:t>08 / 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764792"/>
            <a:ext cx="100584" cy="100584"/>
          </a:xfrm>
          <a:prstGeom prst="roundRect">
            <a:avLst/>
          </a:prstGeom>
          <a:solidFill>
            <a:srgbClr val="23D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1" y="1645920"/>
            <a:ext cx="9784080" cy="76809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F5F8FC"/>
                </a:solidFill>
                <a:latin typeface="Aptos"/>
              </a:defRPr>
            </a:pPr>
            <a:r>
              <a:t>Near term: add Phoenix visualization and export structured traces.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578608"/>
            <a:ext cx="100584" cy="100584"/>
          </a:xfrm>
          <a:prstGeom prst="roundRect">
            <a:avLst/>
          </a:prstGeom>
          <a:solidFill>
            <a:srgbClr val="23D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1" y="2459736"/>
            <a:ext cx="9784080" cy="76809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F5F8FC"/>
                </a:solidFill>
                <a:latin typeface="Aptos"/>
              </a:defRPr>
            </a:pPr>
            <a:r>
              <a:t>Build two advanced workflows with a larger, independently labeled test set.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392424"/>
            <a:ext cx="100584" cy="100584"/>
          </a:xfrm>
          <a:prstGeom prst="roundRect">
            <a:avLst/>
          </a:prstGeom>
          <a:solidFill>
            <a:srgbClr val="23D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1" y="3273552"/>
            <a:ext cx="9784080" cy="76809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F5F8FC"/>
                </a:solidFill>
                <a:latin typeface="Aptos"/>
              </a:defRPr>
            </a:pPr>
            <a:r>
              <a:t>Define error budgets, regression thresholds and CI evaluation gates.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206240"/>
            <a:ext cx="100584" cy="100584"/>
          </a:xfrm>
          <a:prstGeom prst="roundRect">
            <a:avLst/>
          </a:prstGeom>
          <a:solidFill>
            <a:srgbClr val="23D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3271" y="4087368"/>
            <a:ext cx="9784080" cy="76809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F5F8FC"/>
                </a:solidFill>
                <a:latin typeface="Aptos"/>
              </a:defRPr>
            </a:pPr>
            <a:r>
              <a:t>Run repeated experiments; compare trace fidelity, failures and containment.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5020056"/>
            <a:ext cx="100584" cy="100584"/>
          </a:xfrm>
          <a:prstGeom prst="roundRect">
            <a:avLst/>
          </a:prstGeom>
          <a:solidFill>
            <a:srgbClr val="23D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1" y="4901184"/>
            <a:ext cx="9784080" cy="76809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F5F8FC"/>
                </a:solidFill>
                <a:latin typeface="Aptos"/>
              </a:defRPr>
            </a:pPr>
            <a:r>
              <a:t>Document methodology, limitations and reproducible results in GitHub/Overleaf.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806440"/>
            <a:ext cx="10698480" cy="438912"/>
          </a:xfrm>
          <a:prstGeom prst="roundRect">
            <a:avLst/>
          </a:prstGeom>
          <a:solidFill>
            <a:srgbClr val="1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888736"/>
            <a:ext cx="100584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3D2B7"/>
                </a:solidFill>
                <a:latin typeface="Aptos"/>
              </a:defRPr>
            </a:pPr>
            <a:r>
              <a:t>Discussion: feedback on scope, evaluation metrics and study design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