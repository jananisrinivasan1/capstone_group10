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3429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62742"/>
                </a:solidFill>
                <a:latin typeface="Aptos"/>
              </a:rPr>
              <a:t>Project 28 — Computer-Use &amp; Browser Agents for Legacy Back-Office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972800" cy="3108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5C6774"/>
                </a:solidFill>
                <a:latin typeface="Aptos"/>
              </a:rPr>
              <a:t>Comparative study: GUI vs. API/MCP vs. Hybrid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28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2076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15540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704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42972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Execution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4695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59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E67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55591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GUI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5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22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8211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API/MCP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9935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399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28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0831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Hybrid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2556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6020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22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93451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Verify / Safety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31720"/>
            <a:ext cx="35661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" y="244144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2779776"/>
            <a:ext cx="3310128" cy="9326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Benchmark gains do not necessarily translate to long-horizon enterprise workflows. Legacy ERPs may lack complete APIs, so organizations need evidence on when screen-based execution is reliable enough.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2331720"/>
            <a:ext cx="35661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244144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E67828"/>
                </a:solidFill>
                <a:latin typeface="Aptos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3" y="2779776"/>
            <a:ext cx="3310128" cy="9326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Back-office work spans modern APIs and legacy interfaces. GUI agents offer reach; API/MCP offers structured execution; hybrid execution may improve resilience across heterogeneous systems.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2331720"/>
            <a:ext cx="35661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244144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2915B"/>
                </a:solidFill>
                <a:latin typeface="Aptos"/>
              </a:rPr>
              <a:t>Expected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779776"/>
            <a:ext cx="3310128" cy="9326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Execute the same workflows through three approaches and produce evidence on task success, cost, latency, failure modes and safety for irreversible actions.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60520"/>
            <a:ext cx="5440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" y="4270248"/>
            <a:ext cx="518464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704DC3"/>
                </a:solidFill>
                <a:latin typeface="Aptos"/>
              </a:rPr>
              <a:t>Initial Scope / 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4608576"/>
            <a:ext cx="5184648" cy="9601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Catalogue scope: five back-office workflows, including invoice entry, reconciliation and ticket triage. Compare pure GUI, pure API/MCP and hybrid execution under controlled conditions.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4160520"/>
            <a:ext cx="554126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72783" y="4270248"/>
            <a:ext cx="5285231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Research 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3" y="4608576"/>
            <a:ext cx="5285231" cy="9601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Comparative benchmark • failure taxonomy • cost/latency analysis • safety controls • guidance on when each execution mode is appropriate for legacy enterprise workflows.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08076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5C6774"/>
                </a:solidFill>
                <a:latin typeface="Aptos"/>
              </a:rPr>
              <a:t>Core question: When should an enterprise agent use the screen, structured tools, or a combination of both?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4754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162742"/>
                </a:solidFill>
                <a:latin typeface="Aptos"/>
              </a:rPr>
              <a:t>Project 14 — AgenticOps 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972800" cy="3108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5C6774"/>
                </a:solidFill>
                <a:latin typeface="Aptos"/>
              </a:rPr>
              <a:t>Evaluation-driven development, tracing and error budgets for production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28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2076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15540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22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42972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Traces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4695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59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704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55591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Offline 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5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E67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8211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9935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399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28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0831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Release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2556" y="1517904"/>
            <a:ext cx="228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5C6774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6020" y="1325880"/>
            <a:ext cx="159257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22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93451" y="1499616"/>
            <a:ext cx="15377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>
                <a:solidFill>
                  <a:srgbClr val="232B34"/>
                </a:solidFill>
                <a:latin typeface="Aptos"/>
              </a:rPr>
              <a:t>Monitor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31720"/>
            <a:ext cx="35661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" y="244144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2779776"/>
            <a:ext cx="3310128" cy="9326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90" b="0">
                <a:solidFill>
                  <a:srgbClr val="232B34"/>
                </a:solidFill>
                <a:latin typeface="Aptos"/>
              </a:rPr>
              <a:t>Existing work defines agent observability and tracing, but the catalogue identifies a gap: no open reference implementation linking traces → offline evaluations → online guardrails → release gates, with evidence on achievable error budgets.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2331720"/>
            <a:ext cx="35661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244144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E67828"/>
                </a:solidFill>
                <a:latin typeface="Aptos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3" y="2779776"/>
            <a:ext cx="3310128" cy="9326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Production agents can drift, regress or fail through tools and decisions. Teams need measurable reliability, containment and ongoing evaluation throughout the agent development life cycle.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2331720"/>
            <a:ext cx="35661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244144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2915B"/>
                </a:solidFill>
                <a:latin typeface="Aptos"/>
              </a:rPr>
              <a:t>Expected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779776"/>
            <a:ext cx="3310128" cy="9326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90" b="0">
                <a:solidFill>
                  <a:srgbClr val="232B34"/>
                </a:solidFill>
                <a:latin typeface="Aptos"/>
              </a:rPr>
              <a:t>An end-to-end AgenticOps stack plus a 12-week study of two agents measuring drift, regression catch rate and MTTR, with comparison of agent-trace fidelity across observability tools.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60520"/>
            <a:ext cx="5440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" y="4270248"/>
            <a:ext cx="518464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704DC3"/>
                </a:solidFill>
                <a:latin typeface="Aptos"/>
              </a:rPr>
              <a:t>Initial Scope /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4608576"/>
            <a:ext cx="5184648" cy="9601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LangGraph + OpenTelemetry + Langfuse or Arize Phoenix + CI evaluation gates + canary release. Two representative agents operating in a simulated production loop.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4160520"/>
            <a:ext cx="554126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72783" y="4270248"/>
            <a:ext cx="5285231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Research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3" y="4608576"/>
            <a:ext cx="5285231" cy="9601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Trace quality • offline evaluation • guardrails • release decisions • error budgets • drift/regression detection • mean time to recovery (MTTR) • production-style monitoring.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08076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50" b="1" dirty="0">
                <a:solidFill>
                  <a:srgbClr val="5C6774"/>
                </a:solidFill>
                <a:latin typeface="Aptos"/>
              </a:rPr>
              <a:t>Core question: Can an integrated </a:t>
            </a:r>
            <a:r>
              <a:rPr sz="1150" b="1" dirty="0" err="1">
                <a:solidFill>
                  <a:srgbClr val="5C6774"/>
                </a:solidFill>
                <a:latin typeface="Aptos"/>
              </a:rPr>
              <a:t>AgenticOps</a:t>
            </a:r>
            <a:r>
              <a:rPr sz="1150" b="1" dirty="0">
                <a:solidFill>
                  <a:srgbClr val="5C6774"/>
                </a:solidFill>
                <a:latin typeface="Aptos"/>
              </a:rPr>
              <a:t> pipeline detect and contain agent regressions before and after release?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4754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162742"/>
                </a:solidFill>
                <a:latin typeface="Aptos"/>
              </a:rPr>
              <a:t>Project 28 — Proposed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972800" cy="3108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5C6774"/>
                </a:solidFill>
                <a:latin typeface="Aptos"/>
              </a:rPr>
              <a:t>Five-member team • 12-week capstone • shared integration and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56616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134416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682496"/>
            <a:ext cx="3310128" cy="11155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Run equivalent workflow scenarios through GUI, API/MCP and Hybrid agents. Include normal cases plus interface/tool failures. Record success, latency, cost and failure category.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234440"/>
            <a:ext cx="356616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3" y="134416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E67828"/>
                </a:solidFill>
                <a:latin typeface="Aptos"/>
              </a:rPr>
              <a:t>Safety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3" y="1682496"/>
            <a:ext cx="3310128" cy="11155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Introduce controls for irreversible actions: validation before execution, restricted actions, confirmation/approval points, post-action verification and auditable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234440"/>
            <a:ext cx="356616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7888" y="134416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2915B"/>
                </a:solidFill>
                <a:latin typeface="Aptos"/>
              </a:rPr>
              <a:t>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682496"/>
            <a:ext cx="3310128" cy="11155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Primary measures: task-success rate, completion time, execution cost and failure taxonomy. Analyse which execution mode performs best under different workflow conditions.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111556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50" b="1">
                <a:solidFill>
                  <a:srgbClr val="162742"/>
                </a:solidFill>
                <a:latin typeface="Aptos"/>
              </a:rPr>
              <a:t>Five-Member Ownership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Member 1 —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Orchestration + common workflow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0632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98648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E67828"/>
                </a:solidFill>
                <a:latin typeface="Aptos"/>
              </a:rPr>
              <a:t>Member 2 — GUI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Computer/browser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8344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59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2915B"/>
                </a:solidFill>
                <a:latin typeface="Aptos"/>
              </a:rPr>
              <a:t>Member 3 — API/MCP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Structured tools + interfaces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6055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34071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704DC3"/>
                </a:solidFill>
                <a:latin typeface="Aptos"/>
              </a:rPr>
              <a:t>Member 4 — Hybrid &amp;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Routing, fallback + controls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3768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01784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Member 5 —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Scenarios, metrics +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102352"/>
            <a:ext cx="111556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162742"/>
                </a:solidFill>
                <a:latin typeface="Aptos"/>
              </a:rPr>
              <a:t>12-Week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86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20" b="0">
                <a:solidFill>
                  <a:srgbClr val="232B34"/>
                </a:solidFill>
                <a:latin typeface="Aptos"/>
              </a:rPr>
              <a:t>W1–2 scope + literature  |  W3–4 common workflow environment  |  W5–6 GUI &amp; API/MCP paths  |  W7–8 hybrid + safety  |  W9–10 experiments  |  W11–12 analysis, report/paper +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236208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10" b="1">
                <a:solidFill>
                  <a:srgbClr val="5C6774"/>
                </a:solidFill>
                <a:latin typeface="Aptos"/>
              </a:rPr>
              <a:t>Deliverables: three execution approaches • comparative benchmark • failure taxonomy • safety controls • final demonstration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4754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162742"/>
                </a:solidFill>
                <a:latin typeface="Aptos"/>
              </a:rPr>
              <a:t>Project 14 — Proposed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972800" cy="3108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5C6774"/>
                </a:solidFill>
                <a:latin typeface="Aptos"/>
              </a:rPr>
              <a:t>Five-member team • longitudinal evaluation • publication-oriented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56616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134416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What We Will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682496"/>
            <a:ext cx="3310128" cy="11155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Two representative agents; standardized traces; offline evaluation pipeline; online guardrails; CI release gate; canary release and production-style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234440"/>
            <a:ext cx="356616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3" y="134416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E67828"/>
                </a:solidFill>
                <a:latin typeface="Aptos"/>
              </a:rPr>
              <a:t>Study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3" y="1682496"/>
            <a:ext cx="3310128" cy="11155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Run agents over 12 weeks in a simulated production loop. Introduce controlled changes/failures and observe drift, regression catch rate and MTTR.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234440"/>
            <a:ext cx="356616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7888" y="1344168"/>
            <a:ext cx="331012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2915B"/>
                </a:solidFill>
                <a:latin typeface="Aptos"/>
              </a:rPr>
              <a:t>Tool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682496"/>
            <a:ext cx="3310128" cy="11155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20" b="0">
                <a:solidFill>
                  <a:srgbClr val="232B34"/>
                </a:solidFill>
                <a:latin typeface="Aptos"/>
              </a:rPr>
              <a:t>Compare how faithfully selected observability tools capture agent traces, while measuring whether the integrated pipeline provides useful evidence for release and recovery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111556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50" b="1">
                <a:solidFill>
                  <a:srgbClr val="162742"/>
                </a:solidFill>
                <a:latin typeface="Aptos"/>
              </a:rPr>
              <a:t>Five-Member Ownership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Member 1 —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LangGraph + representative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0632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98648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2915B"/>
                </a:solidFill>
                <a:latin typeface="Aptos"/>
              </a:rPr>
              <a:t>Member 2 — Tracing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OpenTelemetry + trace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8344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59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704DC3"/>
                </a:solidFill>
                <a:latin typeface="Aptos"/>
              </a:rPr>
              <a:t>Member 3 —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Offline evals + benchmark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6055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34071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E67828"/>
                </a:solidFill>
                <a:latin typeface="Aptos"/>
              </a:rPr>
              <a:t>Member 4 —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Guardrails + release 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3768" y="361188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01784" y="3721608"/>
            <a:ext cx="1801368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20" b="1">
                <a:solidFill>
                  <a:srgbClr val="285DB4"/>
                </a:solidFill>
                <a:latin typeface="Aptos"/>
              </a:rPr>
              <a:t>Member 5 —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4059936"/>
            <a:ext cx="1801368" cy="6217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40" b="0">
                <a:solidFill>
                  <a:srgbClr val="232B34"/>
                </a:solidFill>
                <a:latin typeface="Aptos"/>
              </a:rPr>
              <a:t>Drift, MTTR +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102352"/>
            <a:ext cx="111556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162742"/>
                </a:solidFill>
                <a:latin typeface="Aptos"/>
              </a:rPr>
              <a:t>12-Week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864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20" b="0">
                <a:solidFill>
                  <a:srgbClr val="232B34"/>
                </a:solidFill>
                <a:latin typeface="Aptos"/>
              </a:rPr>
              <a:t>W1–2 literature + design  |  W3–4 agents + tracing  |  W5–6 offline evaluation  |  W7–8 guardrails + CI gates  |  W9–10 canary/monitoring study  |  W11–12 analysis, paper +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236208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10" b="1">
                <a:solidFill>
                  <a:srgbClr val="5C6774"/>
                </a:solidFill>
                <a:latin typeface="Aptos"/>
              </a:rPr>
              <a:t>Deliverables: end-to-end stack • 12-week study • regression/MTTR evidence • trace-fidelity comparison • final report/paper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A0FB64-FC0C-2AAD-B661-BA326307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842" y="1161853"/>
            <a:ext cx="7788315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22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832</Words>
  <Application>Microsoft Office PowerPoint</Application>
  <PresentationFormat>Widescreen</PresentationFormat>
  <Paragraphs>92</Paragraphs>
  <Slides>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Janani Srinivasan</cp:lastModifiedBy>
  <cp:revision>5</cp:revision>
  <dcterms:created xsi:type="dcterms:W3CDTF">2013-01-27T09:14:00Z</dcterms:created>
  <dcterms:modified xsi:type="dcterms:W3CDTF">2026-09-05T09:31:55Z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E5D448B3B15F44CFB55C9085FDDC21E0_12</vt:lpwstr>
  </property>
  <property fmtid="{D5CDD505-2E9C-101B-9397-08002B2CF9AE}" pid="3" name="KSOProductBuildVer">
    <vt:lpwstr>1033-12.1.0.28485</vt:lpwstr>
  </property>
</Properties>
</file>