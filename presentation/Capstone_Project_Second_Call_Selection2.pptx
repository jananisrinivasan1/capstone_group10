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ink/ink1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62" r:id="rId3"/>
    <p:sldId id="256" r:id="rId4"/>
    <p:sldId id="257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43" userDrawn="1">
          <p15:clr>
            <a:srgbClr val="A4A3A4"/>
          </p15:clr>
        </p15:guide>
        <p15:guide id="2" pos="289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37167" autoAdjust="0"/>
  </p:normalViewPr>
  <p:slideViewPr>
    <p:cSldViewPr snapToGrid="0" snapToObjects="1" showGuides="1">
      <p:cViewPr varScale="1">
        <p:scale>
          <a:sx n="41" d="100"/>
          <a:sy n="41" d="100"/>
        </p:scale>
        <p:origin x="3234" y="42"/>
      </p:cViewPr>
      <p:guideLst>
        <p:guide orient="horz" pos="2143"/>
        <p:guide pos="289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2147480000" min="-2147480000" units="cm"/>
          <inkml:channel name="Y" type="integer" max="2147480000" min="-2147480000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12T06:18: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0.000 11.000 0,'23243.000'0.000'0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BDAF1E-8C51-469C-84AA-36B1AEF2EFF1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94E2C-8370-4EC1-8D97-5F9A87CAF7CD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F94E2C-8370-4EC1-8D97-5F9A87CAF7CD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16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Cloud systems have outgrown manual operations. </a:t>
            </a:r>
            <a:r>
              <a:rPr lang="en-US" sz="1200" dirty="0">
                <a:solidFill>
                  <a:srgbClr val="16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Modern microservice clouds generate huge volumes of logs, metrics and traces, and incidents must be detected, localized, diagnosed and mitigated faster than humans can react.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b="1" dirty="0">
                <a:solidFill>
                  <a:srgbClr val="16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agents raise a new question. </a:t>
            </a:r>
            <a:r>
              <a:rPr lang="en-US" sz="1200" dirty="0">
                <a:solidFill>
                  <a:srgbClr val="16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With GenAI, agents can reason over telemetry and take action — but the field lacks (a) rigorous ways to evaluate whether they actually work, and (b) an agreed architecture for how autonomy should be governed.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dirty="0">
              <a:solidFill>
                <a:srgbClr val="1623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800" b="1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P = ⟨T, C, S⟩  </a:t>
            </a:r>
            <a:r>
              <a:rPr lang="en-US" sz="1200">
                <a:solidFill>
                  <a:srgbClr val="CADCFC"/>
                </a:solidFill>
              </a:rPr>
              <a:t>— every benchmark problem is a Task, a Context and an expected Solution</a:t>
            </a:r>
            <a:endParaRPr lang="en-US" sz="1200">
              <a:solidFill>
                <a:srgbClr val="CADCFC"/>
              </a:solidFill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80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dirty="0">
              <a:solidFill>
                <a:srgbClr val="1623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dirty="0">
              <a:solidFill>
                <a:srgbClr val="1623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dirty="0">
              <a:solidFill>
                <a:srgbClr val="1623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dirty="0">
                <a:solidFill>
                  <a:srgbClr val="16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“Can an agent do this task well?” (measurement)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dirty="0">
                <a:solidFill>
                  <a:srgbClr val="16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 running microservice clouds + injected faults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dirty="0">
                <a:solidFill>
                  <a:srgbClr val="16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Implicit — agent acts within a sandboxed ACI</a:t>
            </a:r>
            <a:endParaRPr lang="en-US" sz="1200" dirty="0">
              <a:solidFill>
                <a:srgbClr val="16233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dirty="0">
                <a:solidFill>
                  <a:srgbClr val="16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Working open-source benchmark, reusable &amp; extensible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dirty="0">
                <a:solidFill>
                  <a:srgbClr val="16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Conceptual / architectural framework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dirty="0">
                <a:solidFill>
                  <a:srgbClr val="16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should an autonomous, ITIL-aligned AIOps system look like?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dirty="0">
                <a:solidFill>
                  <a:srgbClr val="16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3-D framework + 10-level autonomy model + working definition</a:t>
            </a:r>
            <a:endParaRPr lang="en-US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dirty="0">
                <a:solidFill>
                  <a:srgbClr val="16233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empirical results — vision / design paper</a:t>
            </a:r>
            <a:endParaRPr lang="en-US" sz="1200" dirty="0"/>
          </a:p>
          <a:p>
            <a:endParaRPr lang="en-US" dirty="0"/>
          </a:p>
          <a:p>
            <a:r>
              <a:rPr lang="en-US" dirty="0"/>
              <a:t>ITIL , PRM-IT integration and enterprise architecture</a:t>
            </a:r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dirty="0"/>
              <a:t>Proposed direction:</a:t>
            </a:r>
            <a:endParaRPr lang="en-US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 study benchmarks an ITIL-aligned Agentic AIOps design (Paper 2's framework) using a rigorous, reproducible evaluation harness (Paper 1's methodology).</a:t>
            </a:r>
            <a:endParaRPr lang="en-US" sz="12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Autonomy-level governance (10-level model) is proposed conceptually but never measured against agent behavior in a live benchmark.</a:t>
            </a:r>
            <a:endParaRPr lang="en-US" sz="1200" dirty="0"/>
          </a:p>
          <a:p>
            <a:pPr marL="203200" indent="-203200">
              <a:lnSpc>
                <a:spcPct val="130000"/>
              </a:lnSpc>
              <a:spcAft>
                <a:spcPts val="1400"/>
              </a:spcAft>
              <a:buSzPct val="100000"/>
              <a:buChar char="▪"/>
            </a:pP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Failure modes identified in </a:t>
            </a:r>
            <a:r>
              <a:rPr lang="en-US" sz="1200" dirty="0" err="1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AIOpsLab</a:t>
            </a:r>
            <a:r>
              <a:rPr lang="en-US" sz="1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 (wasted steps, overloaded telemetry) are exactly the risks Paper 2's “Human Oversight” principle is meant to catch — untested in practice.</a:t>
            </a:r>
            <a:endParaRPr lang="en-US" sz="1200" dirty="0"/>
          </a:p>
          <a:p>
            <a:endParaRPr lang="en-US" dirty="0"/>
          </a:p>
          <a:p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Design a small Agentic AIOps prototype for one ITIL process (e.g., Incident Management) following the Understand–Decide–Act loop, then evaluate it using an </a:t>
            </a:r>
            <a:r>
              <a:rPr lang="en-US" sz="1200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AIOpsLab</a:t>
            </a:r>
            <a:r>
              <a:rPr lang="en-US" sz="12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-style benchmark (fault injection + task metrics) to quantify accuracy, steps taken, and failure modes at each autonomy level.</a:t>
            </a:r>
            <a:endParaRPr lang="en-US" sz="1200" dirty="0"/>
          </a:p>
          <a:p>
            <a:endParaRPr lang="en-US" dirty="0"/>
          </a:p>
          <a:p>
            <a:r>
              <a:rPr lang="en-US" dirty="0"/>
              <a:t>Conclusion : the future of AIOps relies on bridging the gap between rigorous academic benchmarking and practical, secure enterprise integration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arxiv.org/abs/2411.05285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hyperlink" Target="https://proceedings.neurips.cc/paper_files/paper/2024/hash/877b40688e330a0e2a3fc24084208dfa-Abstract-Datasets_and_Benchmarks_Track.ht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68826" y="0"/>
            <a:ext cx="10167141" cy="6971071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6" name="Ink 5"/>
              <p14:cNvContentPartPr/>
              <p14:nvPr/>
            </p14:nvContentPartPr>
            <p14:xfrm>
              <a:off x="1297730" y="4827310"/>
              <a:ext cx="8367840" cy="720"/>
            </p14:xfrm>
          </p:contentPart>
        </mc:Choice>
        <mc:Fallback xmlns="">
          <p:pic>
            <p:nvPicPr>
              <p:cNvPr id="6" name="Ink 5"/>
            </p:nvPicPr>
            <p:blipFill>
              <a:blip r:embed="rId3"/>
            </p:blipFill>
            <p:spPr>
              <a:xfrm>
                <a:off x="1297730" y="4827310"/>
                <a:ext cx="8367840" cy="7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Paper 1 — AgentOps: Enabling Observability of LLM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CDD8E6"/>
                </a:solidFill>
              </a:defRPr>
            </a:pPr>
            <a:r>
              <a:t>Liming Dong, Qinghua Lu &amp; Liming Zhu (2024)  |  Literature foundation for AgenticOps observability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65760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2296" cy="1828800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39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F5B99"/>
                </a:solidFill>
              </a:defRPr>
            </a:pPr>
            <a:r>
              <a:t>What I understood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56231"/>
            <a:ext cx="3273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LLM agents are autonomous and non-deterministic, so final success/failure alone is not enough.</a:t>
            </a:r>
          </a:p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Agent behaviour must be observable across its lifecycle using traces, logs and operational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82296" cy="1828800"/>
          </a:xfrm>
          <a:prstGeom prst="rect">
            <a:avLst/>
          </a:prstGeom>
          <a:solidFill>
            <a:srgbClr val="AA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46303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AA4343"/>
                </a:solidFill>
              </a:defRPr>
            </a:pPr>
            <a:r>
              <a:t>Difficulty identified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856231"/>
            <a:ext cx="3182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There was no clear standard for exactly what should be observed in an AI agent.</a:t>
            </a:r>
          </a:p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Existing AgentOps tools captured different artifacts and data, making monitoring inconsistent.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25880"/>
            <a:ext cx="3538728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325880"/>
            <a:ext cx="82296" cy="1828800"/>
          </a:xfrm>
          <a:prstGeom prst="rect">
            <a:avLst/>
          </a:prstGeom>
          <a:solidFill>
            <a:srgbClr val="31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1463039"/>
            <a:ext cx="31729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17757"/>
                </a:solidFill>
              </a:defRPr>
            </a:pPr>
            <a:r>
              <a:t>How the authors addressed 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1856231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They systematically mapped existing AgentOps tools.</a:t>
            </a:r>
          </a:p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They proposed an AgentOps taxonomy describing artifacts and data that should be traced for monitoring, analytics and anomaly detection.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01568"/>
            <a:ext cx="11091672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01568"/>
            <a:ext cx="82296" cy="2103120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38728"/>
            <a:ext cx="3644265" cy="32194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F5B99"/>
                </a:solidFill>
              </a:defRPr>
            </a:pPr>
            <a:r>
              <a:t>How this supports </a:t>
            </a:r>
            <a:r>
              <a:rPr lang="en-US"/>
              <a:t>the </a:t>
            </a:r>
            <a:r>
              <a:t>Oracle Fusion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31920"/>
            <a:ext cx="10707624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We can instrument an Oracle Fusion agent so every important action is traceable before and after deployment.</a:t>
            </a:r>
          </a:p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Example: if an AP/Tax agent starts giving incorrect tax decisions after a prompt, model or tool change, the AgenticOps layer should expose the behavioural change and trigger containment.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97880"/>
            <a:ext cx="2097633" cy="502920"/>
          </a:xfrm>
          <a:prstGeom prst="roundRect">
            <a:avLst/>
          </a:prstGeom>
          <a:solidFill>
            <a:srgbClr val="12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971032"/>
            <a:ext cx="20061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Oracle Fusion Agent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47441" y="5897880"/>
            <a:ext cx="2097633" cy="502920"/>
          </a:xfrm>
          <a:prstGeom prst="round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93161" y="5971032"/>
            <a:ext cx="20061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Trace / Log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54803" y="5897880"/>
            <a:ext cx="2097633" cy="502920"/>
          </a:xfrm>
          <a:prstGeom prst="round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0523" y="5971032"/>
            <a:ext cx="20061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2164" y="5897880"/>
            <a:ext cx="2097633" cy="502920"/>
          </a:xfrm>
          <a:prstGeom prst="roundRect">
            <a:avLst/>
          </a:prstGeom>
          <a:solidFill>
            <a:srgbClr val="AA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07884" y="5971032"/>
            <a:ext cx="20061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Detect Regression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9526" y="5897880"/>
            <a:ext cx="2097633" cy="502920"/>
          </a:xfrm>
          <a:prstGeom prst="roundRect">
            <a:avLst/>
          </a:prstGeom>
          <a:solidFill>
            <a:srgbClr val="31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5246" y="5971032"/>
            <a:ext cx="20061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Alert / Contain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6E76"/>
                </a:solidFill>
              </a:defRPr>
            </a:pPr>
            <a:r>
              <a:t>Source: arXiv 2411.05285</a:t>
            </a:r>
          </a:p>
        </p:txBody>
      </p:sp>
      <p:sp>
        <p:nvSpPr>
          <p:cNvPr id="32" name="Text Box 31"/>
          <p:cNvSpPr txBox="1"/>
          <p:nvPr/>
        </p:nvSpPr>
        <p:spPr>
          <a:xfrm>
            <a:off x="2233930" y="4877435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dirty="0">
                <a:solidFill>
                  <a:schemeClr val="bg1"/>
                </a:solidFill>
                <a:sym typeface="+mn-ea"/>
                <a:hlinkClick r:id="rId1"/>
              </a:rPr>
              <a:t>https://arxiv.org/abs/2411.05285</a:t>
            </a:r>
            <a:r>
              <a:rPr lang="en-IN" dirty="0">
                <a:solidFill>
                  <a:schemeClr val="bg1"/>
                </a:solidFill>
                <a:sym typeface="+mn-ea"/>
              </a:rPr>
              <a:t> - 2024</a:t>
            </a:r>
            <a:endParaRPr lang="en-IN" dirty="0">
              <a:solidFill>
                <a:schemeClr val="bg1"/>
              </a:solidFill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2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FFFFFF"/>
                </a:solidFill>
              </a:defRPr>
            </a:pPr>
            <a:r>
              <a:t>Paper 2 — AgentBoard: Analytical Evaluation of Multi-turn LLM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21207" y="713232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50">
                <a:solidFill>
                  <a:srgbClr val="CDD8E6"/>
                </a:solidFill>
              </a:defRPr>
            </a:pPr>
            <a:r>
              <a:t>Chang Ma et al. (NeurIPS 2024)  |  Literature foundation for fine-grained regression evaluation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365760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25880"/>
            <a:ext cx="82296" cy="1828800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463039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F5B99"/>
                </a:solidFill>
              </a:defRPr>
            </a:pPr>
            <a:r>
              <a:t>What I understood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856231"/>
            <a:ext cx="327355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A simple final task-success score does not show where a multi-step agent started failing.</a:t>
            </a:r>
          </a:p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Agent evaluation should measure intermediate progress and behaviour, not only the final outcome.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70832" y="1325880"/>
            <a:ext cx="3566160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70832" y="1325880"/>
            <a:ext cx="82296" cy="1828800"/>
          </a:xfrm>
          <a:prstGeom prst="rect">
            <a:avLst/>
          </a:prstGeom>
          <a:solidFill>
            <a:srgbClr val="AA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9432" y="1463039"/>
            <a:ext cx="32004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AA4343"/>
                </a:solidFill>
              </a:defRPr>
            </a:pPr>
            <a:r>
              <a:t>Difficulties identified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1856231"/>
            <a:ext cx="3182112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Agents had to be compared across different tasks and multi-round interactions.</a:t>
            </a:r>
          </a:p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Evaluation also had to work in partially observable environments and reveal failure points rather than only PASS/FAIL.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01583" y="1325880"/>
            <a:ext cx="3538728" cy="182880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01583" y="1325880"/>
            <a:ext cx="82296" cy="1828800"/>
          </a:xfrm>
          <a:prstGeom prst="rect">
            <a:avLst/>
          </a:prstGeom>
          <a:solidFill>
            <a:srgbClr val="31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30183" y="1463039"/>
            <a:ext cx="3172968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317757"/>
                </a:solidFill>
              </a:defRPr>
            </a:pPr>
            <a:r>
              <a:t>How the authors addressed them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30183" y="1856231"/>
            <a:ext cx="3154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They created AgentBoard with 9 tasks and 1,013 environments.</a:t>
            </a:r>
          </a:p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They introduced fine-grained progress-rate analysis and tools for examining trajectories, grounding and long-range agent interactions.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401568"/>
            <a:ext cx="11091672" cy="2103120"/>
          </a:xfrm>
          <a:prstGeom prst="roundRect">
            <a:avLst/>
          </a:prstGeom>
          <a:solidFill>
            <a:srgbClr val="F1F5F9"/>
          </a:solidFill>
          <a:ln>
            <a:solidFill>
              <a:srgbClr val="DCE4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3401568"/>
            <a:ext cx="82296" cy="2103120"/>
          </a:xfrm>
          <a:prstGeom prst="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538728"/>
            <a:ext cx="107259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500" b="1">
                <a:solidFill>
                  <a:srgbClr val="2F5B99"/>
                </a:solidFill>
              </a:defRPr>
            </a:pPr>
            <a:r>
              <a:t>How this supports our Oracle Fusion project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931920"/>
            <a:ext cx="10707624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We can compare a baseline Oracle Fusion agent with a changed version and define regression thresholds before release.</a:t>
            </a:r>
          </a:p>
          <a:p>
            <a:pPr>
              <a:spcAft>
                <a:spcPts val="700"/>
              </a:spcAft>
              <a:defRPr sz="1220">
                <a:solidFill>
                  <a:srgbClr val="212529"/>
                </a:solidFill>
              </a:defRPr>
            </a:pPr>
            <a:r>
              <a:t>Example: V1 = 95% task success → new prompt/model/tool → V2 = 82% plus poorer intermediate progress → regression detected → release blocked or production version contained.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5897880"/>
            <a:ext cx="2097633" cy="502920"/>
          </a:xfrm>
          <a:prstGeom prst="roundRect">
            <a:avLst/>
          </a:prstGeom>
          <a:solidFill>
            <a:srgbClr val="1222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971032"/>
            <a:ext cx="20061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Baseline V1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847441" y="5897880"/>
            <a:ext cx="2097633" cy="502920"/>
          </a:xfrm>
          <a:prstGeom prst="round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93161" y="5971032"/>
            <a:ext cx="20061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Change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54803" y="5897880"/>
            <a:ext cx="2097633" cy="502920"/>
          </a:xfrm>
          <a:prstGeom prst="roundRect">
            <a:avLst/>
          </a:prstGeom>
          <a:solidFill>
            <a:srgbClr val="2F5B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100523" y="5971032"/>
            <a:ext cx="20061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Evaluate V2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62164" y="5897880"/>
            <a:ext cx="2097633" cy="502920"/>
          </a:xfrm>
          <a:prstGeom prst="roundRect">
            <a:avLst/>
          </a:prstGeom>
          <a:solidFill>
            <a:srgbClr val="AA43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07884" y="5971032"/>
            <a:ext cx="20061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Regression?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469526" y="5897880"/>
            <a:ext cx="2097633" cy="502920"/>
          </a:xfrm>
          <a:prstGeom prst="roundRect">
            <a:avLst/>
          </a:prstGeom>
          <a:solidFill>
            <a:srgbClr val="317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515246" y="5971032"/>
            <a:ext cx="2006193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Block / Contain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1106424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750">
                <a:solidFill>
                  <a:srgbClr val="696E76"/>
                </a:solidFill>
              </a:defRPr>
            </a:pPr>
            <a:r>
              <a:t>Source: NeurIPS 2024 — AgentBoard: An Analytical Evaluation Board of Multi-turn LLM Agents</a:t>
            </a:r>
          </a:p>
        </p:txBody>
      </p:sp>
      <p:graphicFrame>
        <p:nvGraphicFramePr>
          <p:cNvPr id="32" name="Table 31"/>
          <p:cNvGraphicFramePr/>
          <p:nvPr/>
        </p:nvGraphicFramePr>
        <p:xfrm>
          <a:off x="1710690" y="4754880"/>
          <a:ext cx="812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28000"/>
              </a:tblGrid>
              <a:tr h="370840">
                <a:tc>
                  <a:txBody>
                    <a:bodyPr/>
                    <a:lstStyle/>
                    <a:p>
                      <a:r>
                        <a:rPr lang="en-IN" dirty="0">
                          <a:hlinkClick r:id="rId1"/>
                        </a:rPr>
                        <a:t>https://proceedings.neurips.cc/paper_files/paper/2024/hash/877b40688e330a0e2a3fc24084208dfa-Abstract-Datasets_and_Benchmarks_Track.html</a:t>
                      </a:r>
                      <a:r>
                        <a:rPr lang="en-IN" dirty="0"/>
                        <a:t> - 2024</a:t>
                      </a:r>
                      <a:endParaRPr lang="en-IN" dirty="0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1  ·  BENCHMARKING &amp; EVALUATION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11480"/>
            <a:ext cx="1118311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AIOpsLab: A Holistic Framework to Evaluate AI Agents for Enabling Autonomous Clouds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34440"/>
            <a:ext cx="111831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Chen, Y., Shetty, M., Somashekar, G., et al.  </a:t>
            </a:r>
            <a:r>
              <a:rPr lang="en-US" sz="1050" dirty="0">
                <a:solidFill>
                  <a:srgbClr val="5B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arXiv:2501.06706, 2025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5"/>
          <p:cNvSpPr txBox="1"/>
          <p:nvPr/>
        </p:nvSpPr>
        <p:spPr>
          <a:xfrm>
            <a:off x="502920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i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103120"/>
            <a:ext cx="34838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What It Proposes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414016"/>
            <a:ext cx="3483864" cy="2432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 orchestrator-based benchmark suite that evaluates AI agents on real, live cloud microservice deployments (SocialNetwork, HotelReservation, Astronomy Shop, TiDB).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Formalizes an AIOps problem as a triple: Task, Context, and expected Solution (oracle).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Agent-Cloud Interface (ACI) standardizes actions and observations (get_logs, get_metrics, get_traces, submit).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52544" y="1600200"/>
            <a:ext cx="384048" cy="384048"/>
          </a:xfrm>
          <a:prstGeom prst="ellipse">
            <a:avLst/>
          </a:prstGeom>
          <a:solidFill>
            <a:srgbClr val="4A7CFF"/>
          </a:solidFill>
        </p:spPr>
      </p:sp>
      <p:sp>
        <p:nvSpPr>
          <p:cNvPr id="11" name="Text 9"/>
          <p:cNvSpPr txBox="1"/>
          <p:nvPr/>
        </p:nvSpPr>
        <p:spPr>
          <a:xfrm>
            <a:off x="4352544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T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352544" y="2103120"/>
            <a:ext cx="34838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4-Level Task Taxonomy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52544" y="2414016"/>
            <a:ext cx="3483864" cy="2432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 1 — Detection: flag anomalies/deviations (Time-to-Detect).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 2 — Localization: pinpoint the faulty microservice.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 3 — Root Cause Analysis: identify the underlying cause.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Level 4 — Mitigation: recover the environment (hardest task).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Faults span symptomatic (network loss, pod failure) and functional (app/virtualization-level) categories.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02168" y="1600200"/>
            <a:ext cx="384048" cy="384048"/>
          </a:xfrm>
          <a:prstGeom prst="ellipse">
            <a:avLst/>
          </a:prstGeom>
          <a:solidFill>
            <a:srgbClr val="C9302C"/>
          </a:solidFill>
        </p:spPr>
      </p:sp>
      <p:sp>
        <p:nvSpPr>
          <p:cNvPr id="15" name="Text 13"/>
          <p:cNvSpPr txBox="1"/>
          <p:nvPr/>
        </p:nvSpPr>
        <p:spPr>
          <a:xfrm>
            <a:off x="8202168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!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02168" y="2103120"/>
            <a:ext cx="34838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9302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Key Findings &amp; Gaps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02168" y="2414016"/>
            <a:ext cx="3483864" cy="2432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LLM agents (GPT-4, ReAct, Flash) beat classical baselines (PDIAGNOSE, RMLAD, MKSMC) but accuracy drops sharply from detection (~70-100%) to mitigation (~27-55%).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Agents waste steps: repeated API calls, hallucinated scripts (e.g., non-existent analyze_data.py).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Metrics/traces are under-used — agents struggle to interpret raw telemetry without visualization.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07492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</p:spPr>
      </p:sp>
      <p:sp>
        <p:nvSpPr>
          <p:cNvPr id="19" name="Text 17"/>
          <p:cNvSpPr txBox="1"/>
          <p:nvPr/>
        </p:nvSpPr>
        <p:spPr>
          <a:xfrm>
            <a:off x="731520" y="507492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 to Capstone:  </a:t>
            </a: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Provides a rigorous, reusable evaluation harness (tasks, fault library, metrics) that our project can adopt or adapt to benchmark our own AIOps/incident-management agent against realistic microservice failures.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 — Capstone Project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1632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 / 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E2761"/>
          </a:solidFill>
        </p:spPr>
      </p:sp>
      <p:sp>
        <p:nvSpPr>
          <p:cNvPr id="3" name="Text 1"/>
          <p:cNvSpPr txBox="1"/>
          <p:nvPr/>
        </p:nvSpPr>
        <p:spPr>
          <a:xfrm>
            <a:off x="502920" y="164592"/>
            <a:ext cx="11183112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PAPER 2  ·  CONCEPTUAL FRAMEWORK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411480"/>
            <a:ext cx="11183112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 Practical Approach to Defining a Framework for Developing an Agentic AIOps System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234440"/>
            <a:ext cx="11183112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Zota, R.D., Bărbulescu, C., Constantinescu, R.  </a:t>
            </a:r>
            <a:r>
              <a:rPr lang="en-US" sz="1050" dirty="0">
                <a:solidFill>
                  <a:srgbClr val="5B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Electronics, 14(9), 1775, 2025 (MDPI)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02920" y="1600200"/>
            <a:ext cx="384048" cy="384048"/>
          </a:xfrm>
          <a:prstGeom prst="ellipse">
            <a:avLst/>
          </a:prstGeom>
          <a:solidFill>
            <a:srgbClr val="1E2761"/>
          </a:solidFill>
        </p:spPr>
      </p:sp>
      <p:sp>
        <p:nvSpPr>
          <p:cNvPr id="7" name="Text 5"/>
          <p:cNvSpPr txBox="1"/>
          <p:nvPr/>
        </p:nvSpPr>
        <p:spPr>
          <a:xfrm>
            <a:off x="502920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V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02920" y="2103120"/>
            <a:ext cx="34838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Vision &amp; Definition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02920" y="2414016"/>
            <a:ext cx="3483864" cy="2432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Traces AIOps evolution: Observability → Predictive AIOps → Agentic AIOps (autonomous, hyper-automated).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Defines Agentic AIOps as a system that autonomously understands, decides, and acts on incidents/requests — aligned with ITIL Service Operation practice.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Positions Agentic AIOps as the next step beyond current tools (Watson AIOps, Splunk, ServiceNow), which remain largely observability-focused.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52544" y="1600200"/>
            <a:ext cx="384048" cy="384048"/>
          </a:xfrm>
          <a:prstGeom prst="ellipse">
            <a:avLst/>
          </a:prstGeom>
          <a:solidFill>
            <a:srgbClr val="4A7CFF"/>
          </a:solidFill>
        </p:spPr>
      </p:sp>
      <p:sp>
        <p:nvSpPr>
          <p:cNvPr id="11" name="Text 9"/>
          <p:cNvSpPr txBox="1"/>
          <p:nvPr/>
        </p:nvSpPr>
        <p:spPr>
          <a:xfrm>
            <a:off x="4352544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F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4352544" y="2103120"/>
            <a:ext cx="34838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7C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3-Dimensional Framework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352544" y="2414016"/>
            <a:ext cx="3483864" cy="2432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Process dimension: ITIL/PRM-IT processes — Event, Service Execution, Request Fulfillment, Incident &amp; Problem Management.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Service dimension: Application → Platform → Infrastructure layers (NIST cloud model).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Capability dimension: Understand → Decide → Take Action loop, mapped to AI components (classifier, RAG, automation, LLM).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02168" y="1600200"/>
            <a:ext cx="384048" cy="384048"/>
          </a:xfrm>
          <a:prstGeom prst="ellipse">
            <a:avLst/>
          </a:prstGeom>
          <a:solidFill>
            <a:srgbClr val="2C6E49"/>
          </a:solidFill>
        </p:spPr>
      </p:sp>
      <p:sp>
        <p:nvSpPr>
          <p:cNvPr id="15" name="Text 13"/>
          <p:cNvSpPr txBox="1"/>
          <p:nvPr/>
        </p:nvSpPr>
        <p:spPr>
          <a:xfrm>
            <a:off x="8202168" y="1581912"/>
            <a:ext cx="3840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P</a:t>
            </a:r>
            <a:endParaRPr lang="en-US" sz="2000" dirty="0"/>
          </a:p>
        </p:txBody>
      </p:sp>
      <p:sp>
        <p:nvSpPr>
          <p:cNvPr id="16" name="Text 14"/>
          <p:cNvSpPr txBox="1"/>
          <p:nvPr/>
        </p:nvSpPr>
        <p:spPr>
          <a:xfrm>
            <a:off x="8202168" y="2103120"/>
            <a:ext cx="3483864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6E4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Principles &amp; Limitations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8202168" y="2414016"/>
            <a:ext cx="3483864" cy="24323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Core principles: progressive autonomy (10 levels), process standardization, service-aware design, continuous learning, human oversight.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Worked example: incident management mapped to discriminative-AI, RAG, and automation components.</a:t>
            </a:r>
            <a:endParaRPr lang="en-US" sz="1150" dirty="0"/>
          </a:p>
          <a:p>
            <a:pPr marL="177800" indent="-177800">
              <a:lnSpc>
                <a:spcPts val="1500"/>
              </a:lnSpc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Purely conceptual — no experimental validation yet; security/governance left as future work.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2920" y="5074920"/>
            <a:ext cx="11183112" cy="868680"/>
          </a:xfrm>
          <a:prstGeom prst="roundRect">
            <a:avLst>
              <a:gd name="adj" fmla="val 8421"/>
            </a:avLst>
          </a:prstGeom>
          <a:solidFill>
            <a:srgbClr val="CADCFC"/>
          </a:solidFill>
        </p:spPr>
      </p:sp>
      <p:sp>
        <p:nvSpPr>
          <p:cNvPr id="19" name="Text 17"/>
          <p:cNvSpPr txBox="1"/>
          <p:nvPr/>
        </p:nvSpPr>
        <p:spPr>
          <a:xfrm>
            <a:off x="731520" y="5074920"/>
            <a:ext cx="10725912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Relevance to Capstone:  </a:t>
            </a:r>
            <a:r>
              <a:rPr lang="en-US" sz="1150" dirty="0">
                <a:solidFill>
                  <a:srgbClr val="1B1B2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Offers a top-down architectural blueprint (process x service x autonomy) to design our system's components and justify autonomy levels, complementing AIOpsLab's bottom-up empirical benchmarking.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Literature Survey — Capstone Project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10771632" y="65105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377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aphicFrame>
        <p:nvGraphicFramePr>
          <p:cNvPr id="2" name="Table 1"/>
          <p:cNvGraphicFramePr/>
          <p:nvPr/>
        </p:nvGraphicFramePr>
        <p:xfrm>
          <a:off x="320040" y="1169035"/>
          <a:ext cx="11262360" cy="3879850"/>
        </p:xfrm>
        <a:graphic>
          <a:graphicData uri="http://schemas.openxmlformats.org/drawingml/2006/table">
            <a:tbl>
              <a:tblPr/>
              <a:tblGrid>
                <a:gridCol w="2815590"/>
                <a:gridCol w="2815590"/>
                <a:gridCol w="2815590"/>
                <a:gridCol w="2815590"/>
              </a:tblGrid>
              <a:tr h="298450"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Area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AgentOps (2024)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AgentBoard (2024)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ctr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What we can add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Agent observability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✅ Strong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Limited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 it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Fine-grained evaluation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Limited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✅ Strong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Use it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Pre-release regression testing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 Not the main contribution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Partial foundation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Build automated regression gate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Baseline vs new agent version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Evaluation supports comparison conceptually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Explicit V1 vs V2 regression framework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Automatic release blocking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Add it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Production regression detection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Observability foundation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Add continuous detection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Automatic containment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Major addition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Rollback/fallback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Add it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Human escalation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Add it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Enterprise ERP validation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Oracle Fusion use case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Financial/ERP business-risk metrics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Add domain-specific metrics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298450"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End-to-end AgenticOps pipeline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0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❌</a:t>
                      </a:r>
                      <a:endParaRPr sz="1100" b="0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p>
                      <a:pPr algn="l" fontAlgn="ctr"/>
                      <a:r>
                        <a:rPr sz="1100" b="1" i="0">
                          <a:solidFill>
                            <a:srgbClr val="000000"/>
                          </a:solidFill>
                          <a:latin typeface="Calibri" panose="020F0502020204030204"/>
                          <a:ea typeface="Calibri" panose="020F0502020204030204"/>
                        </a:rPr>
                        <a:t>Your main contribution</a:t>
                      </a:r>
                      <a:endParaRPr sz="1100" b="1" i="0">
                        <a:solidFill>
                          <a:srgbClr val="000000"/>
                        </a:solidFill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7937" marR="7937" marT="7937" marB="0" anchor="ctr" anchorCtr="0">
                    <a:lnL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L>
                    <a:lnR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R>
                    <a:lnT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T>
                    <a:lnB w="6350" cap="flat" cmpd="sng">
                      <a:solidFill>
                        <a:srgbClr val="000008"/>
                      </a:solidFill>
                      <a:prstDash val="solid"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6543</Words>
  <Application>WPS Presentation</Application>
  <PresentationFormat>Widescreen</PresentationFormat>
  <Paragraphs>254</Paragraphs>
  <Slides>6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2" baseType="lpstr">
      <vt:lpstr>Arial</vt:lpstr>
      <vt:lpstr>SimSun</vt:lpstr>
      <vt:lpstr>Wingdings</vt:lpstr>
      <vt:lpstr>Arial</vt:lpstr>
      <vt:lpstr>Calibri</vt:lpstr>
      <vt:lpstr>Calibri</vt:lpstr>
      <vt:lpstr>Calibri</vt:lpstr>
      <vt:lpstr>Cambria</vt:lpstr>
      <vt:lpstr>Cambria</vt:lpstr>
      <vt:lpstr>Cambria</vt:lpstr>
      <vt:lpstr>Arial</vt:lpstr>
      <vt:lpstr>Arial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JANANI</cp:lastModifiedBy>
  <cp:revision>7</cp:revision>
  <dcterms:created xsi:type="dcterms:W3CDTF">2013-01-27T09:14:00Z</dcterms:created>
  <dcterms:modified xsi:type="dcterms:W3CDTF">2026-09-12T08:08:41Z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D1DB85733AC34DE3AA831DCB5687ADA8_12</vt:lpwstr>
  </property>
</Properties>
</file>